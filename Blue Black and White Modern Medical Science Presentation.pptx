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charset="1" panose="00000500000000000000"/>
      <p:regular r:id="rId22"/>
    </p:embeddedFont>
    <p:embeddedFont>
      <p:font typeface="Poppins Bold" charset="1" panose="00000800000000000000"/>
      <p:regular r:id="rId23"/>
    </p:embeddedFont>
    <p:embeddedFont>
      <p:font typeface="Lato Bold" charset="1" panose="020F0502020204030203"/>
      <p:regular r:id="rId24"/>
    </p:embeddedFont>
    <p:embeddedFont>
      <p:font typeface="Lato" charset="1" panose="020F0502020204030203"/>
      <p:regular r:id="rId25"/>
    </p:embeddedFont>
    <p:embeddedFont>
      <p:font typeface="Lato Italics" charset="1" panose="020F05020202040302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jpeg" Type="http://schemas.openxmlformats.org/officeDocument/2006/relationships/image"/><Relationship Id="rId5"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jpeg" Type="http://schemas.openxmlformats.org/officeDocument/2006/relationships/image"/><Relationship Id="rId5" Target="../media/image9.jpeg" Type="http://schemas.openxmlformats.org/officeDocument/2006/relationships/image"/><Relationship Id="rId6"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jpeg" Type="http://schemas.openxmlformats.org/officeDocument/2006/relationships/image"/><Relationship Id="rId5" Target="../media/image12.jpeg" Type="http://schemas.openxmlformats.org/officeDocument/2006/relationships/image"/><Relationship Id="rId6"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 Id="rId7"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6.jpeg" Type="http://schemas.openxmlformats.org/officeDocument/2006/relationships/image"/><Relationship Id="rId5"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11.jpeg" Type="http://schemas.openxmlformats.org/officeDocument/2006/relationships/image"/><Relationship Id="rId16" Target="../media/image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jpe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401300" y="0"/>
            <a:ext cx="6858000" cy="10287000"/>
            <a:chOff x="0" y="0"/>
            <a:chExt cx="406400" cy="609600"/>
          </a:xfrm>
        </p:grpSpPr>
        <p:sp>
          <p:nvSpPr>
            <p:cNvPr name="Freeform 3" id="3"/>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solidFill>
              <a:srgbClr val="3F81F4"/>
            </a:solidFill>
          </p:spPr>
        </p:sp>
        <p:sp>
          <p:nvSpPr>
            <p:cNvPr name="TextBox 4" id="4"/>
            <p:cNvSpPr txBox="true"/>
            <p:nvPr/>
          </p:nvSpPr>
          <p:spPr>
            <a:xfrm>
              <a:off x="101600" y="-28575"/>
              <a:ext cx="203200" cy="638175"/>
            </a:xfrm>
            <a:prstGeom prst="rect">
              <a:avLst/>
            </a:prstGeom>
          </p:spPr>
          <p:txBody>
            <a:bodyPr anchor="ctr" rtlCol="false" tIns="50800" lIns="50800" bIns="50800" rIns="50800"/>
            <a:lstStyle/>
            <a:p>
              <a:pPr algn="ctr">
                <a:lnSpc>
                  <a:spcPts val="1400"/>
                </a:lnSpc>
              </a:pPr>
            </a:p>
          </p:txBody>
        </p:sp>
      </p:grpSp>
      <p:grpSp>
        <p:nvGrpSpPr>
          <p:cNvPr name="Group 5" id="5"/>
          <p:cNvGrpSpPr/>
          <p:nvPr/>
        </p:nvGrpSpPr>
        <p:grpSpPr>
          <a:xfrm rot="0">
            <a:off x="10401300" y="1028700"/>
            <a:ext cx="6858000" cy="8229600"/>
            <a:chOff x="0" y="0"/>
            <a:chExt cx="1806222" cy="2167467"/>
          </a:xfrm>
        </p:grpSpPr>
        <p:sp>
          <p:nvSpPr>
            <p:cNvPr name="Freeform 6" id="6"/>
            <p:cNvSpPr/>
            <p:nvPr/>
          </p:nvSpPr>
          <p:spPr>
            <a:xfrm flipH="false" flipV="false" rot="0">
              <a:off x="0" y="0"/>
              <a:ext cx="1806222" cy="2167467"/>
            </a:xfrm>
            <a:custGeom>
              <a:avLst/>
              <a:gdLst/>
              <a:ahLst/>
              <a:cxnLst/>
              <a:rect r="r" b="b" t="t" l="l"/>
              <a:pathLst>
                <a:path h="2167467" w="1806222">
                  <a:moveTo>
                    <a:pt x="57573" y="0"/>
                  </a:moveTo>
                  <a:lnTo>
                    <a:pt x="1748649" y="0"/>
                  </a:lnTo>
                  <a:cubicBezTo>
                    <a:pt x="1780446" y="0"/>
                    <a:pt x="1806222" y="25776"/>
                    <a:pt x="1806222" y="57573"/>
                  </a:cubicBezTo>
                  <a:lnTo>
                    <a:pt x="1806222" y="2109894"/>
                  </a:lnTo>
                  <a:cubicBezTo>
                    <a:pt x="1806222" y="2125163"/>
                    <a:pt x="1800157" y="2139807"/>
                    <a:pt x="1789359" y="2150604"/>
                  </a:cubicBezTo>
                  <a:cubicBezTo>
                    <a:pt x="1778562" y="2161401"/>
                    <a:pt x="1763918" y="2167467"/>
                    <a:pt x="1748649" y="2167467"/>
                  </a:cubicBezTo>
                  <a:lnTo>
                    <a:pt x="57573" y="2167467"/>
                  </a:lnTo>
                  <a:cubicBezTo>
                    <a:pt x="42304" y="2167467"/>
                    <a:pt x="27660" y="2161401"/>
                    <a:pt x="16863" y="2150604"/>
                  </a:cubicBezTo>
                  <a:cubicBezTo>
                    <a:pt x="6066" y="2139807"/>
                    <a:pt x="0" y="2125163"/>
                    <a:pt x="0" y="2109894"/>
                  </a:cubicBezTo>
                  <a:lnTo>
                    <a:pt x="0" y="57573"/>
                  </a:lnTo>
                  <a:cubicBezTo>
                    <a:pt x="0" y="42304"/>
                    <a:pt x="6066" y="27660"/>
                    <a:pt x="16863" y="16863"/>
                  </a:cubicBezTo>
                  <a:cubicBezTo>
                    <a:pt x="27660" y="6066"/>
                    <a:pt x="42304" y="0"/>
                    <a:pt x="57573" y="0"/>
                  </a:cubicBezTo>
                  <a:close/>
                </a:path>
              </a:pathLst>
            </a:custGeom>
            <a:solidFill>
              <a:srgbClr val="FAFAFA"/>
            </a:solidFill>
          </p:spPr>
        </p:sp>
        <p:sp>
          <p:nvSpPr>
            <p:cNvPr name="TextBox 7" id="7"/>
            <p:cNvSpPr txBox="true"/>
            <p:nvPr/>
          </p:nvSpPr>
          <p:spPr>
            <a:xfrm>
              <a:off x="0" y="-38100"/>
              <a:ext cx="1806222" cy="220556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639439" y="1266825"/>
            <a:ext cx="6381722" cy="7753350"/>
            <a:chOff x="0" y="0"/>
            <a:chExt cx="988696" cy="1201197"/>
          </a:xfrm>
        </p:grpSpPr>
        <p:sp>
          <p:nvSpPr>
            <p:cNvPr name="Freeform 9" id="9"/>
            <p:cNvSpPr/>
            <p:nvPr/>
          </p:nvSpPr>
          <p:spPr>
            <a:xfrm flipH="false" flipV="false" rot="0">
              <a:off x="0" y="0"/>
              <a:ext cx="988696" cy="1201197"/>
            </a:xfrm>
            <a:custGeom>
              <a:avLst/>
              <a:gdLst/>
              <a:ahLst/>
              <a:cxnLst/>
              <a:rect r="r" b="b" t="t" l="l"/>
              <a:pathLst>
                <a:path h="1201197" w="988696">
                  <a:moveTo>
                    <a:pt x="60657" y="0"/>
                  </a:moveTo>
                  <a:lnTo>
                    <a:pt x="928039" y="0"/>
                  </a:lnTo>
                  <a:cubicBezTo>
                    <a:pt x="961539" y="0"/>
                    <a:pt x="988696" y="27157"/>
                    <a:pt x="988696" y="60657"/>
                  </a:cubicBezTo>
                  <a:lnTo>
                    <a:pt x="988696" y="1140540"/>
                  </a:lnTo>
                  <a:cubicBezTo>
                    <a:pt x="988696" y="1156627"/>
                    <a:pt x="982305" y="1172055"/>
                    <a:pt x="970930" y="1183431"/>
                  </a:cubicBezTo>
                  <a:cubicBezTo>
                    <a:pt x="959554" y="1194806"/>
                    <a:pt x="944126" y="1201197"/>
                    <a:pt x="928039" y="1201197"/>
                  </a:cubicBezTo>
                  <a:lnTo>
                    <a:pt x="60657" y="1201197"/>
                  </a:lnTo>
                  <a:cubicBezTo>
                    <a:pt x="27157" y="1201197"/>
                    <a:pt x="0" y="1174040"/>
                    <a:pt x="0" y="1140540"/>
                  </a:cubicBezTo>
                  <a:lnTo>
                    <a:pt x="0" y="60657"/>
                  </a:lnTo>
                  <a:cubicBezTo>
                    <a:pt x="0" y="27157"/>
                    <a:pt x="27157" y="0"/>
                    <a:pt x="60657" y="0"/>
                  </a:cubicBezTo>
                  <a:close/>
                </a:path>
              </a:pathLst>
            </a:custGeom>
            <a:blipFill>
              <a:blip r:embed="rId2"/>
              <a:stretch>
                <a:fillRect l="0" t="-11770" r="0" b="-11770"/>
              </a:stretch>
            </a:blipFill>
          </p:spPr>
        </p:sp>
      </p:grpSp>
      <p:sp>
        <p:nvSpPr>
          <p:cNvPr name="Freeform 10" id="10"/>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3"/>
            <a:stretch>
              <a:fillRect l="0" t="0" r="0" b="0"/>
            </a:stretch>
          </a:blipFill>
        </p:spPr>
      </p:sp>
      <p:sp>
        <p:nvSpPr>
          <p:cNvPr name="TextBox 11" id="11"/>
          <p:cNvSpPr txBox="true"/>
          <p:nvPr/>
        </p:nvSpPr>
        <p:spPr>
          <a:xfrm rot="0">
            <a:off x="1028700" y="3430599"/>
            <a:ext cx="7559923" cy="3194304"/>
          </a:xfrm>
          <a:prstGeom prst="rect">
            <a:avLst/>
          </a:prstGeom>
        </p:spPr>
        <p:txBody>
          <a:bodyPr anchor="t" rtlCol="false" tIns="0" lIns="0" bIns="0" rIns="0">
            <a:spAutoFit/>
          </a:bodyPr>
          <a:lstStyle/>
          <a:p>
            <a:pPr algn="l">
              <a:lnSpc>
                <a:spcPts val="11718"/>
              </a:lnSpc>
            </a:pPr>
            <a:r>
              <a:rPr lang="en-US" sz="12600">
                <a:solidFill>
                  <a:srgbClr val="3F81F4"/>
                </a:solidFill>
                <a:latin typeface="Poppins"/>
                <a:ea typeface="Poppins"/>
                <a:cs typeface="Poppins"/>
                <a:sym typeface="Poppins"/>
              </a:rPr>
              <a:t>Guardian</a:t>
            </a:r>
          </a:p>
          <a:p>
            <a:pPr algn="l">
              <a:lnSpc>
                <a:spcPts val="11718"/>
              </a:lnSpc>
            </a:pPr>
            <a:r>
              <a:rPr lang="en-US" sz="12600" b="true">
                <a:solidFill>
                  <a:srgbClr val="000000"/>
                </a:solidFill>
                <a:latin typeface="Poppins Bold"/>
                <a:ea typeface="Poppins Bold"/>
                <a:cs typeface="Poppins Bold"/>
                <a:sym typeface="Poppins Bold"/>
              </a:rPr>
              <a:t>Eye</a:t>
            </a:r>
          </a:p>
        </p:txBody>
      </p:sp>
      <p:sp>
        <p:nvSpPr>
          <p:cNvPr name="TextBox 12" id="12"/>
          <p:cNvSpPr txBox="true"/>
          <p:nvPr/>
        </p:nvSpPr>
        <p:spPr>
          <a:xfrm rot="0">
            <a:off x="1589312" y="1038225"/>
            <a:ext cx="749365" cy="368935"/>
          </a:xfrm>
          <a:prstGeom prst="rect">
            <a:avLst/>
          </a:prstGeom>
        </p:spPr>
        <p:txBody>
          <a:bodyPr anchor="t" rtlCol="false" tIns="0" lIns="0" bIns="0" rIns="0">
            <a:spAutoFit/>
          </a:bodyPr>
          <a:lstStyle/>
          <a:p>
            <a:pPr algn="l">
              <a:lnSpc>
                <a:spcPts val="1400"/>
              </a:lnSpc>
            </a:pPr>
            <a:r>
              <a:rPr lang="en-US" sz="1400" b="true">
                <a:solidFill>
                  <a:srgbClr val="000000"/>
                </a:solidFill>
                <a:latin typeface="Lato Bold"/>
                <a:ea typeface="Lato Bold"/>
                <a:cs typeface="Lato Bold"/>
                <a:sym typeface="Lato Bold"/>
              </a:rPr>
              <a:t>Guardian</a:t>
            </a:r>
          </a:p>
          <a:p>
            <a:pPr algn="l">
              <a:lnSpc>
                <a:spcPts val="1400"/>
              </a:lnSpc>
            </a:pPr>
            <a:r>
              <a:rPr lang="en-US" sz="1400" b="true">
                <a:solidFill>
                  <a:srgbClr val="000000"/>
                </a:solidFill>
                <a:latin typeface="Lato Bold"/>
                <a:ea typeface="Lato Bold"/>
                <a:cs typeface="Lato Bold"/>
                <a:sym typeface="Lato Bold"/>
              </a:rPr>
              <a:t>eye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0940415" y="1984058"/>
            <a:ext cx="6318885" cy="631888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00" t="0" r="-25000" b="0"/>
              </a:stretch>
            </a:blipFill>
          </p:spPr>
        </p:sp>
      </p:grpSp>
      <p:grpSp>
        <p:nvGrpSpPr>
          <p:cNvPr name="Group 5" id="5"/>
          <p:cNvGrpSpPr/>
          <p:nvPr/>
        </p:nvGrpSpPr>
        <p:grpSpPr>
          <a:xfrm rot="0">
            <a:off x="11178760" y="2222402"/>
            <a:ext cx="5842195" cy="584219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AFAFA"/>
              </a:solidFill>
              <a:prstDash val="lgDash"/>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940415" y="5789265"/>
            <a:ext cx="2513677" cy="25136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1F4"/>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3325824"/>
            <a:ext cx="6653328"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Introduction to </a:t>
            </a:r>
            <a:r>
              <a:rPr lang="en-US" sz="6500" b="true">
                <a:solidFill>
                  <a:srgbClr val="000000"/>
                </a:solidFill>
                <a:latin typeface="Poppins Bold"/>
                <a:ea typeface="Poppins Bold"/>
                <a:cs typeface="Poppins Bold"/>
                <a:sym typeface="Poppins Bold"/>
              </a:rPr>
              <a:t>Medic</a:t>
            </a:r>
            <a:r>
              <a:rPr lang="en-US" b="true" sz="6500">
                <a:solidFill>
                  <a:srgbClr val="000000"/>
                </a:solidFill>
                <a:latin typeface="Poppins Bold"/>
                <a:ea typeface="Poppins Bold"/>
                <a:cs typeface="Poppins Bold"/>
                <a:sym typeface="Poppins Bold"/>
              </a:rPr>
              <a:t>al Field</a:t>
            </a:r>
          </a:p>
        </p:txBody>
      </p:sp>
      <p:sp>
        <p:nvSpPr>
          <p:cNvPr name="TextBox 12" id="12"/>
          <p:cNvSpPr txBox="true"/>
          <p:nvPr/>
        </p:nvSpPr>
        <p:spPr>
          <a:xfrm rot="0">
            <a:off x="11471139" y="6430760"/>
            <a:ext cx="1452229" cy="707129"/>
          </a:xfrm>
          <a:prstGeom prst="rect">
            <a:avLst/>
          </a:prstGeom>
        </p:spPr>
        <p:txBody>
          <a:bodyPr anchor="t" rtlCol="false" tIns="0" lIns="0" bIns="0" rIns="0">
            <a:spAutoFit/>
          </a:bodyPr>
          <a:lstStyle/>
          <a:p>
            <a:pPr algn="ctr">
              <a:lnSpc>
                <a:spcPts val="4866"/>
              </a:lnSpc>
            </a:pPr>
            <a:r>
              <a:rPr lang="en-US" b="true" sz="5232">
                <a:solidFill>
                  <a:srgbClr val="FAFAFA"/>
                </a:solidFill>
                <a:latin typeface="Poppins Bold"/>
                <a:ea typeface="Poppins Bold"/>
                <a:cs typeface="Poppins Bold"/>
                <a:sym typeface="Poppins Bold"/>
              </a:rPr>
              <a:t>50%</a:t>
            </a:r>
          </a:p>
        </p:txBody>
      </p:sp>
      <p:sp>
        <p:nvSpPr>
          <p:cNvPr name="TextBox 13" id="13"/>
          <p:cNvSpPr txBox="true"/>
          <p:nvPr/>
        </p:nvSpPr>
        <p:spPr>
          <a:xfrm rot="0">
            <a:off x="1589312" y="1038225"/>
            <a:ext cx="749365" cy="368935"/>
          </a:xfrm>
          <a:prstGeom prst="rect">
            <a:avLst/>
          </a:prstGeom>
        </p:spPr>
        <p:txBody>
          <a:bodyPr anchor="t" rtlCol="false" tIns="0" lIns="0" bIns="0" rIns="0">
            <a:spAutoFit/>
          </a:bodyPr>
          <a:lstStyle/>
          <a:p>
            <a:pPr algn="l">
              <a:lnSpc>
                <a:spcPts val="1400"/>
              </a:lnSpc>
            </a:pPr>
            <a:r>
              <a:rPr lang="en-US" sz="1400" b="true">
                <a:solidFill>
                  <a:srgbClr val="000000"/>
                </a:solidFill>
                <a:latin typeface="Lato Bold"/>
                <a:ea typeface="Lato Bold"/>
                <a:cs typeface="Lato Bold"/>
                <a:sym typeface="Lato Bold"/>
              </a:rPr>
              <a:t>Guardian eye</a:t>
            </a:r>
          </a:p>
        </p:txBody>
      </p:sp>
      <p:sp>
        <p:nvSpPr>
          <p:cNvPr name="TextBox 14" id="14"/>
          <p:cNvSpPr txBox="true"/>
          <p:nvPr/>
        </p:nvSpPr>
        <p:spPr>
          <a:xfrm rot="0">
            <a:off x="1028700" y="5959792"/>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sp>
        <p:nvSpPr>
          <p:cNvPr name="TextBox 15" id="15"/>
          <p:cNvSpPr txBox="true"/>
          <p:nvPr/>
        </p:nvSpPr>
        <p:spPr>
          <a:xfrm rot="0">
            <a:off x="11471139" y="7324966"/>
            <a:ext cx="1452229" cy="422207"/>
          </a:xfrm>
          <a:prstGeom prst="rect">
            <a:avLst/>
          </a:prstGeom>
        </p:spPr>
        <p:txBody>
          <a:bodyPr anchor="t" rtlCol="false" tIns="0" lIns="0" bIns="0" rIns="0">
            <a:spAutoFit/>
          </a:bodyPr>
          <a:lstStyle/>
          <a:p>
            <a:pPr algn="ctr">
              <a:lnSpc>
                <a:spcPts val="1624"/>
              </a:lnSpc>
            </a:pPr>
            <a:r>
              <a:rPr lang="en-US" sz="1353">
                <a:solidFill>
                  <a:srgbClr val="FAFAFA"/>
                </a:solidFill>
                <a:latin typeface="Lato"/>
                <a:ea typeface="Lato"/>
                <a:cs typeface="Lato"/>
                <a:sym typeface="Lato"/>
              </a:rPr>
              <a:t>Lorem ipsum dolor sit amet,</a:t>
            </a:r>
          </a:p>
        </p:txBody>
      </p:sp>
      <p:sp>
        <p:nvSpPr>
          <p:cNvPr name="TextBox 16" id="16"/>
          <p:cNvSpPr txBox="true"/>
          <p:nvPr/>
        </p:nvSpPr>
        <p:spPr>
          <a:xfrm rot="0">
            <a:off x="1028700" y="7607617"/>
            <a:ext cx="7508385" cy="6953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The field of medical science is one of the most crucial sectors in human life. It involves the study, diagnosis, prevention, and treatment of diseases and injuries. Medical science spans across various subfields such as internal medicine, surgery, pediatrics, and public health. </a:t>
            </a:r>
          </a:p>
        </p:txBody>
      </p:sp>
      <p:sp>
        <p:nvSpPr>
          <p:cNvPr name="TextBox 17" id="17"/>
          <p:cNvSpPr txBox="true"/>
          <p:nvPr/>
        </p:nvSpPr>
        <p:spPr>
          <a:xfrm rot="0">
            <a:off x="11765610" y="7035635"/>
            <a:ext cx="863287" cy="190073"/>
          </a:xfrm>
          <a:prstGeom prst="rect">
            <a:avLst/>
          </a:prstGeom>
        </p:spPr>
        <p:txBody>
          <a:bodyPr anchor="t" rtlCol="false" tIns="0" lIns="0" bIns="0" rIns="0">
            <a:spAutoFit/>
          </a:bodyPr>
          <a:lstStyle/>
          <a:p>
            <a:pPr algn="ctr">
              <a:lnSpc>
                <a:spcPts val="1460"/>
              </a:lnSpc>
            </a:pPr>
            <a:r>
              <a:rPr lang="en-US" b="true" sz="1216">
                <a:solidFill>
                  <a:srgbClr val="FAFAFA"/>
                </a:solidFill>
                <a:latin typeface="Lato Bold"/>
                <a:ea typeface="Lato Bold"/>
                <a:cs typeface="Lato Bold"/>
                <a:sym typeface="Lato Bold"/>
              </a:rPr>
              <a:t>MEDICAL</a:t>
            </a:r>
          </a:p>
        </p:txBody>
      </p:sp>
      <p:sp>
        <p:nvSpPr>
          <p:cNvPr name="Freeform 18" id="18"/>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9103278" y="3325824"/>
            <a:ext cx="5130933"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History of </a:t>
            </a:r>
            <a:r>
              <a:rPr lang="en-US" sz="6500" b="true">
                <a:solidFill>
                  <a:srgbClr val="000000"/>
                </a:solidFill>
                <a:latin typeface="Poppins Bold"/>
                <a:ea typeface="Poppins Bold"/>
                <a:cs typeface="Poppins Bold"/>
                <a:sym typeface="Poppins Bold"/>
              </a:rPr>
              <a:t>Medic</a:t>
            </a:r>
            <a:r>
              <a:rPr lang="en-US" b="true" sz="6500">
                <a:solidFill>
                  <a:srgbClr val="000000"/>
                </a:solidFill>
                <a:latin typeface="Poppins Bold"/>
                <a:ea typeface="Poppins Bold"/>
                <a:cs typeface="Poppins Bold"/>
                <a:sym typeface="Poppins Bold"/>
              </a:rPr>
              <a:t>ine</a:t>
            </a:r>
          </a:p>
        </p:txBody>
      </p:sp>
      <p:sp>
        <p:nvSpPr>
          <p:cNvPr name="TextBox 3" id="3"/>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grpSp>
        <p:nvGrpSpPr>
          <p:cNvPr name="Group 4" id="4"/>
          <p:cNvGrpSpPr/>
          <p:nvPr/>
        </p:nvGrpSpPr>
        <p:grpSpPr>
          <a:xfrm rot="0">
            <a:off x="1028700" y="2939415"/>
            <a:ext cx="6318885" cy="631888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4953" t="0" r="-24953" b="0"/>
              </a:stretch>
            </a:blipFill>
          </p:spPr>
        </p:sp>
      </p:grpSp>
      <p:grpSp>
        <p:nvGrpSpPr>
          <p:cNvPr name="Group 6" id="6"/>
          <p:cNvGrpSpPr/>
          <p:nvPr/>
        </p:nvGrpSpPr>
        <p:grpSpPr>
          <a:xfrm rot="0">
            <a:off x="1267045" y="3177760"/>
            <a:ext cx="5842195" cy="584219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AFAFA"/>
              </a:solidFill>
              <a:prstDash val="lgDash"/>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103278" y="5959792"/>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sp>
        <p:nvSpPr>
          <p:cNvPr name="TextBox 10" id="10"/>
          <p:cNvSpPr txBox="true"/>
          <p:nvPr/>
        </p:nvSpPr>
        <p:spPr>
          <a:xfrm rot="0">
            <a:off x="9103278" y="7607617"/>
            <a:ext cx="7164033" cy="6953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The history of medicine dates back thousands of years. Ancient civilizations like Egypt, Greece, China, and India had early systems of medicine. Hippocrates, known as the "Father of Medicine," emphasized observation and ethics.</a:t>
            </a:r>
          </a:p>
        </p:txBody>
      </p:sp>
      <p:sp>
        <p:nvSpPr>
          <p:cNvPr name="Freeform 11" id="11"/>
          <p:cNvSpPr/>
          <p:nvPr/>
        </p:nvSpPr>
        <p:spPr>
          <a:xfrm flipH="false" flipV="false" rot="0">
            <a:off x="-125663" y="779817"/>
            <a:ext cx="2785415" cy="916866"/>
          </a:xfrm>
          <a:custGeom>
            <a:avLst/>
            <a:gdLst/>
            <a:ahLst/>
            <a:cxnLst/>
            <a:rect r="r" b="b" t="t" l="l"/>
            <a:pathLst>
              <a:path h="916866" w="2785415">
                <a:moveTo>
                  <a:pt x="0" y="0"/>
                </a:moveTo>
                <a:lnTo>
                  <a:pt x="2785415" y="0"/>
                </a:lnTo>
                <a:lnTo>
                  <a:pt x="2785415" y="916866"/>
                </a:lnTo>
                <a:lnTo>
                  <a:pt x="0" y="916866"/>
                </a:lnTo>
                <a:lnTo>
                  <a:pt x="0" y="0"/>
                </a:lnTo>
                <a:close/>
              </a:path>
            </a:pathLst>
          </a:custGeom>
          <a:blipFill>
            <a:blip r:embed="rId3"/>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5888370"/>
            <a:ext cx="4756850" cy="1139496"/>
            <a:chOff x="0" y="0"/>
            <a:chExt cx="1696525" cy="406400"/>
          </a:xfrm>
        </p:grpSpPr>
        <p:sp>
          <p:nvSpPr>
            <p:cNvPr name="Freeform 4" id="4"/>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5" id="5"/>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7412370"/>
            <a:ext cx="4756850" cy="1139496"/>
            <a:chOff x="0" y="0"/>
            <a:chExt cx="1696525" cy="406400"/>
          </a:xfrm>
        </p:grpSpPr>
        <p:sp>
          <p:nvSpPr>
            <p:cNvPr name="Freeform 7" id="7"/>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8" id="8"/>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765575" y="5888370"/>
            <a:ext cx="4756850" cy="1139496"/>
            <a:chOff x="0" y="0"/>
            <a:chExt cx="1696525" cy="406400"/>
          </a:xfrm>
        </p:grpSpPr>
        <p:sp>
          <p:nvSpPr>
            <p:cNvPr name="Freeform 10" id="10"/>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1" id="11"/>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6765575" y="7412370"/>
            <a:ext cx="4756850" cy="1139496"/>
            <a:chOff x="0" y="0"/>
            <a:chExt cx="1696525" cy="406400"/>
          </a:xfrm>
        </p:grpSpPr>
        <p:sp>
          <p:nvSpPr>
            <p:cNvPr name="Freeform 13" id="13"/>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4" id="14"/>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0800000">
            <a:off x="1163710" y="6008666"/>
            <a:ext cx="4486829" cy="898905"/>
            <a:chOff x="0" y="0"/>
            <a:chExt cx="2028521" cy="406400"/>
          </a:xfrm>
        </p:grpSpPr>
        <p:sp>
          <p:nvSpPr>
            <p:cNvPr name="Freeform 16" id="16"/>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7" id="17"/>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0800000">
            <a:off x="1163710" y="7532666"/>
            <a:ext cx="4486829" cy="898905"/>
            <a:chOff x="0" y="0"/>
            <a:chExt cx="2028521" cy="406400"/>
          </a:xfrm>
        </p:grpSpPr>
        <p:sp>
          <p:nvSpPr>
            <p:cNvPr name="Freeform 19" id="19"/>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0" id="20"/>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0800000">
            <a:off x="6900585" y="6008666"/>
            <a:ext cx="4486829" cy="898905"/>
            <a:chOff x="0" y="0"/>
            <a:chExt cx="2028521" cy="406400"/>
          </a:xfrm>
        </p:grpSpPr>
        <p:sp>
          <p:nvSpPr>
            <p:cNvPr name="Freeform 22" id="22"/>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3" id="23"/>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10800000">
            <a:off x="6900585" y="7532666"/>
            <a:ext cx="4486829" cy="898905"/>
            <a:chOff x="0" y="0"/>
            <a:chExt cx="2028521" cy="406400"/>
          </a:xfrm>
        </p:grpSpPr>
        <p:sp>
          <p:nvSpPr>
            <p:cNvPr name="Freeform 25" id="25"/>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6" id="26"/>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028700" y="3325824"/>
            <a:ext cx="6979556"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Branches of </a:t>
            </a:r>
            <a:r>
              <a:rPr lang="en-US" sz="6500" b="true">
                <a:solidFill>
                  <a:srgbClr val="000000"/>
                </a:solidFill>
                <a:latin typeface="Poppins Bold"/>
                <a:ea typeface="Poppins Bold"/>
                <a:cs typeface="Poppins Bold"/>
                <a:sym typeface="Poppins Bold"/>
              </a:rPr>
              <a:t>Medic</a:t>
            </a:r>
            <a:r>
              <a:rPr lang="en-US" b="true" sz="6500">
                <a:solidFill>
                  <a:srgbClr val="000000"/>
                </a:solidFill>
                <a:latin typeface="Poppins Bold"/>
                <a:ea typeface="Poppins Bold"/>
                <a:cs typeface="Poppins Bold"/>
                <a:sym typeface="Poppins Bold"/>
              </a:rPr>
              <a:t>al Science</a:t>
            </a:r>
          </a:p>
        </p:txBody>
      </p:sp>
      <p:sp>
        <p:nvSpPr>
          <p:cNvPr name="TextBox 28" id="28"/>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sp>
        <p:nvSpPr>
          <p:cNvPr name="TextBox 29" id="29"/>
          <p:cNvSpPr txBox="true"/>
          <p:nvPr/>
        </p:nvSpPr>
        <p:spPr>
          <a:xfrm rot="0">
            <a:off x="1587760" y="6162843"/>
            <a:ext cx="363873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CARDIOLOGY – HEART AND BLOOD VESSELS</a:t>
            </a:r>
          </a:p>
        </p:txBody>
      </p:sp>
      <p:sp>
        <p:nvSpPr>
          <p:cNvPr name="TextBox 30" id="30"/>
          <p:cNvSpPr txBox="true"/>
          <p:nvPr/>
        </p:nvSpPr>
        <p:spPr>
          <a:xfrm rot="0">
            <a:off x="1877475" y="7686843"/>
            <a:ext cx="305930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PEDIATRICS – CHILDREN'S HEALTH</a:t>
            </a:r>
          </a:p>
        </p:txBody>
      </p:sp>
      <p:sp>
        <p:nvSpPr>
          <p:cNvPr name="TextBox 31" id="31"/>
          <p:cNvSpPr txBox="true"/>
          <p:nvPr/>
        </p:nvSpPr>
        <p:spPr>
          <a:xfrm rot="0">
            <a:off x="7324635" y="6162843"/>
            <a:ext cx="363873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NEUROLOGY – BRAIN AND NERVOUS SYSTEM</a:t>
            </a:r>
          </a:p>
        </p:txBody>
      </p:sp>
      <p:sp>
        <p:nvSpPr>
          <p:cNvPr name="TextBox 32" id="32"/>
          <p:cNvSpPr txBox="true"/>
          <p:nvPr/>
        </p:nvSpPr>
        <p:spPr>
          <a:xfrm rot="0">
            <a:off x="7751355" y="7686843"/>
            <a:ext cx="278529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PSYCHIATRY – MENTAL HEALTH</a:t>
            </a:r>
          </a:p>
        </p:txBody>
      </p:sp>
      <p:grpSp>
        <p:nvGrpSpPr>
          <p:cNvPr name="Group 33" id="33"/>
          <p:cNvGrpSpPr/>
          <p:nvPr/>
        </p:nvGrpSpPr>
        <p:grpSpPr>
          <a:xfrm rot="0">
            <a:off x="12502450" y="5888370"/>
            <a:ext cx="4756850" cy="1139496"/>
            <a:chOff x="0" y="0"/>
            <a:chExt cx="1696525" cy="406400"/>
          </a:xfrm>
        </p:grpSpPr>
        <p:sp>
          <p:nvSpPr>
            <p:cNvPr name="Freeform 34" id="34"/>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5" id="35"/>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2502450" y="7412370"/>
            <a:ext cx="4756850" cy="1139496"/>
            <a:chOff x="0" y="0"/>
            <a:chExt cx="1696525" cy="406400"/>
          </a:xfrm>
        </p:grpSpPr>
        <p:sp>
          <p:nvSpPr>
            <p:cNvPr name="Freeform 37" id="37"/>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8" id="38"/>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10800000">
            <a:off x="12637460" y="6008666"/>
            <a:ext cx="4486829" cy="898905"/>
            <a:chOff x="0" y="0"/>
            <a:chExt cx="2028521" cy="406400"/>
          </a:xfrm>
        </p:grpSpPr>
        <p:sp>
          <p:nvSpPr>
            <p:cNvPr name="Freeform 40" id="40"/>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41" id="41"/>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10800000">
            <a:off x="12637460" y="7532666"/>
            <a:ext cx="4486829" cy="898905"/>
            <a:chOff x="0" y="0"/>
            <a:chExt cx="2028521" cy="406400"/>
          </a:xfrm>
        </p:grpSpPr>
        <p:sp>
          <p:nvSpPr>
            <p:cNvPr name="Freeform 43" id="43"/>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44" id="44"/>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sp>
        <p:nvSpPr>
          <p:cNvPr name="TextBox 45" id="45"/>
          <p:cNvSpPr txBox="true"/>
          <p:nvPr/>
        </p:nvSpPr>
        <p:spPr>
          <a:xfrm rot="0">
            <a:off x="13351070" y="6162843"/>
            <a:ext cx="305961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ONCOLOGY – CANCER AND TUMORS</a:t>
            </a:r>
          </a:p>
        </p:txBody>
      </p:sp>
      <p:sp>
        <p:nvSpPr>
          <p:cNvPr name="TextBox 46" id="46"/>
          <p:cNvSpPr txBox="true"/>
          <p:nvPr/>
        </p:nvSpPr>
        <p:spPr>
          <a:xfrm rot="0">
            <a:off x="13351070" y="7686843"/>
            <a:ext cx="305961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ORTHOPEDICS – BONES AND MUSCLES</a:t>
            </a:r>
          </a:p>
        </p:txBody>
      </p:sp>
      <p:sp>
        <p:nvSpPr>
          <p:cNvPr name="TextBox 47" id="47"/>
          <p:cNvSpPr txBox="true"/>
          <p:nvPr/>
        </p:nvSpPr>
        <p:spPr>
          <a:xfrm rot="0">
            <a:off x="11182692" y="3513466"/>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grpSp>
        <p:nvGrpSpPr>
          <p:cNvPr name="Group 48" id="48"/>
          <p:cNvGrpSpPr/>
          <p:nvPr/>
        </p:nvGrpSpPr>
        <p:grpSpPr>
          <a:xfrm rot="0">
            <a:off x="11182692" y="1028700"/>
            <a:ext cx="6076608" cy="1837066"/>
            <a:chOff x="0" y="0"/>
            <a:chExt cx="941426" cy="284610"/>
          </a:xfrm>
        </p:grpSpPr>
        <p:sp>
          <p:nvSpPr>
            <p:cNvPr name="Freeform 49" id="49"/>
            <p:cNvSpPr/>
            <p:nvPr/>
          </p:nvSpPr>
          <p:spPr>
            <a:xfrm flipH="false" flipV="false" rot="0">
              <a:off x="0" y="0"/>
              <a:ext cx="941426" cy="284610"/>
            </a:xfrm>
            <a:custGeom>
              <a:avLst/>
              <a:gdLst/>
              <a:ahLst/>
              <a:cxnLst/>
              <a:rect r="r" b="b" t="t" l="l"/>
              <a:pathLst>
                <a:path h="284610" w="941426">
                  <a:moveTo>
                    <a:pt x="63703" y="0"/>
                  </a:moveTo>
                  <a:lnTo>
                    <a:pt x="877723" y="0"/>
                  </a:lnTo>
                  <a:cubicBezTo>
                    <a:pt x="894618" y="0"/>
                    <a:pt x="910821" y="6712"/>
                    <a:pt x="922768" y="18658"/>
                  </a:cubicBezTo>
                  <a:cubicBezTo>
                    <a:pt x="934714" y="30605"/>
                    <a:pt x="941426" y="46808"/>
                    <a:pt x="941426" y="63703"/>
                  </a:cubicBezTo>
                  <a:lnTo>
                    <a:pt x="941426" y="220907"/>
                  </a:lnTo>
                  <a:cubicBezTo>
                    <a:pt x="941426" y="237802"/>
                    <a:pt x="934714" y="254005"/>
                    <a:pt x="922768" y="265952"/>
                  </a:cubicBezTo>
                  <a:cubicBezTo>
                    <a:pt x="910821" y="277898"/>
                    <a:pt x="894618" y="284610"/>
                    <a:pt x="877723" y="284610"/>
                  </a:cubicBezTo>
                  <a:lnTo>
                    <a:pt x="63703" y="284610"/>
                  </a:lnTo>
                  <a:cubicBezTo>
                    <a:pt x="46808" y="284610"/>
                    <a:pt x="30605" y="277898"/>
                    <a:pt x="18658" y="265952"/>
                  </a:cubicBezTo>
                  <a:cubicBezTo>
                    <a:pt x="6712" y="254005"/>
                    <a:pt x="0" y="237802"/>
                    <a:pt x="0" y="220907"/>
                  </a:cubicBezTo>
                  <a:lnTo>
                    <a:pt x="0" y="63703"/>
                  </a:lnTo>
                  <a:cubicBezTo>
                    <a:pt x="0" y="46808"/>
                    <a:pt x="6712" y="30605"/>
                    <a:pt x="18658" y="18658"/>
                  </a:cubicBezTo>
                  <a:cubicBezTo>
                    <a:pt x="30605" y="6712"/>
                    <a:pt x="46808" y="0"/>
                    <a:pt x="63703" y="0"/>
                  </a:cubicBezTo>
                  <a:close/>
                </a:path>
              </a:pathLst>
            </a:custGeom>
            <a:blipFill>
              <a:blip r:embed="rId4"/>
              <a:stretch>
                <a:fillRect l="0" t="-60293" r="0" b="-60293"/>
              </a:stretch>
            </a:blipFill>
          </p:spPr>
        </p:sp>
      </p:grpSp>
      <p:sp>
        <p:nvSpPr>
          <p:cNvPr name="Freeform 50" id="50"/>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325824"/>
            <a:ext cx="4967876" cy="2404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Medic</a:t>
            </a:r>
            <a:r>
              <a:rPr lang="en-US" sz="6500">
                <a:solidFill>
                  <a:srgbClr val="3F81F4"/>
                </a:solidFill>
                <a:latin typeface="Poppins"/>
                <a:ea typeface="Poppins"/>
                <a:cs typeface="Poppins"/>
                <a:sym typeface="Poppins"/>
              </a:rPr>
              <a:t>al </a:t>
            </a:r>
            <a:r>
              <a:rPr lang="en-US" b="true" sz="6500">
                <a:solidFill>
                  <a:srgbClr val="000000"/>
                </a:solidFill>
                <a:latin typeface="Poppins Bold"/>
                <a:ea typeface="Poppins Bold"/>
                <a:cs typeface="Poppins Bold"/>
                <a:sym typeface="Poppins Bold"/>
              </a:rPr>
              <a:t>Education Pathway</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grpSp>
        <p:nvGrpSpPr>
          <p:cNvPr name="Group 5" id="5"/>
          <p:cNvGrpSpPr/>
          <p:nvPr/>
        </p:nvGrpSpPr>
        <p:grpSpPr>
          <a:xfrm rot="0">
            <a:off x="14220996" y="0"/>
            <a:ext cx="4067004" cy="10287000"/>
            <a:chOff x="0" y="0"/>
            <a:chExt cx="482015" cy="1219200"/>
          </a:xfrm>
        </p:grpSpPr>
        <p:sp>
          <p:nvSpPr>
            <p:cNvPr name="Freeform 6" id="6"/>
            <p:cNvSpPr/>
            <p:nvPr/>
          </p:nvSpPr>
          <p:spPr>
            <a:xfrm flipH="false" flipV="false" rot="0">
              <a:off x="0" y="0"/>
              <a:ext cx="482015" cy="1219200"/>
            </a:xfrm>
            <a:custGeom>
              <a:avLst/>
              <a:gdLst/>
              <a:ahLst/>
              <a:cxnLst/>
              <a:rect r="r" b="b" t="t" l="l"/>
              <a:pathLst>
                <a:path h="1219200" w="482015">
                  <a:moveTo>
                    <a:pt x="0" y="0"/>
                  </a:moveTo>
                  <a:lnTo>
                    <a:pt x="482015" y="0"/>
                  </a:lnTo>
                  <a:lnTo>
                    <a:pt x="482015" y="1219200"/>
                  </a:lnTo>
                  <a:lnTo>
                    <a:pt x="0" y="1219200"/>
                  </a:lnTo>
                  <a:close/>
                </a:path>
              </a:pathLst>
            </a:custGeom>
            <a:solidFill>
              <a:srgbClr val="3F81F4"/>
            </a:solidFill>
          </p:spPr>
        </p:sp>
        <p:sp>
          <p:nvSpPr>
            <p:cNvPr name="TextBox 7" id="7"/>
            <p:cNvSpPr txBox="true"/>
            <p:nvPr/>
          </p:nvSpPr>
          <p:spPr>
            <a:xfrm>
              <a:off x="0" y="-28575"/>
              <a:ext cx="482015" cy="1247775"/>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1182692" y="1870863"/>
            <a:ext cx="6076608" cy="3159004"/>
            <a:chOff x="0" y="0"/>
            <a:chExt cx="941426" cy="489412"/>
          </a:xfrm>
        </p:grpSpPr>
        <p:sp>
          <p:nvSpPr>
            <p:cNvPr name="Freeform 9" id="9"/>
            <p:cNvSpPr/>
            <p:nvPr/>
          </p:nvSpPr>
          <p:spPr>
            <a:xfrm flipH="false" flipV="false" rot="0">
              <a:off x="0" y="0"/>
              <a:ext cx="941426" cy="489412"/>
            </a:xfrm>
            <a:custGeom>
              <a:avLst/>
              <a:gdLst/>
              <a:ahLst/>
              <a:cxnLst/>
              <a:rect r="r" b="b" t="t" l="l"/>
              <a:pathLst>
                <a:path h="489412" w="941426">
                  <a:moveTo>
                    <a:pt x="63703" y="0"/>
                  </a:moveTo>
                  <a:lnTo>
                    <a:pt x="877723" y="0"/>
                  </a:lnTo>
                  <a:cubicBezTo>
                    <a:pt x="894618" y="0"/>
                    <a:pt x="910821" y="6712"/>
                    <a:pt x="922768" y="18658"/>
                  </a:cubicBezTo>
                  <a:cubicBezTo>
                    <a:pt x="934714" y="30605"/>
                    <a:pt x="941426" y="46808"/>
                    <a:pt x="941426" y="63703"/>
                  </a:cubicBezTo>
                  <a:lnTo>
                    <a:pt x="941426" y="425710"/>
                  </a:lnTo>
                  <a:cubicBezTo>
                    <a:pt x="941426" y="442605"/>
                    <a:pt x="934714" y="458808"/>
                    <a:pt x="922768" y="470754"/>
                  </a:cubicBezTo>
                  <a:cubicBezTo>
                    <a:pt x="910821" y="482701"/>
                    <a:pt x="894618" y="489412"/>
                    <a:pt x="877723" y="489412"/>
                  </a:cubicBezTo>
                  <a:lnTo>
                    <a:pt x="63703" y="489412"/>
                  </a:lnTo>
                  <a:cubicBezTo>
                    <a:pt x="46808" y="489412"/>
                    <a:pt x="30605" y="482701"/>
                    <a:pt x="18658" y="470754"/>
                  </a:cubicBezTo>
                  <a:cubicBezTo>
                    <a:pt x="6712" y="458808"/>
                    <a:pt x="0" y="442605"/>
                    <a:pt x="0" y="425710"/>
                  </a:cubicBezTo>
                  <a:lnTo>
                    <a:pt x="0" y="63703"/>
                  </a:lnTo>
                  <a:cubicBezTo>
                    <a:pt x="0" y="46808"/>
                    <a:pt x="6712" y="30605"/>
                    <a:pt x="18658" y="18658"/>
                  </a:cubicBezTo>
                  <a:cubicBezTo>
                    <a:pt x="30605" y="6712"/>
                    <a:pt x="46808" y="0"/>
                    <a:pt x="63703" y="0"/>
                  </a:cubicBezTo>
                  <a:close/>
                </a:path>
              </a:pathLst>
            </a:custGeom>
            <a:blipFill>
              <a:blip r:embed="rId4"/>
              <a:stretch>
                <a:fillRect l="0" t="-14119" r="0" b="-14119"/>
              </a:stretch>
            </a:blipFill>
          </p:spPr>
        </p:sp>
      </p:grpSp>
      <p:grpSp>
        <p:nvGrpSpPr>
          <p:cNvPr name="Group 10" id="10"/>
          <p:cNvGrpSpPr/>
          <p:nvPr/>
        </p:nvGrpSpPr>
        <p:grpSpPr>
          <a:xfrm rot="0">
            <a:off x="11182692" y="5257133"/>
            <a:ext cx="6076608" cy="3159004"/>
            <a:chOff x="0" y="0"/>
            <a:chExt cx="941426" cy="489412"/>
          </a:xfrm>
        </p:grpSpPr>
        <p:sp>
          <p:nvSpPr>
            <p:cNvPr name="Freeform 11" id="11"/>
            <p:cNvSpPr/>
            <p:nvPr/>
          </p:nvSpPr>
          <p:spPr>
            <a:xfrm flipH="false" flipV="false" rot="0">
              <a:off x="0" y="0"/>
              <a:ext cx="941426" cy="489412"/>
            </a:xfrm>
            <a:custGeom>
              <a:avLst/>
              <a:gdLst/>
              <a:ahLst/>
              <a:cxnLst/>
              <a:rect r="r" b="b" t="t" l="l"/>
              <a:pathLst>
                <a:path h="489412" w="941426">
                  <a:moveTo>
                    <a:pt x="63703" y="0"/>
                  </a:moveTo>
                  <a:lnTo>
                    <a:pt x="877723" y="0"/>
                  </a:lnTo>
                  <a:cubicBezTo>
                    <a:pt x="894618" y="0"/>
                    <a:pt x="910821" y="6712"/>
                    <a:pt x="922768" y="18658"/>
                  </a:cubicBezTo>
                  <a:cubicBezTo>
                    <a:pt x="934714" y="30605"/>
                    <a:pt x="941426" y="46808"/>
                    <a:pt x="941426" y="63703"/>
                  </a:cubicBezTo>
                  <a:lnTo>
                    <a:pt x="941426" y="425710"/>
                  </a:lnTo>
                  <a:cubicBezTo>
                    <a:pt x="941426" y="442605"/>
                    <a:pt x="934714" y="458808"/>
                    <a:pt x="922768" y="470754"/>
                  </a:cubicBezTo>
                  <a:cubicBezTo>
                    <a:pt x="910821" y="482701"/>
                    <a:pt x="894618" y="489412"/>
                    <a:pt x="877723" y="489412"/>
                  </a:cubicBezTo>
                  <a:lnTo>
                    <a:pt x="63703" y="489412"/>
                  </a:lnTo>
                  <a:cubicBezTo>
                    <a:pt x="46808" y="489412"/>
                    <a:pt x="30605" y="482701"/>
                    <a:pt x="18658" y="470754"/>
                  </a:cubicBezTo>
                  <a:cubicBezTo>
                    <a:pt x="6712" y="458808"/>
                    <a:pt x="0" y="442605"/>
                    <a:pt x="0" y="425710"/>
                  </a:cubicBezTo>
                  <a:lnTo>
                    <a:pt x="0" y="63703"/>
                  </a:lnTo>
                  <a:cubicBezTo>
                    <a:pt x="0" y="46808"/>
                    <a:pt x="6712" y="30605"/>
                    <a:pt x="18658" y="18658"/>
                  </a:cubicBezTo>
                  <a:cubicBezTo>
                    <a:pt x="30605" y="6712"/>
                    <a:pt x="46808" y="0"/>
                    <a:pt x="63703" y="0"/>
                  </a:cubicBezTo>
                  <a:close/>
                </a:path>
              </a:pathLst>
            </a:custGeom>
            <a:blipFill>
              <a:blip r:embed="rId5"/>
              <a:stretch>
                <a:fillRect l="0" t="-14119" r="0" b="-14119"/>
              </a:stretch>
            </a:blipFill>
          </p:spPr>
        </p:sp>
      </p:grpSp>
      <p:sp>
        <p:nvSpPr>
          <p:cNvPr name="TextBox 12" id="12"/>
          <p:cNvSpPr txBox="true"/>
          <p:nvPr/>
        </p:nvSpPr>
        <p:spPr>
          <a:xfrm rot="0">
            <a:off x="1028700" y="6599872"/>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grpSp>
        <p:nvGrpSpPr>
          <p:cNvPr name="Group 13" id="13"/>
          <p:cNvGrpSpPr/>
          <p:nvPr/>
        </p:nvGrpSpPr>
        <p:grpSpPr>
          <a:xfrm rot="0">
            <a:off x="8804267" y="2213692"/>
            <a:ext cx="4756850" cy="1139496"/>
            <a:chOff x="0" y="0"/>
            <a:chExt cx="1696525" cy="406400"/>
          </a:xfrm>
        </p:grpSpPr>
        <p:sp>
          <p:nvSpPr>
            <p:cNvPr name="Freeform 14" id="14"/>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5" id="15"/>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804267" y="5599962"/>
            <a:ext cx="4756850" cy="1139496"/>
            <a:chOff x="0" y="0"/>
            <a:chExt cx="1696525" cy="406400"/>
          </a:xfrm>
        </p:grpSpPr>
        <p:sp>
          <p:nvSpPr>
            <p:cNvPr name="Freeform 17" id="17"/>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8" id="18"/>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8804267" y="3547542"/>
            <a:ext cx="4756850" cy="1139496"/>
            <a:chOff x="0" y="0"/>
            <a:chExt cx="1696525" cy="406400"/>
          </a:xfrm>
        </p:grpSpPr>
        <p:sp>
          <p:nvSpPr>
            <p:cNvPr name="Freeform 20" id="20"/>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1" id="21"/>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8804267" y="6933812"/>
            <a:ext cx="4756850" cy="1139496"/>
            <a:chOff x="0" y="0"/>
            <a:chExt cx="1696525" cy="406400"/>
          </a:xfrm>
        </p:grpSpPr>
        <p:sp>
          <p:nvSpPr>
            <p:cNvPr name="Freeform 23" id="23"/>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4" id="24"/>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10800000">
            <a:off x="8939277" y="2333987"/>
            <a:ext cx="4486829" cy="898905"/>
            <a:chOff x="0" y="0"/>
            <a:chExt cx="2028521" cy="406400"/>
          </a:xfrm>
        </p:grpSpPr>
        <p:sp>
          <p:nvSpPr>
            <p:cNvPr name="Freeform 26" id="26"/>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7" id="27"/>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10800000">
            <a:off x="8939277" y="5720257"/>
            <a:ext cx="4486829" cy="898905"/>
            <a:chOff x="0" y="0"/>
            <a:chExt cx="2028521" cy="406400"/>
          </a:xfrm>
        </p:grpSpPr>
        <p:sp>
          <p:nvSpPr>
            <p:cNvPr name="Freeform 29" id="29"/>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0" id="30"/>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10800000">
            <a:off x="8939277" y="3667838"/>
            <a:ext cx="4486829" cy="898905"/>
            <a:chOff x="0" y="0"/>
            <a:chExt cx="2028521" cy="406400"/>
          </a:xfrm>
        </p:grpSpPr>
        <p:sp>
          <p:nvSpPr>
            <p:cNvPr name="Freeform 32" id="32"/>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3" id="33"/>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10800000">
            <a:off x="8939277" y="7054108"/>
            <a:ext cx="4486829" cy="898905"/>
            <a:chOff x="0" y="0"/>
            <a:chExt cx="2028521" cy="406400"/>
          </a:xfrm>
        </p:grpSpPr>
        <p:sp>
          <p:nvSpPr>
            <p:cNvPr name="Freeform 35" id="35"/>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6" id="36"/>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9363327" y="2635802"/>
            <a:ext cx="3638730" cy="295275"/>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PRE-MEDICAL EDUCATION</a:t>
            </a:r>
          </a:p>
        </p:txBody>
      </p:sp>
      <p:sp>
        <p:nvSpPr>
          <p:cNvPr name="TextBox 38" id="38"/>
          <p:cNvSpPr txBox="true"/>
          <p:nvPr/>
        </p:nvSpPr>
        <p:spPr>
          <a:xfrm rot="0">
            <a:off x="9363327" y="6022072"/>
            <a:ext cx="3638730" cy="295275"/>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INTERNSHIP / RESIDENCY</a:t>
            </a:r>
          </a:p>
        </p:txBody>
      </p:sp>
      <p:sp>
        <p:nvSpPr>
          <p:cNvPr name="TextBox 39" id="39"/>
          <p:cNvSpPr txBox="true"/>
          <p:nvPr/>
        </p:nvSpPr>
        <p:spPr>
          <a:xfrm rot="0">
            <a:off x="9363327" y="3969653"/>
            <a:ext cx="3638730" cy="295275"/>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MEDICAL SCHOOL</a:t>
            </a:r>
          </a:p>
        </p:txBody>
      </p:sp>
      <p:sp>
        <p:nvSpPr>
          <p:cNvPr name="TextBox 40" id="40"/>
          <p:cNvSpPr txBox="true"/>
          <p:nvPr/>
        </p:nvSpPr>
        <p:spPr>
          <a:xfrm rot="0">
            <a:off x="9363327" y="7208285"/>
            <a:ext cx="363873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BOARD CERTIFICATION &amp; LICENSING</a:t>
            </a:r>
          </a:p>
        </p:txBody>
      </p:sp>
      <p:sp>
        <p:nvSpPr>
          <p:cNvPr name="AutoShape 41" id="41"/>
          <p:cNvSpPr/>
          <p:nvPr/>
        </p:nvSpPr>
        <p:spPr>
          <a:xfrm>
            <a:off x="8804267" y="2783440"/>
            <a:ext cx="0" cy="1333850"/>
          </a:xfrm>
          <a:prstGeom prst="line">
            <a:avLst/>
          </a:prstGeom>
          <a:ln cap="rnd" w="38100">
            <a:solidFill>
              <a:srgbClr val="000000"/>
            </a:solidFill>
            <a:prstDash val="solid"/>
            <a:headEnd type="none" len="sm" w="sm"/>
            <a:tailEnd type="arrow" len="sm" w="med"/>
          </a:ln>
        </p:spPr>
      </p:sp>
      <p:sp>
        <p:nvSpPr>
          <p:cNvPr name="AutoShape 42" id="42"/>
          <p:cNvSpPr/>
          <p:nvPr/>
        </p:nvSpPr>
        <p:spPr>
          <a:xfrm>
            <a:off x="8804267" y="6169710"/>
            <a:ext cx="0" cy="1333850"/>
          </a:xfrm>
          <a:prstGeom prst="line">
            <a:avLst/>
          </a:prstGeom>
          <a:ln cap="rnd" w="38100">
            <a:solidFill>
              <a:srgbClr val="000000"/>
            </a:solidFill>
            <a:prstDash val="solid"/>
            <a:headEnd type="none" len="sm" w="sm"/>
            <a:tailEnd type="arrow" len="sm" w="med"/>
          </a:ln>
        </p:spPr>
      </p:sp>
      <p:sp>
        <p:nvSpPr>
          <p:cNvPr name="AutoShape 43" id="43"/>
          <p:cNvSpPr/>
          <p:nvPr/>
        </p:nvSpPr>
        <p:spPr>
          <a:xfrm>
            <a:off x="8804267" y="4117290"/>
            <a:ext cx="0" cy="2052420"/>
          </a:xfrm>
          <a:prstGeom prst="line">
            <a:avLst/>
          </a:prstGeom>
          <a:ln cap="rnd" w="38100">
            <a:solidFill>
              <a:srgbClr val="000000"/>
            </a:solidFill>
            <a:prstDash val="solid"/>
            <a:headEnd type="none" len="sm" w="sm"/>
            <a:tailEnd type="arrow" len="sm" w="med"/>
          </a:ln>
        </p:spPr>
      </p:sp>
      <p:sp>
        <p:nvSpPr>
          <p:cNvPr name="Freeform 44" id="44"/>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325824"/>
            <a:ext cx="8015876"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Rol</a:t>
            </a:r>
            <a:r>
              <a:rPr lang="en-US" sz="6500">
                <a:solidFill>
                  <a:srgbClr val="3F81F4"/>
                </a:solidFill>
                <a:latin typeface="Poppins"/>
                <a:ea typeface="Poppins"/>
                <a:cs typeface="Poppins"/>
                <a:sym typeface="Poppins"/>
              </a:rPr>
              <a:t>e of Techno</a:t>
            </a:r>
            <a:r>
              <a:rPr lang="en-US" sz="6500">
                <a:solidFill>
                  <a:srgbClr val="3F81F4"/>
                </a:solidFill>
                <a:latin typeface="Poppins"/>
                <a:ea typeface="Poppins"/>
                <a:cs typeface="Poppins"/>
                <a:sym typeface="Poppins"/>
              </a:rPr>
              <a:t>logy </a:t>
            </a:r>
            <a:r>
              <a:rPr lang="en-US" b="true" sz="6500">
                <a:solidFill>
                  <a:srgbClr val="000000"/>
                </a:solidFill>
                <a:latin typeface="Poppins Bold"/>
                <a:ea typeface="Poppins Bold"/>
                <a:cs typeface="Poppins Bold"/>
                <a:sym typeface="Poppins Bold"/>
              </a:rPr>
              <a:t>in Medicine</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sp>
        <p:nvSpPr>
          <p:cNvPr name="TextBox 5" id="5"/>
          <p:cNvSpPr txBox="true"/>
          <p:nvPr/>
        </p:nvSpPr>
        <p:spPr>
          <a:xfrm rot="0">
            <a:off x="1028700" y="6599872"/>
            <a:ext cx="6076608" cy="1152525"/>
          </a:xfrm>
          <a:prstGeom prst="rect">
            <a:avLst/>
          </a:prstGeom>
        </p:spPr>
        <p:txBody>
          <a:bodyPr anchor="t" rtlCol="false" tIns="0" lIns="0" bIns="0" rIns="0">
            <a:spAutoFit/>
          </a:bodyPr>
          <a:lstStyle/>
          <a:p>
            <a:pPr algn="l" marL="323852" indent="-161926" lvl="1">
              <a:lnSpc>
                <a:spcPts val="1800"/>
              </a:lnSpc>
              <a:buFont typeface="Arial"/>
              <a:buChar char="•"/>
            </a:pPr>
            <a:r>
              <a:rPr lang="en-US" sz="1500">
                <a:solidFill>
                  <a:srgbClr val="000000"/>
                </a:solidFill>
                <a:latin typeface="Lato"/>
                <a:ea typeface="Lato"/>
                <a:cs typeface="Lato"/>
                <a:sym typeface="Lato"/>
              </a:rPr>
              <a:t>MRI &amp; CT Scanners – Detailed imaging of internal organs</a:t>
            </a:r>
          </a:p>
          <a:p>
            <a:pPr algn="l" marL="323852" indent="-161926" lvl="1">
              <a:lnSpc>
                <a:spcPts val="1800"/>
              </a:lnSpc>
              <a:buFont typeface="Arial"/>
              <a:buChar char="•"/>
            </a:pPr>
            <a:r>
              <a:rPr lang="en-US" sz="1500">
                <a:solidFill>
                  <a:srgbClr val="000000"/>
                </a:solidFill>
                <a:latin typeface="Lato"/>
                <a:ea typeface="Lato"/>
                <a:cs typeface="Lato"/>
                <a:sym typeface="Lato"/>
              </a:rPr>
              <a:t>Robotic Surgery – Precision and minimally invasive procedures</a:t>
            </a:r>
          </a:p>
          <a:p>
            <a:pPr algn="l" marL="323852" indent="-161926" lvl="1">
              <a:lnSpc>
                <a:spcPts val="1800"/>
              </a:lnSpc>
              <a:buFont typeface="Arial"/>
              <a:buChar char="•"/>
            </a:pPr>
            <a:r>
              <a:rPr lang="en-US" sz="1500">
                <a:solidFill>
                  <a:srgbClr val="000000"/>
                </a:solidFill>
                <a:latin typeface="Lato"/>
                <a:ea typeface="Lato"/>
                <a:cs typeface="Lato"/>
                <a:sym typeface="Lato"/>
              </a:rPr>
              <a:t>Electronic Health Records (EHRs) – Efficient data management</a:t>
            </a:r>
          </a:p>
          <a:p>
            <a:pPr algn="l" marL="323852" indent="-161926" lvl="1">
              <a:lnSpc>
                <a:spcPts val="1800"/>
              </a:lnSpc>
              <a:buFont typeface="Arial"/>
              <a:buChar char="•"/>
            </a:pPr>
            <a:r>
              <a:rPr lang="en-US" sz="1500">
                <a:solidFill>
                  <a:srgbClr val="000000"/>
                </a:solidFill>
                <a:latin typeface="Lato"/>
                <a:ea typeface="Lato"/>
                <a:cs typeface="Lato"/>
                <a:sym typeface="Lato"/>
              </a:rPr>
              <a:t>Telemedicine – Remote consultation and care</a:t>
            </a:r>
          </a:p>
          <a:p>
            <a:pPr algn="l" marL="323852" indent="-161926" lvl="1">
              <a:lnSpc>
                <a:spcPts val="1800"/>
              </a:lnSpc>
              <a:buFont typeface="Arial"/>
              <a:buChar char="•"/>
            </a:pPr>
            <a:r>
              <a:rPr lang="en-US" sz="1500">
                <a:solidFill>
                  <a:srgbClr val="000000"/>
                </a:solidFill>
                <a:latin typeface="Lato"/>
                <a:ea typeface="Lato"/>
                <a:cs typeface="Lato"/>
                <a:sym typeface="Lato"/>
              </a:rPr>
              <a:t>AI Diagnosis Tools – Predictive analytics and faster diagnosis</a:t>
            </a:r>
          </a:p>
        </p:txBody>
      </p:sp>
      <p:sp>
        <p:nvSpPr>
          <p:cNvPr name="TextBox 6" id="6"/>
          <p:cNvSpPr txBox="true"/>
          <p:nvPr/>
        </p:nvSpPr>
        <p:spPr>
          <a:xfrm rot="0">
            <a:off x="1028700" y="5776912"/>
            <a:ext cx="3866808"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Modern medicine relies heavily on technological tools such as:</a:t>
            </a:r>
          </a:p>
        </p:txBody>
      </p:sp>
      <p:sp>
        <p:nvSpPr>
          <p:cNvPr name="TextBox 7" id="7"/>
          <p:cNvSpPr txBox="true"/>
          <p:nvPr/>
        </p:nvSpPr>
        <p:spPr>
          <a:xfrm rot="0">
            <a:off x="12752412" y="1019175"/>
            <a:ext cx="4506888"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grpSp>
        <p:nvGrpSpPr>
          <p:cNvPr name="Group 8" id="8"/>
          <p:cNvGrpSpPr/>
          <p:nvPr/>
        </p:nvGrpSpPr>
        <p:grpSpPr>
          <a:xfrm rot="0">
            <a:off x="12752412" y="3221049"/>
            <a:ext cx="4506888" cy="5799126"/>
            <a:chOff x="0" y="0"/>
            <a:chExt cx="698235" cy="898436"/>
          </a:xfrm>
        </p:grpSpPr>
        <p:sp>
          <p:nvSpPr>
            <p:cNvPr name="Freeform 9" id="9"/>
            <p:cNvSpPr/>
            <p:nvPr/>
          </p:nvSpPr>
          <p:spPr>
            <a:xfrm flipH="false" flipV="false" rot="0">
              <a:off x="0" y="0"/>
              <a:ext cx="698235" cy="898436"/>
            </a:xfrm>
            <a:custGeom>
              <a:avLst/>
              <a:gdLst/>
              <a:ahLst/>
              <a:cxnLst/>
              <a:rect r="r" b="b" t="t" l="l"/>
              <a:pathLst>
                <a:path h="898436" w="698235">
                  <a:moveTo>
                    <a:pt x="85890" y="0"/>
                  </a:moveTo>
                  <a:lnTo>
                    <a:pt x="612345" y="0"/>
                  </a:lnTo>
                  <a:cubicBezTo>
                    <a:pt x="635124" y="0"/>
                    <a:pt x="656971" y="9049"/>
                    <a:pt x="673078" y="25157"/>
                  </a:cubicBezTo>
                  <a:cubicBezTo>
                    <a:pt x="689186" y="41264"/>
                    <a:pt x="698235" y="63110"/>
                    <a:pt x="698235" y="85890"/>
                  </a:cubicBezTo>
                  <a:lnTo>
                    <a:pt x="698235" y="812547"/>
                  </a:lnTo>
                  <a:cubicBezTo>
                    <a:pt x="698235" y="859982"/>
                    <a:pt x="659781" y="898436"/>
                    <a:pt x="612345" y="898436"/>
                  </a:cubicBezTo>
                  <a:lnTo>
                    <a:pt x="85890" y="898436"/>
                  </a:lnTo>
                  <a:cubicBezTo>
                    <a:pt x="63110" y="898436"/>
                    <a:pt x="41264" y="889387"/>
                    <a:pt x="25157" y="873280"/>
                  </a:cubicBezTo>
                  <a:cubicBezTo>
                    <a:pt x="9049" y="857172"/>
                    <a:pt x="0" y="835326"/>
                    <a:pt x="0" y="812547"/>
                  </a:cubicBezTo>
                  <a:lnTo>
                    <a:pt x="0" y="85890"/>
                  </a:lnTo>
                  <a:cubicBezTo>
                    <a:pt x="0" y="38454"/>
                    <a:pt x="38454" y="0"/>
                    <a:pt x="85890" y="0"/>
                  </a:cubicBezTo>
                  <a:close/>
                </a:path>
              </a:pathLst>
            </a:custGeom>
            <a:blipFill>
              <a:blip r:embed="rId4"/>
              <a:stretch>
                <a:fillRect l="-46504" t="0" r="-46504" b="0"/>
              </a:stretch>
            </a:blipFill>
          </p:spPr>
        </p:sp>
      </p:grpSp>
      <p:grpSp>
        <p:nvGrpSpPr>
          <p:cNvPr name="Group 10" id="10"/>
          <p:cNvGrpSpPr/>
          <p:nvPr/>
        </p:nvGrpSpPr>
        <p:grpSpPr>
          <a:xfrm rot="0">
            <a:off x="11332454" y="5625203"/>
            <a:ext cx="2839915" cy="28399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AFAFA"/>
              </a:solidFill>
              <a:prstDash val="lgDash"/>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1495573" y="5789265"/>
            <a:ext cx="2513677" cy="25136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1F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2026297" y="6430760"/>
            <a:ext cx="1452229" cy="707129"/>
          </a:xfrm>
          <a:prstGeom prst="rect">
            <a:avLst/>
          </a:prstGeom>
        </p:spPr>
        <p:txBody>
          <a:bodyPr anchor="t" rtlCol="false" tIns="0" lIns="0" bIns="0" rIns="0">
            <a:spAutoFit/>
          </a:bodyPr>
          <a:lstStyle/>
          <a:p>
            <a:pPr algn="ctr">
              <a:lnSpc>
                <a:spcPts val="4866"/>
              </a:lnSpc>
            </a:pPr>
            <a:r>
              <a:rPr lang="en-US" b="true" sz="5232">
                <a:solidFill>
                  <a:srgbClr val="FAFAFA"/>
                </a:solidFill>
                <a:latin typeface="Poppins Bold"/>
                <a:ea typeface="Poppins Bold"/>
                <a:cs typeface="Poppins Bold"/>
                <a:sym typeface="Poppins Bold"/>
              </a:rPr>
              <a:t>50%</a:t>
            </a:r>
          </a:p>
        </p:txBody>
      </p:sp>
      <p:sp>
        <p:nvSpPr>
          <p:cNvPr name="TextBox 17" id="17"/>
          <p:cNvSpPr txBox="true"/>
          <p:nvPr/>
        </p:nvSpPr>
        <p:spPr>
          <a:xfrm rot="0">
            <a:off x="12026297" y="7324966"/>
            <a:ext cx="1452229" cy="422207"/>
          </a:xfrm>
          <a:prstGeom prst="rect">
            <a:avLst/>
          </a:prstGeom>
        </p:spPr>
        <p:txBody>
          <a:bodyPr anchor="t" rtlCol="false" tIns="0" lIns="0" bIns="0" rIns="0">
            <a:spAutoFit/>
          </a:bodyPr>
          <a:lstStyle/>
          <a:p>
            <a:pPr algn="ctr">
              <a:lnSpc>
                <a:spcPts val="1624"/>
              </a:lnSpc>
            </a:pPr>
            <a:r>
              <a:rPr lang="en-US" sz="1353">
                <a:solidFill>
                  <a:srgbClr val="FAFAFA"/>
                </a:solidFill>
                <a:latin typeface="Lato"/>
                <a:ea typeface="Lato"/>
                <a:cs typeface="Lato"/>
                <a:sym typeface="Lato"/>
              </a:rPr>
              <a:t>Lorem ipsum dolor sit amet,</a:t>
            </a:r>
          </a:p>
        </p:txBody>
      </p:sp>
      <p:sp>
        <p:nvSpPr>
          <p:cNvPr name="TextBox 18" id="18"/>
          <p:cNvSpPr txBox="true"/>
          <p:nvPr/>
        </p:nvSpPr>
        <p:spPr>
          <a:xfrm rot="0">
            <a:off x="12320768" y="7035635"/>
            <a:ext cx="863287" cy="190073"/>
          </a:xfrm>
          <a:prstGeom prst="rect">
            <a:avLst/>
          </a:prstGeom>
        </p:spPr>
        <p:txBody>
          <a:bodyPr anchor="t" rtlCol="false" tIns="0" lIns="0" bIns="0" rIns="0">
            <a:spAutoFit/>
          </a:bodyPr>
          <a:lstStyle/>
          <a:p>
            <a:pPr algn="ctr">
              <a:lnSpc>
                <a:spcPts val="1460"/>
              </a:lnSpc>
            </a:pPr>
            <a:r>
              <a:rPr lang="en-US" b="true" sz="1216">
                <a:solidFill>
                  <a:srgbClr val="FAFAFA"/>
                </a:solidFill>
                <a:latin typeface="Lato Bold"/>
                <a:ea typeface="Lato Bold"/>
                <a:cs typeface="Lato Bold"/>
                <a:sym typeface="Lato Bold"/>
              </a:rPr>
              <a:t>MEDICAL</a:t>
            </a:r>
          </a:p>
        </p:txBody>
      </p:sp>
      <p:sp>
        <p:nvSpPr>
          <p:cNvPr name="Freeform 19" id="19"/>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325824"/>
            <a:ext cx="8015876"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Medical R</a:t>
            </a:r>
            <a:r>
              <a:rPr lang="en-US" sz="6500">
                <a:solidFill>
                  <a:srgbClr val="3F81F4"/>
                </a:solidFill>
                <a:latin typeface="Poppins"/>
                <a:ea typeface="Poppins"/>
                <a:cs typeface="Poppins"/>
                <a:sym typeface="Poppins"/>
              </a:rPr>
              <a:t>esearch </a:t>
            </a:r>
            <a:r>
              <a:rPr lang="en-US" sz="6500" b="true">
                <a:solidFill>
                  <a:srgbClr val="000000"/>
                </a:solidFill>
                <a:latin typeface="Poppins Bold"/>
                <a:ea typeface="Poppins Bold"/>
                <a:cs typeface="Poppins Bold"/>
                <a:sym typeface="Poppins Bold"/>
              </a:rPr>
              <a:t>&amp; In</a:t>
            </a:r>
            <a:r>
              <a:rPr lang="en-US" b="true" sz="6500">
                <a:solidFill>
                  <a:srgbClr val="000000"/>
                </a:solidFill>
                <a:latin typeface="Poppins Bold"/>
                <a:ea typeface="Poppins Bold"/>
                <a:cs typeface="Poppins Bold"/>
                <a:sym typeface="Poppins Bold"/>
              </a:rPr>
              <a:t>novation</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grpSp>
        <p:nvGrpSpPr>
          <p:cNvPr name="Group 5" id="5"/>
          <p:cNvGrpSpPr/>
          <p:nvPr/>
        </p:nvGrpSpPr>
        <p:grpSpPr>
          <a:xfrm rot="0">
            <a:off x="15287796" y="3221049"/>
            <a:ext cx="3000204" cy="7065951"/>
            <a:chOff x="0" y="0"/>
            <a:chExt cx="355580" cy="837446"/>
          </a:xfrm>
        </p:grpSpPr>
        <p:sp>
          <p:nvSpPr>
            <p:cNvPr name="Freeform 6" id="6"/>
            <p:cNvSpPr/>
            <p:nvPr/>
          </p:nvSpPr>
          <p:spPr>
            <a:xfrm flipH="false" flipV="false" rot="0">
              <a:off x="0" y="0"/>
              <a:ext cx="355580" cy="837446"/>
            </a:xfrm>
            <a:custGeom>
              <a:avLst/>
              <a:gdLst/>
              <a:ahLst/>
              <a:cxnLst/>
              <a:rect r="r" b="b" t="t" l="l"/>
              <a:pathLst>
                <a:path h="837446" w="355580">
                  <a:moveTo>
                    <a:pt x="0" y="0"/>
                  </a:moveTo>
                  <a:lnTo>
                    <a:pt x="355580" y="0"/>
                  </a:lnTo>
                  <a:lnTo>
                    <a:pt x="355580" y="837446"/>
                  </a:lnTo>
                  <a:lnTo>
                    <a:pt x="0" y="837446"/>
                  </a:lnTo>
                  <a:close/>
                </a:path>
              </a:pathLst>
            </a:custGeom>
            <a:solidFill>
              <a:srgbClr val="3F81F4"/>
            </a:solidFill>
          </p:spPr>
        </p:sp>
        <p:sp>
          <p:nvSpPr>
            <p:cNvPr name="TextBox 7" id="7"/>
            <p:cNvSpPr txBox="true"/>
            <p:nvPr/>
          </p:nvSpPr>
          <p:spPr>
            <a:xfrm>
              <a:off x="0" y="-28575"/>
              <a:ext cx="355580" cy="866021"/>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5287796" y="3221049"/>
            <a:ext cx="1971504" cy="5799126"/>
            <a:chOff x="0" y="0"/>
            <a:chExt cx="233660" cy="687304"/>
          </a:xfrm>
        </p:grpSpPr>
        <p:sp>
          <p:nvSpPr>
            <p:cNvPr name="Freeform 9" id="9"/>
            <p:cNvSpPr/>
            <p:nvPr/>
          </p:nvSpPr>
          <p:spPr>
            <a:xfrm flipH="false" flipV="false" rot="0">
              <a:off x="0" y="0"/>
              <a:ext cx="233660" cy="687304"/>
            </a:xfrm>
            <a:custGeom>
              <a:avLst/>
              <a:gdLst/>
              <a:ahLst/>
              <a:cxnLst/>
              <a:rect r="r" b="b" t="t" l="l"/>
              <a:pathLst>
                <a:path h="687304" w="233660">
                  <a:moveTo>
                    <a:pt x="0" y="0"/>
                  </a:moveTo>
                  <a:lnTo>
                    <a:pt x="233660" y="0"/>
                  </a:lnTo>
                  <a:lnTo>
                    <a:pt x="233660" y="687304"/>
                  </a:lnTo>
                  <a:lnTo>
                    <a:pt x="0" y="687304"/>
                  </a:lnTo>
                  <a:close/>
                </a:path>
              </a:pathLst>
            </a:custGeom>
            <a:solidFill>
              <a:srgbClr val="FAFAFA"/>
            </a:solidFill>
          </p:spPr>
        </p:sp>
        <p:sp>
          <p:nvSpPr>
            <p:cNvPr name="TextBox 10" id="10"/>
            <p:cNvSpPr txBox="true"/>
            <p:nvPr/>
          </p:nvSpPr>
          <p:spPr>
            <a:xfrm>
              <a:off x="0" y="-28575"/>
              <a:ext cx="233660" cy="715879"/>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10780908" y="3221049"/>
            <a:ext cx="4506888" cy="5799126"/>
            <a:chOff x="0" y="0"/>
            <a:chExt cx="698235" cy="898436"/>
          </a:xfrm>
        </p:grpSpPr>
        <p:sp>
          <p:nvSpPr>
            <p:cNvPr name="Freeform 12" id="12"/>
            <p:cNvSpPr/>
            <p:nvPr/>
          </p:nvSpPr>
          <p:spPr>
            <a:xfrm flipH="false" flipV="false" rot="0">
              <a:off x="0" y="0"/>
              <a:ext cx="698235" cy="898436"/>
            </a:xfrm>
            <a:custGeom>
              <a:avLst/>
              <a:gdLst/>
              <a:ahLst/>
              <a:cxnLst/>
              <a:rect r="r" b="b" t="t" l="l"/>
              <a:pathLst>
                <a:path h="898436" w="698235">
                  <a:moveTo>
                    <a:pt x="0" y="0"/>
                  </a:moveTo>
                  <a:lnTo>
                    <a:pt x="698235" y="0"/>
                  </a:lnTo>
                  <a:lnTo>
                    <a:pt x="698235" y="898436"/>
                  </a:lnTo>
                  <a:lnTo>
                    <a:pt x="0" y="898436"/>
                  </a:lnTo>
                  <a:close/>
                </a:path>
              </a:pathLst>
            </a:custGeom>
            <a:blipFill>
              <a:blip r:embed="rId4"/>
              <a:stretch>
                <a:fillRect l="-46504" t="0" r="-46504" b="0"/>
              </a:stretch>
            </a:blipFill>
          </p:spPr>
        </p:sp>
      </p:grpSp>
      <p:grpSp>
        <p:nvGrpSpPr>
          <p:cNvPr name="Group 13" id="13"/>
          <p:cNvGrpSpPr/>
          <p:nvPr/>
        </p:nvGrpSpPr>
        <p:grpSpPr>
          <a:xfrm rot="0">
            <a:off x="11500321" y="1849234"/>
            <a:ext cx="5758979" cy="2469309"/>
            <a:chOff x="0" y="0"/>
            <a:chExt cx="682546" cy="292659"/>
          </a:xfrm>
        </p:grpSpPr>
        <p:sp>
          <p:nvSpPr>
            <p:cNvPr name="Freeform 14" id="14"/>
            <p:cNvSpPr/>
            <p:nvPr/>
          </p:nvSpPr>
          <p:spPr>
            <a:xfrm flipH="false" flipV="false" rot="0">
              <a:off x="0" y="0"/>
              <a:ext cx="682546" cy="292659"/>
            </a:xfrm>
            <a:custGeom>
              <a:avLst/>
              <a:gdLst/>
              <a:ahLst/>
              <a:cxnLst/>
              <a:rect r="r" b="b" t="t" l="l"/>
              <a:pathLst>
                <a:path h="292659" w="682546">
                  <a:moveTo>
                    <a:pt x="0" y="0"/>
                  </a:moveTo>
                  <a:lnTo>
                    <a:pt x="682546" y="0"/>
                  </a:lnTo>
                  <a:lnTo>
                    <a:pt x="682546" y="292659"/>
                  </a:lnTo>
                  <a:lnTo>
                    <a:pt x="0" y="292659"/>
                  </a:lnTo>
                  <a:close/>
                </a:path>
              </a:pathLst>
            </a:custGeom>
            <a:solidFill>
              <a:srgbClr val="3F81F4"/>
            </a:solidFill>
          </p:spPr>
        </p:sp>
        <p:sp>
          <p:nvSpPr>
            <p:cNvPr name="TextBox 15" id="15"/>
            <p:cNvSpPr txBox="true"/>
            <p:nvPr/>
          </p:nvSpPr>
          <p:spPr>
            <a:xfrm>
              <a:off x="0" y="-28575"/>
              <a:ext cx="682546" cy="321234"/>
            </a:xfrm>
            <a:prstGeom prst="rect">
              <a:avLst/>
            </a:prstGeom>
          </p:spPr>
          <p:txBody>
            <a:bodyPr anchor="ctr" rtlCol="false" tIns="50800" lIns="50800" bIns="50800" rIns="50800"/>
            <a:lstStyle/>
            <a:p>
              <a:pPr algn="ctr">
                <a:lnSpc>
                  <a:spcPts val="1400"/>
                </a:lnSpc>
              </a:pPr>
            </a:p>
          </p:txBody>
        </p:sp>
      </p:grpSp>
      <p:sp>
        <p:nvSpPr>
          <p:cNvPr name="TextBox 16" id="16"/>
          <p:cNvSpPr txBox="true"/>
          <p:nvPr/>
        </p:nvSpPr>
        <p:spPr>
          <a:xfrm rot="0">
            <a:off x="1028700" y="6599872"/>
            <a:ext cx="4761879" cy="923925"/>
          </a:xfrm>
          <a:prstGeom prst="rect">
            <a:avLst/>
          </a:prstGeom>
        </p:spPr>
        <p:txBody>
          <a:bodyPr anchor="t" rtlCol="false" tIns="0" lIns="0" bIns="0" rIns="0">
            <a:spAutoFit/>
          </a:bodyPr>
          <a:lstStyle/>
          <a:p>
            <a:pPr algn="l" marL="323852" indent="-161926" lvl="1">
              <a:lnSpc>
                <a:spcPts val="1800"/>
              </a:lnSpc>
              <a:buFont typeface="Arial"/>
              <a:buChar char="•"/>
            </a:pPr>
            <a:r>
              <a:rPr lang="en-US" sz="1500">
                <a:solidFill>
                  <a:srgbClr val="000000"/>
                </a:solidFill>
                <a:latin typeface="Lato"/>
                <a:ea typeface="Lato"/>
                <a:cs typeface="Lato"/>
                <a:sym typeface="Lato"/>
              </a:rPr>
              <a:t>Clinical Trials for new drugs</a:t>
            </a:r>
          </a:p>
          <a:p>
            <a:pPr algn="l" marL="323852" indent="-161926" lvl="1">
              <a:lnSpc>
                <a:spcPts val="1800"/>
              </a:lnSpc>
              <a:buFont typeface="Arial"/>
              <a:buChar char="•"/>
            </a:pPr>
            <a:r>
              <a:rPr lang="en-US" sz="1500">
                <a:solidFill>
                  <a:srgbClr val="000000"/>
                </a:solidFill>
                <a:latin typeface="Lato"/>
                <a:ea typeface="Lato"/>
                <a:cs typeface="Lato"/>
                <a:sym typeface="Lato"/>
              </a:rPr>
              <a:t>Gene</a:t>
            </a:r>
            <a:r>
              <a:rPr lang="en-US" sz="1500">
                <a:solidFill>
                  <a:srgbClr val="000000"/>
                </a:solidFill>
                <a:latin typeface="Lato"/>
                <a:ea typeface="Lato"/>
                <a:cs typeface="Lato"/>
                <a:sym typeface="Lato"/>
              </a:rPr>
              <a:t>tic Engineering for disease prevention</a:t>
            </a:r>
          </a:p>
          <a:p>
            <a:pPr algn="l" marL="323852" indent="-161926" lvl="1">
              <a:lnSpc>
                <a:spcPts val="1800"/>
              </a:lnSpc>
              <a:buFont typeface="Arial"/>
              <a:buChar char="•"/>
            </a:pPr>
            <a:r>
              <a:rPr lang="en-US" sz="1500">
                <a:solidFill>
                  <a:srgbClr val="000000"/>
                </a:solidFill>
                <a:latin typeface="Lato"/>
                <a:ea typeface="Lato"/>
                <a:cs typeface="Lato"/>
                <a:sym typeface="Lato"/>
              </a:rPr>
              <a:t>Stem Cell Therapy for tissue regeneration</a:t>
            </a:r>
          </a:p>
          <a:p>
            <a:pPr algn="l" marL="323852" indent="-161926" lvl="1">
              <a:lnSpc>
                <a:spcPts val="1800"/>
              </a:lnSpc>
              <a:buFont typeface="Arial"/>
              <a:buChar char="•"/>
            </a:pPr>
            <a:r>
              <a:rPr lang="en-US" sz="1500">
                <a:solidFill>
                  <a:srgbClr val="000000"/>
                </a:solidFill>
                <a:latin typeface="Lato"/>
                <a:ea typeface="Lato"/>
                <a:cs typeface="Lato"/>
                <a:sym typeface="Lato"/>
              </a:rPr>
              <a:t>Vac</a:t>
            </a:r>
            <a:r>
              <a:rPr lang="en-US" sz="1500">
                <a:solidFill>
                  <a:srgbClr val="000000"/>
                </a:solidFill>
                <a:latin typeface="Lato"/>
                <a:ea typeface="Lato"/>
                <a:cs typeface="Lato"/>
                <a:sym typeface="Lato"/>
              </a:rPr>
              <a:t>cine Development for infectious diseases</a:t>
            </a:r>
          </a:p>
        </p:txBody>
      </p:sp>
      <p:sp>
        <p:nvSpPr>
          <p:cNvPr name="TextBox 17" id="17"/>
          <p:cNvSpPr txBox="true"/>
          <p:nvPr/>
        </p:nvSpPr>
        <p:spPr>
          <a:xfrm rot="0">
            <a:off x="1028700" y="5776912"/>
            <a:ext cx="8115300"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Medical research is essential for discovering cures, improving treatments, and understanding diseases. Research areas include:</a:t>
            </a:r>
          </a:p>
        </p:txBody>
      </p:sp>
      <p:sp>
        <p:nvSpPr>
          <p:cNvPr name="TextBox 18" id="18"/>
          <p:cNvSpPr txBox="true"/>
          <p:nvPr/>
        </p:nvSpPr>
        <p:spPr>
          <a:xfrm rot="0">
            <a:off x="12126366" y="2388564"/>
            <a:ext cx="4506888" cy="1381125"/>
          </a:xfrm>
          <a:prstGeom prst="rect">
            <a:avLst/>
          </a:prstGeom>
        </p:spPr>
        <p:txBody>
          <a:bodyPr anchor="t" rtlCol="false" tIns="0" lIns="0" bIns="0" rIns="0">
            <a:spAutoFit/>
          </a:bodyPr>
          <a:lstStyle/>
          <a:p>
            <a:pPr algn="l">
              <a:lnSpc>
                <a:spcPts val="1800"/>
              </a:lnSpc>
            </a:pPr>
            <a:r>
              <a:rPr lang="en-US" sz="1500">
                <a:solidFill>
                  <a:srgbClr val="FAFAFA"/>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sp>
        <p:nvSpPr>
          <p:cNvPr name="Freeform 19" id="19"/>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941459" y="2837268"/>
            <a:ext cx="6225540"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Public H</a:t>
            </a:r>
            <a:r>
              <a:rPr lang="en-US" sz="6500">
                <a:solidFill>
                  <a:srgbClr val="3F81F4"/>
                </a:solidFill>
                <a:latin typeface="Poppins"/>
                <a:ea typeface="Poppins"/>
                <a:cs typeface="Poppins"/>
                <a:sym typeface="Poppins"/>
              </a:rPr>
              <a:t>ealth </a:t>
            </a:r>
            <a:r>
              <a:rPr lang="en-US" sz="6500" b="true">
                <a:solidFill>
                  <a:srgbClr val="000000"/>
                </a:solidFill>
                <a:latin typeface="Poppins Bold"/>
                <a:ea typeface="Poppins Bold"/>
                <a:cs typeface="Poppins Bold"/>
                <a:sym typeface="Poppins Bold"/>
              </a:rPr>
              <a:t>and Medic</a:t>
            </a:r>
            <a:r>
              <a:rPr lang="en-US" b="true" sz="6500">
                <a:solidFill>
                  <a:srgbClr val="000000"/>
                </a:solidFill>
                <a:latin typeface="Poppins Bold"/>
                <a:ea typeface="Poppins Bold"/>
                <a:cs typeface="Poppins Bold"/>
                <a:sym typeface="Poppins Bold"/>
              </a:rPr>
              <a:t>ine</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sp>
        <p:nvSpPr>
          <p:cNvPr name="TextBox 5" id="5"/>
          <p:cNvSpPr txBox="true"/>
          <p:nvPr/>
        </p:nvSpPr>
        <p:spPr>
          <a:xfrm rot="0">
            <a:off x="9941459" y="6111317"/>
            <a:ext cx="4761879" cy="1152525"/>
          </a:xfrm>
          <a:prstGeom prst="rect">
            <a:avLst/>
          </a:prstGeom>
        </p:spPr>
        <p:txBody>
          <a:bodyPr anchor="t" rtlCol="false" tIns="0" lIns="0" bIns="0" rIns="0">
            <a:spAutoFit/>
          </a:bodyPr>
          <a:lstStyle/>
          <a:p>
            <a:pPr algn="l" marL="323852" indent="-161926" lvl="1">
              <a:lnSpc>
                <a:spcPts val="1800"/>
              </a:lnSpc>
              <a:buFont typeface="Arial"/>
              <a:buChar char="•"/>
            </a:pPr>
            <a:r>
              <a:rPr lang="en-US" sz="1500">
                <a:solidFill>
                  <a:srgbClr val="000000"/>
                </a:solidFill>
                <a:latin typeface="Lato"/>
                <a:ea typeface="Lato"/>
                <a:cs typeface="Lato"/>
                <a:sym typeface="Lato"/>
              </a:rPr>
              <a:t>Epidemiology – Study of disease patterns</a:t>
            </a:r>
          </a:p>
          <a:p>
            <a:pPr algn="l" marL="323852" indent="-161926" lvl="1">
              <a:lnSpc>
                <a:spcPts val="1800"/>
              </a:lnSpc>
              <a:buFont typeface="Arial"/>
              <a:buChar char="•"/>
            </a:pPr>
            <a:r>
              <a:rPr lang="en-US" sz="1500">
                <a:solidFill>
                  <a:srgbClr val="000000"/>
                </a:solidFill>
                <a:latin typeface="Lato"/>
                <a:ea typeface="Lato"/>
                <a:cs typeface="Lato"/>
                <a:sym typeface="Lato"/>
              </a:rPr>
              <a:t>Heal</a:t>
            </a:r>
            <a:r>
              <a:rPr lang="en-US" sz="1500">
                <a:solidFill>
                  <a:srgbClr val="000000"/>
                </a:solidFill>
                <a:latin typeface="Lato"/>
                <a:ea typeface="Lato"/>
                <a:cs typeface="Lato"/>
                <a:sym typeface="Lato"/>
              </a:rPr>
              <a:t>th Education – Promoting healthy behaviors</a:t>
            </a:r>
          </a:p>
          <a:p>
            <a:pPr algn="l" marL="323852" indent="-161926" lvl="1">
              <a:lnSpc>
                <a:spcPts val="1800"/>
              </a:lnSpc>
              <a:buFont typeface="Arial"/>
              <a:buChar char="•"/>
            </a:pPr>
            <a:r>
              <a:rPr lang="en-US" sz="1500">
                <a:solidFill>
                  <a:srgbClr val="000000"/>
                </a:solidFill>
                <a:latin typeface="Lato"/>
                <a:ea typeface="Lato"/>
                <a:cs typeface="Lato"/>
                <a:sym typeface="Lato"/>
              </a:rPr>
              <a:t>Immunization Programs</a:t>
            </a:r>
          </a:p>
          <a:p>
            <a:pPr algn="l" marL="323852" indent="-161926" lvl="1">
              <a:lnSpc>
                <a:spcPts val="1800"/>
              </a:lnSpc>
              <a:buFont typeface="Arial"/>
              <a:buChar char="•"/>
            </a:pPr>
            <a:r>
              <a:rPr lang="en-US" sz="1500">
                <a:solidFill>
                  <a:srgbClr val="000000"/>
                </a:solidFill>
                <a:latin typeface="Lato"/>
                <a:ea typeface="Lato"/>
                <a:cs typeface="Lato"/>
                <a:sym typeface="Lato"/>
              </a:rPr>
              <a:t>Sanitation &amp; Clean Water Access</a:t>
            </a:r>
          </a:p>
          <a:p>
            <a:pPr algn="l" marL="323852" indent="-161926" lvl="1">
              <a:lnSpc>
                <a:spcPts val="1800"/>
              </a:lnSpc>
              <a:buFont typeface="Arial"/>
              <a:buChar char="•"/>
            </a:pPr>
            <a:r>
              <a:rPr lang="en-US" sz="1500">
                <a:solidFill>
                  <a:srgbClr val="000000"/>
                </a:solidFill>
                <a:latin typeface="Lato"/>
                <a:ea typeface="Lato"/>
                <a:cs typeface="Lato"/>
                <a:sym typeface="Lato"/>
              </a:rPr>
              <a:t>Policy &amp; Legislation on Health Standards</a:t>
            </a:r>
          </a:p>
        </p:txBody>
      </p:sp>
      <p:sp>
        <p:nvSpPr>
          <p:cNvPr name="TextBox 6" id="6"/>
          <p:cNvSpPr txBox="true"/>
          <p:nvPr/>
        </p:nvSpPr>
        <p:spPr>
          <a:xfrm rot="0">
            <a:off x="9941459" y="5288357"/>
            <a:ext cx="6225540"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Public health complements medical care by focusing on prevention at the community level. It includes:</a:t>
            </a:r>
          </a:p>
        </p:txBody>
      </p:sp>
      <p:grpSp>
        <p:nvGrpSpPr>
          <p:cNvPr name="Group 7" id="7"/>
          <p:cNvGrpSpPr/>
          <p:nvPr/>
        </p:nvGrpSpPr>
        <p:grpSpPr>
          <a:xfrm rot="0">
            <a:off x="3137364" y="4916499"/>
            <a:ext cx="4796448" cy="4341801"/>
            <a:chOff x="0" y="0"/>
            <a:chExt cx="1263262" cy="1143520"/>
          </a:xfrm>
        </p:grpSpPr>
        <p:sp>
          <p:nvSpPr>
            <p:cNvPr name="Freeform 8" id="8"/>
            <p:cNvSpPr/>
            <p:nvPr/>
          </p:nvSpPr>
          <p:spPr>
            <a:xfrm flipH="false" flipV="false" rot="0">
              <a:off x="0" y="0"/>
              <a:ext cx="1263262" cy="1143520"/>
            </a:xfrm>
            <a:custGeom>
              <a:avLst/>
              <a:gdLst/>
              <a:ahLst/>
              <a:cxnLst/>
              <a:rect r="r" b="b" t="t" l="l"/>
              <a:pathLst>
                <a:path h="1143520" w="1263262">
                  <a:moveTo>
                    <a:pt x="96846" y="0"/>
                  </a:moveTo>
                  <a:lnTo>
                    <a:pt x="1166416" y="0"/>
                  </a:lnTo>
                  <a:cubicBezTo>
                    <a:pt x="1219903" y="0"/>
                    <a:pt x="1263262" y="43359"/>
                    <a:pt x="1263262" y="96846"/>
                  </a:cubicBezTo>
                  <a:lnTo>
                    <a:pt x="1263262" y="1046674"/>
                  </a:lnTo>
                  <a:cubicBezTo>
                    <a:pt x="1263262" y="1072359"/>
                    <a:pt x="1253059" y="1096992"/>
                    <a:pt x="1234897" y="1115154"/>
                  </a:cubicBezTo>
                  <a:cubicBezTo>
                    <a:pt x="1216735" y="1133316"/>
                    <a:pt x="1192101" y="1143520"/>
                    <a:pt x="1166416" y="1143520"/>
                  </a:cubicBezTo>
                  <a:lnTo>
                    <a:pt x="96846" y="1143520"/>
                  </a:lnTo>
                  <a:cubicBezTo>
                    <a:pt x="71161" y="1143520"/>
                    <a:pt x="46528" y="1133316"/>
                    <a:pt x="28365" y="1115154"/>
                  </a:cubicBezTo>
                  <a:cubicBezTo>
                    <a:pt x="10203" y="1096992"/>
                    <a:pt x="0" y="1072359"/>
                    <a:pt x="0" y="1046674"/>
                  </a:cubicBezTo>
                  <a:lnTo>
                    <a:pt x="0" y="96846"/>
                  </a:lnTo>
                  <a:cubicBezTo>
                    <a:pt x="0" y="71161"/>
                    <a:pt x="10203" y="46528"/>
                    <a:pt x="28365" y="28365"/>
                  </a:cubicBezTo>
                  <a:cubicBezTo>
                    <a:pt x="46528" y="10203"/>
                    <a:pt x="71161" y="0"/>
                    <a:pt x="96846" y="0"/>
                  </a:cubicBezTo>
                  <a:close/>
                </a:path>
              </a:pathLst>
            </a:custGeom>
            <a:solidFill>
              <a:srgbClr val="FAFAFA"/>
            </a:solidFill>
          </p:spPr>
        </p:sp>
        <p:sp>
          <p:nvSpPr>
            <p:cNvPr name="TextBox 9" id="9"/>
            <p:cNvSpPr txBox="true"/>
            <p:nvPr/>
          </p:nvSpPr>
          <p:spPr>
            <a:xfrm>
              <a:off x="0" y="-38100"/>
              <a:ext cx="1263262" cy="118162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8700" y="2243937"/>
            <a:ext cx="4506888" cy="5799126"/>
            <a:chOff x="0" y="0"/>
            <a:chExt cx="698235" cy="898436"/>
          </a:xfrm>
        </p:grpSpPr>
        <p:sp>
          <p:nvSpPr>
            <p:cNvPr name="Freeform 11" id="11"/>
            <p:cNvSpPr/>
            <p:nvPr/>
          </p:nvSpPr>
          <p:spPr>
            <a:xfrm flipH="false" flipV="false" rot="0">
              <a:off x="0" y="0"/>
              <a:ext cx="698235" cy="898436"/>
            </a:xfrm>
            <a:custGeom>
              <a:avLst/>
              <a:gdLst/>
              <a:ahLst/>
              <a:cxnLst/>
              <a:rect r="r" b="b" t="t" l="l"/>
              <a:pathLst>
                <a:path h="898436" w="698235">
                  <a:moveTo>
                    <a:pt x="85890" y="0"/>
                  </a:moveTo>
                  <a:lnTo>
                    <a:pt x="612345" y="0"/>
                  </a:lnTo>
                  <a:cubicBezTo>
                    <a:pt x="635124" y="0"/>
                    <a:pt x="656971" y="9049"/>
                    <a:pt x="673078" y="25157"/>
                  </a:cubicBezTo>
                  <a:cubicBezTo>
                    <a:pt x="689186" y="41264"/>
                    <a:pt x="698235" y="63110"/>
                    <a:pt x="698235" y="85890"/>
                  </a:cubicBezTo>
                  <a:lnTo>
                    <a:pt x="698235" y="812547"/>
                  </a:lnTo>
                  <a:cubicBezTo>
                    <a:pt x="698235" y="859982"/>
                    <a:pt x="659781" y="898436"/>
                    <a:pt x="612345" y="898436"/>
                  </a:cubicBezTo>
                  <a:lnTo>
                    <a:pt x="85890" y="898436"/>
                  </a:lnTo>
                  <a:cubicBezTo>
                    <a:pt x="63110" y="898436"/>
                    <a:pt x="41264" y="889387"/>
                    <a:pt x="25157" y="873280"/>
                  </a:cubicBezTo>
                  <a:cubicBezTo>
                    <a:pt x="9049" y="857172"/>
                    <a:pt x="0" y="835326"/>
                    <a:pt x="0" y="812547"/>
                  </a:cubicBezTo>
                  <a:lnTo>
                    <a:pt x="0" y="85890"/>
                  </a:lnTo>
                  <a:cubicBezTo>
                    <a:pt x="0" y="38454"/>
                    <a:pt x="38454" y="0"/>
                    <a:pt x="85890" y="0"/>
                  </a:cubicBezTo>
                  <a:close/>
                </a:path>
              </a:pathLst>
            </a:custGeom>
            <a:blipFill>
              <a:blip r:embed="rId4"/>
              <a:stretch>
                <a:fillRect l="-56547" t="0" r="-36461" b="0"/>
              </a:stretch>
            </a:blipFill>
          </p:spPr>
        </p:sp>
      </p:grpSp>
      <p:grpSp>
        <p:nvGrpSpPr>
          <p:cNvPr name="Group 12" id="12"/>
          <p:cNvGrpSpPr/>
          <p:nvPr/>
        </p:nvGrpSpPr>
        <p:grpSpPr>
          <a:xfrm rot="0">
            <a:off x="3282144" y="5061279"/>
            <a:ext cx="4506888" cy="4052241"/>
            <a:chOff x="0" y="0"/>
            <a:chExt cx="698235" cy="627798"/>
          </a:xfrm>
        </p:grpSpPr>
        <p:sp>
          <p:nvSpPr>
            <p:cNvPr name="Freeform 13" id="13"/>
            <p:cNvSpPr/>
            <p:nvPr/>
          </p:nvSpPr>
          <p:spPr>
            <a:xfrm flipH="false" flipV="false" rot="0">
              <a:off x="0" y="0"/>
              <a:ext cx="698235" cy="627798"/>
            </a:xfrm>
            <a:custGeom>
              <a:avLst/>
              <a:gdLst/>
              <a:ahLst/>
              <a:cxnLst/>
              <a:rect r="r" b="b" t="t" l="l"/>
              <a:pathLst>
                <a:path h="627798" w="698235">
                  <a:moveTo>
                    <a:pt x="85890" y="0"/>
                  </a:moveTo>
                  <a:lnTo>
                    <a:pt x="612345" y="0"/>
                  </a:lnTo>
                  <a:cubicBezTo>
                    <a:pt x="635124" y="0"/>
                    <a:pt x="656971" y="9049"/>
                    <a:pt x="673078" y="25157"/>
                  </a:cubicBezTo>
                  <a:cubicBezTo>
                    <a:pt x="689186" y="41264"/>
                    <a:pt x="698235" y="63110"/>
                    <a:pt x="698235" y="85890"/>
                  </a:cubicBezTo>
                  <a:lnTo>
                    <a:pt x="698235" y="541908"/>
                  </a:lnTo>
                  <a:cubicBezTo>
                    <a:pt x="698235" y="589344"/>
                    <a:pt x="659781" y="627798"/>
                    <a:pt x="612345" y="627798"/>
                  </a:cubicBezTo>
                  <a:lnTo>
                    <a:pt x="85890" y="627798"/>
                  </a:lnTo>
                  <a:cubicBezTo>
                    <a:pt x="63110" y="627798"/>
                    <a:pt x="41264" y="618749"/>
                    <a:pt x="25157" y="602642"/>
                  </a:cubicBezTo>
                  <a:cubicBezTo>
                    <a:pt x="9049" y="586534"/>
                    <a:pt x="0" y="564688"/>
                    <a:pt x="0" y="541908"/>
                  </a:cubicBezTo>
                  <a:lnTo>
                    <a:pt x="0" y="85890"/>
                  </a:lnTo>
                  <a:cubicBezTo>
                    <a:pt x="0" y="38454"/>
                    <a:pt x="38454" y="0"/>
                    <a:pt x="85890" y="0"/>
                  </a:cubicBezTo>
                  <a:close/>
                </a:path>
              </a:pathLst>
            </a:custGeom>
            <a:blipFill>
              <a:blip r:embed="rId5"/>
              <a:stretch>
                <a:fillRect l="-6435" t="0" r="-28433" b="0"/>
              </a:stretch>
            </a:blipFill>
          </p:spPr>
        </p:sp>
      </p:grpSp>
      <p:sp>
        <p:nvSpPr>
          <p:cNvPr name="TextBox 14" id="14"/>
          <p:cNvSpPr txBox="true"/>
          <p:nvPr/>
        </p:nvSpPr>
        <p:spPr>
          <a:xfrm rot="0">
            <a:off x="9941459" y="7701039"/>
            <a:ext cx="7317841" cy="9239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sp>
        <p:nvSpPr>
          <p:cNvPr name="Freeform 15" id="15"/>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7077560" y="2159484"/>
          <a:ext cx="10153165" cy="4661510"/>
        </p:xfrm>
        <a:graphic>
          <a:graphicData uri="http://schemas.openxmlformats.org/drawingml/2006/table">
            <a:tbl>
              <a:tblPr/>
              <a:tblGrid>
                <a:gridCol w="2538291"/>
                <a:gridCol w="2538291"/>
                <a:gridCol w="2538291"/>
                <a:gridCol w="2538291"/>
              </a:tblGrid>
              <a:tr h="1154885">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Country</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System Type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Government Funded</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Universal Access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r>
              <a:tr h="793142">
                <a:tc>
                  <a:txBody>
                    <a:bodyPr anchor="t" rtlCol="false"/>
                    <a:lstStyle/>
                    <a:p>
                      <a:pPr algn="ctr">
                        <a:lnSpc>
                          <a:spcPts val="2100"/>
                        </a:lnSpc>
                        <a:defRPr/>
                      </a:pPr>
                      <a:r>
                        <a:rPr lang="en-US" sz="1500">
                          <a:solidFill>
                            <a:srgbClr val="000000"/>
                          </a:solidFill>
                          <a:latin typeface="Lato"/>
                          <a:ea typeface="Lato"/>
                          <a:cs typeface="Lato"/>
                          <a:sym typeface="Lato"/>
                        </a:rPr>
                        <a:t>USA</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Private/Public Mix</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Partial</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No</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1127199">
                <a:tc>
                  <a:txBody>
                    <a:bodyPr anchor="t" rtlCol="false"/>
                    <a:lstStyle/>
                    <a:p>
                      <a:pPr algn="ctr">
                        <a:lnSpc>
                          <a:spcPts val="2100"/>
                        </a:lnSpc>
                        <a:defRPr/>
                      </a:pPr>
                      <a:r>
                        <a:rPr lang="en-US" sz="1500">
                          <a:solidFill>
                            <a:srgbClr val="000000"/>
                          </a:solidFill>
                          <a:latin typeface="Lato"/>
                          <a:ea typeface="Lato"/>
                          <a:cs typeface="Lato"/>
                          <a:sym typeface="Lato"/>
                        </a:rPr>
                        <a:t>UK (NHS)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Public (Single-Payer)</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Yes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Yes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93142">
                <a:tc>
                  <a:txBody>
                    <a:bodyPr anchor="t" rtlCol="false"/>
                    <a:lstStyle/>
                    <a:p>
                      <a:pPr algn="ctr">
                        <a:lnSpc>
                          <a:spcPts val="2100"/>
                        </a:lnSpc>
                        <a:defRPr/>
                      </a:pPr>
                      <a:r>
                        <a:rPr lang="en-US" sz="1500">
                          <a:solidFill>
                            <a:srgbClr val="000000"/>
                          </a:solidFill>
                          <a:latin typeface="Lato"/>
                          <a:ea typeface="Lato"/>
                          <a:cs typeface="Lato"/>
                          <a:sym typeface="Lato"/>
                        </a:rPr>
                        <a:t>Germany</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Social Insurance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Yes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Yes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93142">
                <a:tc>
                  <a:txBody>
                    <a:bodyPr anchor="t" rtlCol="false"/>
                    <a:lstStyle/>
                    <a:p>
                      <a:pPr algn="ctr">
                        <a:lnSpc>
                          <a:spcPts val="2100"/>
                        </a:lnSpc>
                        <a:defRPr/>
                      </a:pPr>
                      <a:r>
                        <a:rPr lang="en-US" sz="1500">
                          <a:solidFill>
                            <a:srgbClr val="000000"/>
                          </a:solidFill>
                          <a:latin typeface="Lato"/>
                          <a:ea typeface="Lato"/>
                          <a:cs typeface="Lato"/>
                          <a:sym typeface="Lato"/>
                        </a:rPr>
                        <a:t>Canada</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Public Funded</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Yes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Yes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bl>
          </a:graphicData>
        </a:graphic>
      </p:graphicFrame>
      <p:sp>
        <p:nvSpPr>
          <p:cNvPr name="TextBox 4" id="4"/>
          <p:cNvSpPr txBox="true"/>
          <p:nvPr/>
        </p:nvSpPr>
        <p:spPr>
          <a:xfrm rot="0">
            <a:off x="1028700" y="2264259"/>
            <a:ext cx="4739830" cy="2404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Global</a:t>
            </a:r>
            <a:r>
              <a:rPr lang="en-US" sz="6500">
                <a:solidFill>
                  <a:srgbClr val="3F81F4"/>
                </a:solidFill>
                <a:latin typeface="Poppins"/>
                <a:ea typeface="Poppins"/>
                <a:cs typeface="Poppins"/>
                <a:sym typeface="Poppins"/>
              </a:rPr>
              <a:t> Healthcare </a:t>
            </a:r>
            <a:r>
              <a:rPr lang="en-US" sz="6500" b="true">
                <a:solidFill>
                  <a:srgbClr val="000000"/>
                </a:solidFill>
                <a:latin typeface="Poppins Bold"/>
                <a:ea typeface="Poppins Bold"/>
                <a:cs typeface="Poppins Bold"/>
                <a:sym typeface="Poppins Bold"/>
              </a:rPr>
              <a:t>S</a:t>
            </a:r>
            <a:r>
              <a:rPr lang="en-US" b="true" sz="6500">
                <a:solidFill>
                  <a:srgbClr val="000000"/>
                </a:solidFill>
                <a:latin typeface="Poppins Bold"/>
                <a:ea typeface="Poppins Bold"/>
                <a:cs typeface="Poppins Bold"/>
                <a:sym typeface="Poppins Bold"/>
              </a:rPr>
              <a:t>ystems</a:t>
            </a:r>
          </a:p>
        </p:txBody>
      </p:sp>
      <p:sp>
        <p:nvSpPr>
          <p:cNvPr name="TextBox 5" id="5"/>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sp>
        <p:nvSpPr>
          <p:cNvPr name="TextBox 6" id="6"/>
          <p:cNvSpPr txBox="true"/>
          <p:nvPr/>
        </p:nvSpPr>
        <p:spPr>
          <a:xfrm rot="0">
            <a:off x="1028700" y="5439869"/>
            <a:ext cx="5108659"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grpSp>
        <p:nvGrpSpPr>
          <p:cNvPr name="Group 7" id="7"/>
          <p:cNvGrpSpPr/>
          <p:nvPr/>
        </p:nvGrpSpPr>
        <p:grpSpPr>
          <a:xfrm rot="0">
            <a:off x="1028700" y="7532678"/>
            <a:ext cx="16230600" cy="1725622"/>
            <a:chOff x="0" y="0"/>
            <a:chExt cx="2514545" cy="267344"/>
          </a:xfrm>
        </p:grpSpPr>
        <p:sp>
          <p:nvSpPr>
            <p:cNvPr name="Freeform 8" id="8"/>
            <p:cNvSpPr/>
            <p:nvPr/>
          </p:nvSpPr>
          <p:spPr>
            <a:xfrm flipH="false" flipV="false" rot="0">
              <a:off x="0" y="0"/>
              <a:ext cx="2514545" cy="267344"/>
            </a:xfrm>
            <a:custGeom>
              <a:avLst/>
              <a:gdLst/>
              <a:ahLst/>
              <a:cxnLst/>
              <a:rect r="r" b="b" t="t" l="l"/>
              <a:pathLst>
                <a:path h="267344" w="2514545">
                  <a:moveTo>
                    <a:pt x="0" y="0"/>
                  </a:moveTo>
                  <a:lnTo>
                    <a:pt x="2514545" y="0"/>
                  </a:lnTo>
                  <a:lnTo>
                    <a:pt x="2514545" y="267344"/>
                  </a:lnTo>
                  <a:lnTo>
                    <a:pt x="0" y="267344"/>
                  </a:lnTo>
                  <a:close/>
                </a:path>
              </a:pathLst>
            </a:custGeom>
            <a:blipFill>
              <a:blip r:embed="rId4"/>
              <a:stretch>
                <a:fillRect l="0" t="-263521" r="0" b="-263521"/>
              </a:stretch>
            </a:blipFill>
          </p:spPr>
        </p:sp>
      </p:grpSp>
      <p:sp>
        <p:nvSpPr>
          <p:cNvPr name="Freeform 9" id="9"/>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866428" y="3419212"/>
            <a:ext cx="4551699" cy="5262946"/>
            <a:chOff x="0" y="0"/>
            <a:chExt cx="1198801" cy="1386126"/>
          </a:xfrm>
        </p:grpSpPr>
        <p:sp>
          <p:nvSpPr>
            <p:cNvPr name="Freeform 4" id="4"/>
            <p:cNvSpPr/>
            <p:nvPr/>
          </p:nvSpPr>
          <p:spPr>
            <a:xfrm flipH="false" flipV="false" rot="0">
              <a:off x="0" y="0"/>
              <a:ext cx="1198802" cy="1386126"/>
            </a:xfrm>
            <a:custGeom>
              <a:avLst/>
              <a:gdLst/>
              <a:ahLst/>
              <a:cxnLst/>
              <a:rect r="r" b="b" t="t" l="l"/>
              <a:pathLst>
                <a:path h="1386126" w="1198802">
                  <a:moveTo>
                    <a:pt x="86745" y="0"/>
                  </a:moveTo>
                  <a:lnTo>
                    <a:pt x="1112056" y="0"/>
                  </a:lnTo>
                  <a:cubicBezTo>
                    <a:pt x="1135063" y="0"/>
                    <a:pt x="1157127" y="9139"/>
                    <a:pt x="1173394" y="25407"/>
                  </a:cubicBezTo>
                  <a:cubicBezTo>
                    <a:pt x="1189662" y="41675"/>
                    <a:pt x="1198802" y="63739"/>
                    <a:pt x="1198802" y="86745"/>
                  </a:cubicBezTo>
                  <a:lnTo>
                    <a:pt x="1198802" y="1299381"/>
                  </a:lnTo>
                  <a:cubicBezTo>
                    <a:pt x="1198802" y="1322387"/>
                    <a:pt x="1189662" y="1344451"/>
                    <a:pt x="1173394" y="1360719"/>
                  </a:cubicBezTo>
                  <a:cubicBezTo>
                    <a:pt x="1157127" y="1376987"/>
                    <a:pt x="1135063" y="1386126"/>
                    <a:pt x="1112056" y="1386126"/>
                  </a:cubicBezTo>
                  <a:lnTo>
                    <a:pt x="86745" y="1386126"/>
                  </a:lnTo>
                  <a:cubicBezTo>
                    <a:pt x="63739" y="1386126"/>
                    <a:pt x="41675" y="1376987"/>
                    <a:pt x="25407" y="1360719"/>
                  </a:cubicBezTo>
                  <a:cubicBezTo>
                    <a:pt x="9139" y="1344451"/>
                    <a:pt x="0" y="1322387"/>
                    <a:pt x="0" y="1299381"/>
                  </a:cubicBezTo>
                  <a:lnTo>
                    <a:pt x="0" y="86745"/>
                  </a:lnTo>
                  <a:cubicBezTo>
                    <a:pt x="0" y="63739"/>
                    <a:pt x="9139" y="41675"/>
                    <a:pt x="25407" y="25407"/>
                  </a:cubicBezTo>
                  <a:cubicBezTo>
                    <a:pt x="41675" y="9139"/>
                    <a:pt x="63739" y="0"/>
                    <a:pt x="86745" y="0"/>
                  </a:cubicBezTo>
                  <a:close/>
                </a:path>
              </a:pathLst>
            </a:custGeom>
            <a:gradFill rotWithShape="true">
              <a:gsLst>
                <a:gs pos="0">
                  <a:srgbClr val="3F81F4">
                    <a:alpha val="100000"/>
                  </a:srgbClr>
                </a:gs>
                <a:gs pos="100000">
                  <a:srgbClr val="85ABEF">
                    <a:alpha val="100000"/>
                  </a:srgbClr>
                </a:gs>
              </a:gsLst>
              <a:lin ang="0"/>
            </a:gradFill>
          </p:spPr>
        </p:sp>
        <p:sp>
          <p:nvSpPr>
            <p:cNvPr name="TextBox 5" id="5"/>
            <p:cNvSpPr txBox="true"/>
            <p:nvPr/>
          </p:nvSpPr>
          <p:spPr>
            <a:xfrm>
              <a:off x="0" y="-38100"/>
              <a:ext cx="1198801" cy="142422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69222" y="3419212"/>
            <a:ext cx="4551699" cy="5262946"/>
            <a:chOff x="0" y="0"/>
            <a:chExt cx="1198801" cy="1386126"/>
          </a:xfrm>
        </p:grpSpPr>
        <p:sp>
          <p:nvSpPr>
            <p:cNvPr name="Freeform 7" id="7"/>
            <p:cNvSpPr/>
            <p:nvPr/>
          </p:nvSpPr>
          <p:spPr>
            <a:xfrm flipH="false" flipV="false" rot="0">
              <a:off x="0" y="0"/>
              <a:ext cx="1198802" cy="1386126"/>
            </a:xfrm>
            <a:custGeom>
              <a:avLst/>
              <a:gdLst/>
              <a:ahLst/>
              <a:cxnLst/>
              <a:rect r="r" b="b" t="t" l="l"/>
              <a:pathLst>
                <a:path h="1386126" w="1198802">
                  <a:moveTo>
                    <a:pt x="86745" y="0"/>
                  </a:moveTo>
                  <a:lnTo>
                    <a:pt x="1112056" y="0"/>
                  </a:lnTo>
                  <a:cubicBezTo>
                    <a:pt x="1135063" y="0"/>
                    <a:pt x="1157127" y="9139"/>
                    <a:pt x="1173394" y="25407"/>
                  </a:cubicBezTo>
                  <a:cubicBezTo>
                    <a:pt x="1189662" y="41675"/>
                    <a:pt x="1198802" y="63739"/>
                    <a:pt x="1198802" y="86745"/>
                  </a:cubicBezTo>
                  <a:lnTo>
                    <a:pt x="1198802" y="1299381"/>
                  </a:lnTo>
                  <a:cubicBezTo>
                    <a:pt x="1198802" y="1322387"/>
                    <a:pt x="1189662" y="1344451"/>
                    <a:pt x="1173394" y="1360719"/>
                  </a:cubicBezTo>
                  <a:cubicBezTo>
                    <a:pt x="1157127" y="1376987"/>
                    <a:pt x="1135063" y="1386126"/>
                    <a:pt x="1112056" y="1386126"/>
                  </a:cubicBezTo>
                  <a:lnTo>
                    <a:pt x="86745" y="1386126"/>
                  </a:lnTo>
                  <a:cubicBezTo>
                    <a:pt x="63739" y="1386126"/>
                    <a:pt x="41675" y="1376987"/>
                    <a:pt x="25407" y="1360719"/>
                  </a:cubicBezTo>
                  <a:cubicBezTo>
                    <a:pt x="9139" y="1344451"/>
                    <a:pt x="0" y="1322387"/>
                    <a:pt x="0" y="1299381"/>
                  </a:cubicBezTo>
                  <a:lnTo>
                    <a:pt x="0" y="86745"/>
                  </a:lnTo>
                  <a:cubicBezTo>
                    <a:pt x="0" y="63739"/>
                    <a:pt x="9139" y="41675"/>
                    <a:pt x="25407" y="25407"/>
                  </a:cubicBezTo>
                  <a:cubicBezTo>
                    <a:pt x="41675" y="9139"/>
                    <a:pt x="63739" y="0"/>
                    <a:pt x="86745" y="0"/>
                  </a:cubicBezTo>
                  <a:close/>
                </a:path>
              </a:pathLst>
            </a:custGeom>
            <a:gradFill rotWithShape="true">
              <a:gsLst>
                <a:gs pos="0">
                  <a:srgbClr val="3F81F4">
                    <a:alpha val="100000"/>
                  </a:srgbClr>
                </a:gs>
                <a:gs pos="100000">
                  <a:srgbClr val="85ABEF">
                    <a:alpha val="100000"/>
                  </a:srgbClr>
                </a:gs>
              </a:gsLst>
              <a:lin ang="0"/>
            </a:gradFill>
          </p:spPr>
        </p:sp>
        <p:sp>
          <p:nvSpPr>
            <p:cNvPr name="TextBox 8" id="8"/>
            <p:cNvSpPr txBox="true"/>
            <p:nvPr/>
          </p:nvSpPr>
          <p:spPr>
            <a:xfrm>
              <a:off x="0" y="-38100"/>
              <a:ext cx="1198801" cy="142422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067078" y="3419212"/>
            <a:ext cx="4551699" cy="5262946"/>
            <a:chOff x="0" y="0"/>
            <a:chExt cx="1198801" cy="1386126"/>
          </a:xfrm>
        </p:grpSpPr>
        <p:sp>
          <p:nvSpPr>
            <p:cNvPr name="Freeform 10" id="10"/>
            <p:cNvSpPr/>
            <p:nvPr/>
          </p:nvSpPr>
          <p:spPr>
            <a:xfrm flipH="false" flipV="false" rot="0">
              <a:off x="0" y="0"/>
              <a:ext cx="1198802" cy="1386126"/>
            </a:xfrm>
            <a:custGeom>
              <a:avLst/>
              <a:gdLst/>
              <a:ahLst/>
              <a:cxnLst/>
              <a:rect r="r" b="b" t="t" l="l"/>
              <a:pathLst>
                <a:path h="1386126" w="1198802">
                  <a:moveTo>
                    <a:pt x="86745" y="0"/>
                  </a:moveTo>
                  <a:lnTo>
                    <a:pt x="1112056" y="0"/>
                  </a:lnTo>
                  <a:cubicBezTo>
                    <a:pt x="1135063" y="0"/>
                    <a:pt x="1157127" y="9139"/>
                    <a:pt x="1173394" y="25407"/>
                  </a:cubicBezTo>
                  <a:cubicBezTo>
                    <a:pt x="1189662" y="41675"/>
                    <a:pt x="1198802" y="63739"/>
                    <a:pt x="1198802" y="86745"/>
                  </a:cubicBezTo>
                  <a:lnTo>
                    <a:pt x="1198802" y="1299381"/>
                  </a:lnTo>
                  <a:cubicBezTo>
                    <a:pt x="1198802" y="1322387"/>
                    <a:pt x="1189662" y="1344451"/>
                    <a:pt x="1173394" y="1360719"/>
                  </a:cubicBezTo>
                  <a:cubicBezTo>
                    <a:pt x="1157127" y="1376987"/>
                    <a:pt x="1135063" y="1386126"/>
                    <a:pt x="1112056" y="1386126"/>
                  </a:cubicBezTo>
                  <a:lnTo>
                    <a:pt x="86745" y="1386126"/>
                  </a:lnTo>
                  <a:cubicBezTo>
                    <a:pt x="63739" y="1386126"/>
                    <a:pt x="41675" y="1376987"/>
                    <a:pt x="25407" y="1360719"/>
                  </a:cubicBezTo>
                  <a:cubicBezTo>
                    <a:pt x="9139" y="1344451"/>
                    <a:pt x="0" y="1322387"/>
                    <a:pt x="0" y="1299381"/>
                  </a:cubicBezTo>
                  <a:lnTo>
                    <a:pt x="0" y="86745"/>
                  </a:lnTo>
                  <a:cubicBezTo>
                    <a:pt x="0" y="63739"/>
                    <a:pt x="9139" y="41675"/>
                    <a:pt x="25407" y="25407"/>
                  </a:cubicBezTo>
                  <a:cubicBezTo>
                    <a:pt x="41675" y="9139"/>
                    <a:pt x="63739" y="0"/>
                    <a:pt x="86745" y="0"/>
                  </a:cubicBezTo>
                  <a:close/>
                </a:path>
              </a:pathLst>
            </a:custGeom>
            <a:gradFill rotWithShape="true">
              <a:gsLst>
                <a:gs pos="0">
                  <a:srgbClr val="3F81F4">
                    <a:alpha val="100000"/>
                  </a:srgbClr>
                </a:gs>
                <a:gs pos="100000">
                  <a:srgbClr val="85ABEF">
                    <a:alpha val="100000"/>
                  </a:srgbClr>
                </a:gs>
              </a:gsLst>
              <a:lin ang="0"/>
            </a:gradFill>
          </p:spPr>
        </p:sp>
        <p:sp>
          <p:nvSpPr>
            <p:cNvPr name="TextBox 11" id="11"/>
            <p:cNvSpPr txBox="true"/>
            <p:nvPr/>
          </p:nvSpPr>
          <p:spPr>
            <a:xfrm>
              <a:off x="0" y="-38100"/>
              <a:ext cx="1198801" cy="142422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2480329" y="4242576"/>
            <a:ext cx="3725199" cy="2980676"/>
            <a:chOff x="0" y="0"/>
            <a:chExt cx="577131" cy="461785"/>
          </a:xfrm>
        </p:grpSpPr>
        <p:sp>
          <p:nvSpPr>
            <p:cNvPr name="Freeform 13" id="13"/>
            <p:cNvSpPr/>
            <p:nvPr/>
          </p:nvSpPr>
          <p:spPr>
            <a:xfrm flipH="false" flipV="false" rot="0">
              <a:off x="0" y="0"/>
              <a:ext cx="577131" cy="461785"/>
            </a:xfrm>
            <a:custGeom>
              <a:avLst/>
              <a:gdLst/>
              <a:ahLst/>
              <a:cxnLst/>
              <a:rect r="r" b="b" t="t" l="l"/>
              <a:pathLst>
                <a:path h="461785" w="577131">
                  <a:moveTo>
                    <a:pt x="103913" y="0"/>
                  </a:moveTo>
                  <a:lnTo>
                    <a:pt x="473218" y="0"/>
                  </a:lnTo>
                  <a:cubicBezTo>
                    <a:pt x="500777" y="0"/>
                    <a:pt x="527208" y="10948"/>
                    <a:pt x="546695" y="30435"/>
                  </a:cubicBezTo>
                  <a:cubicBezTo>
                    <a:pt x="566183" y="49923"/>
                    <a:pt x="577131" y="76353"/>
                    <a:pt x="577131" y="103913"/>
                  </a:cubicBezTo>
                  <a:lnTo>
                    <a:pt x="577131" y="357872"/>
                  </a:lnTo>
                  <a:cubicBezTo>
                    <a:pt x="577131" y="385431"/>
                    <a:pt x="566183" y="411862"/>
                    <a:pt x="546695" y="431349"/>
                  </a:cubicBezTo>
                  <a:cubicBezTo>
                    <a:pt x="527208" y="450837"/>
                    <a:pt x="500777" y="461785"/>
                    <a:pt x="473218" y="461785"/>
                  </a:cubicBezTo>
                  <a:lnTo>
                    <a:pt x="103913" y="461785"/>
                  </a:lnTo>
                  <a:cubicBezTo>
                    <a:pt x="76353" y="461785"/>
                    <a:pt x="49923" y="450837"/>
                    <a:pt x="30435" y="431349"/>
                  </a:cubicBezTo>
                  <a:cubicBezTo>
                    <a:pt x="10948" y="411862"/>
                    <a:pt x="0" y="385431"/>
                    <a:pt x="0" y="357872"/>
                  </a:cubicBezTo>
                  <a:lnTo>
                    <a:pt x="0" y="103913"/>
                  </a:lnTo>
                  <a:cubicBezTo>
                    <a:pt x="0" y="76353"/>
                    <a:pt x="10948" y="49923"/>
                    <a:pt x="30435" y="30435"/>
                  </a:cubicBezTo>
                  <a:cubicBezTo>
                    <a:pt x="49923" y="10948"/>
                    <a:pt x="76353" y="0"/>
                    <a:pt x="103913" y="0"/>
                  </a:cubicBezTo>
                  <a:close/>
                </a:path>
              </a:pathLst>
            </a:custGeom>
            <a:blipFill>
              <a:blip r:embed="rId4"/>
              <a:stretch>
                <a:fillRect l="-6703" t="-3588" r="-49826" b="-26830"/>
              </a:stretch>
            </a:blipFill>
          </p:spPr>
        </p:sp>
      </p:grpSp>
      <p:grpSp>
        <p:nvGrpSpPr>
          <p:cNvPr name="Group 14" id="14"/>
          <p:cNvGrpSpPr/>
          <p:nvPr/>
        </p:nvGrpSpPr>
        <p:grpSpPr>
          <a:xfrm rot="0">
            <a:off x="7279678" y="4242576"/>
            <a:ext cx="3725199" cy="2980676"/>
            <a:chOff x="0" y="0"/>
            <a:chExt cx="577131" cy="461785"/>
          </a:xfrm>
        </p:grpSpPr>
        <p:sp>
          <p:nvSpPr>
            <p:cNvPr name="Freeform 15" id="15"/>
            <p:cNvSpPr/>
            <p:nvPr/>
          </p:nvSpPr>
          <p:spPr>
            <a:xfrm flipH="false" flipV="false" rot="0">
              <a:off x="0" y="0"/>
              <a:ext cx="577131" cy="461785"/>
            </a:xfrm>
            <a:custGeom>
              <a:avLst/>
              <a:gdLst/>
              <a:ahLst/>
              <a:cxnLst/>
              <a:rect r="r" b="b" t="t" l="l"/>
              <a:pathLst>
                <a:path h="461785" w="577131">
                  <a:moveTo>
                    <a:pt x="103913" y="0"/>
                  </a:moveTo>
                  <a:lnTo>
                    <a:pt x="473218" y="0"/>
                  </a:lnTo>
                  <a:cubicBezTo>
                    <a:pt x="500777" y="0"/>
                    <a:pt x="527208" y="10948"/>
                    <a:pt x="546695" y="30435"/>
                  </a:cubicBezTo>
                  <a:cubicBezTo>
                    <a:pt x="566183" y="49923"/>
                    <a:pt x="577131" y="76353"/>
                    <a:pt x="577131" y="103913"/>
                  </a:cubicBezTo>
                  <a:lnTo>
                    <a:pt x="577131" y="357872"/>
                  </a:lnTo>
                  <a:cubicBezTo>
                    <a:pt x="577131" y="385431"/>
                    <a:pt x="566183" y="411862"/>
                    <a:pt x="546695" y="431349"/>
                  </a:cubicBezTo>
                  <a:cubicBezTo>
                    <a:pt x="527208" y="450837"/>
                    <a:pt x="500777" y="461785"/>
                    <a:pt x="473218" y="461785"/>
                  </a:cubicBezTo>
                  <a:lnTo>
                    <a:pt x="103913" y="461785"/>
                  </a:lnTo>
                  <a:cubicBezTo>
                    <a:pt x="76353" y="461785"/>
                    <a:pt x="49923" y="450837"/>
                    <a:pt x="30435" y="431349"/>
                  </a:cubicBezTo>
                  <a:cubicBezTo>
                    <a:pt x="10948" y="411862"/>
                    <a:pt x="0" y="385431"/>
                    <a:pt x="0" y="357872"/>
                  </a:cubicBezTo>
                  <a:lnTo>
                    <a:pt x="0" y="103913"/>
                  </a:lnTo>
                  <a:cubicBezTo>
                    <a:pt x="0" y="76353"/>
                    <a:pt x="10948" y="49923"/>
                    <a:pt x="30435" y="30435"/>
                  </a:cubicBezTo>
                  <a:cubicBezTo>
                    <a:pt x="49923" y="10948"/>
                    <a:pt x="76353" y="0"/>
                    <a:pt x="103913" y="0"/>
                  </a:cubicBezTo>
                  <a:close/>
                </a:path>
              </a:pathLst>
            </a:custGeom>
            <a:blipFill>
              <a:blip r:embed="rId5"/>
              <a:stretch>
                <a:fillRect l="-16221" t="-416" r="-35476" b="-25976"/>
              </a:stretch>
            </a:blipFill>
          </p:spPr>
        </p:sp>
      </p:grpSp>
      <p:grpSp>
        <p:nvGrpSpPr>
          <p:cNvPr name="Group 16" id="16"/>
          <p:cNvGrpSpPr/>
          <p:nvPr/>
        </p:nvGrpSpPr>
        <p:grpSpPr>
          <a:xfrm rot="0">
            <a:off x="12082473" y="4242576"/>
            <a:ext cx="3725199" cy="2980676"/>
            <a:chOff x="0" y="0"/>
            <a:chExt cx="577131" cy="461785"/>
          </a:xfrm>
        </p:grpSpPr>
        <p:sp>
          <p:nvSpPr>
            <p:cNvPr name="Freeform 17" id="17"/>
            <p:cNvSpPr/>
            <p:nvPr/>
          </p:nvSpPr>
          <p:spPr>
            <a:xfrm flipH="false" flipV="false" rot="0">
              <a:off x="0" y="0"/>
              <a:ext cx="577131" cy="461785"/>
            </a:xfrm>
            <a:custGeom>
              <a:avLst/>
              <a:gdLst/>
              <a:ahLst/>
              <a:cxnLst/>
              <a:rect r="r" b="b" t="t" l="l"/>
              <a:pathLst>
                <a:path h="461785" w="577131">
                  <a:moveTo>
                    <a:pt x="103913" y="0"/>
                  </a:moveTo>
                  <a:lnTo>
                    <a:pt x="473218" y="0"/>
                  </a:lnTo>
                  <a:cubicBezTo>
                    <a:pt x="500777" y="0"/>
                    <a:pt x="527208" y="10948"/>
                    <a:pt x="546695" y="30435"/>
                  </a:cubicBezTo>
                  <a:cubicBezTo>
                    <a:pt x="566183" y="49923"/>
                    <a:pt x="577131" y="76353"/>
                    <a:pt x="577131" y="103913"/>
                  </a:cubicBezTo>
                  <a:lnTo>
                    <a:pt x="577131" y="357872"/>
                  </a:lnTo>
                  <a:cubicBezTo>
                    <a:pt x="577131" y="385431"/>
                    <a:pt x="566183" y="411862"/>
                    <a:pt x="546695" y="431349"/>
                  </a:cubicBezTo>
                  <a:cubicBezTo>
                    <a:pt x="527208" y="450837"/>
                    <a:pt x="500777" y="461785"/>
                    <a:pt x="473218" y="461785"/>
                  </a:cubicBezTo>
                  <a:lnTo>
                    <a:pt x="103913" y="461785"/>
                  </a:lnTo>
                  <a:cubicBezTo>
                    <a:pt x="76353" y="461785"/>
                    <a:pt x="49923" y="450837"/>
                    <a:pt x="30435" y="431349"/>
                  </a:cubicBezTo>
                  <a:cubicBezTo>
                    <a:pt x="10948" y="411862"/>
                    <a:pt x="0" y="385431"/>
                    <a:pt x="0" y="357872"/>
                  </a:cubicBezTo>
                  <a:lnTo>
                    <a:pt x="0" y="103913"/>
                  </a:lnTo>
                  <a:cubicBezTo>
                    <a:pt x="0" y="76353"/>
                    <a:pt x="10948" y="49923"/>
                    <a:pt x="30435" y="30435"/>
                  </a:cubicBezTo>
                  <a:cubicBezTo>
                    <a:pt x="49923" y="10948"/>
                    <a:pt x="76353" y="0"/>
                    <a:pt x="103913" y="0"/>
                  </a:cubicBezTo>
                  <a:close/>
                </a:path>
              </a:pathLst>
            </a:custGeom>
            <a:blipFill>
              <a:blip r:embed="rId6"/>
              <a:stretch>
                <a:fillRect l="-24039" t="0" r="-22518" b="-22110"/>
              </a:stretch>
            </a:blipFill>
          </p:spPr>
        </p:sp>
      </p:grpSp>
      <p:grpSp>
        <p:nvGrpSpPr>
          <p:cNvPr name="Group 18" id="18"/>
          <p:cNvGrpSpPr/>
          <p:nvPr/>
        </p:nvGrpSpPr>
        <p:grpSpPr>
          <a:xfrm rot="0">
            <a:off x="4273740" y="3831096"/>
            <a:ext cx="135926" cy="13592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9074813" y="3831096"/>
            <a:ext cx="135926" cy="13592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4056062" y="3831096"/>
            <a:ext cx="135926" cy="13592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8857134" y="3831096"/>
            <a:ext cx="135926" cy="13592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4493867" y="3831096"/>
            <a:ext cx="135926" cy="135926"/>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9294939" y="3831096"/>
            <a:ext cx="135926" cy="13592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5134339" y="2045386"/>
            <a:ext cx="8015876" cy="880110"/>
          </a:xfrm>
          <a:prstGeom prst="rect">
            <a:avLst/>
          </a:prstGeom>
        </p:spPr>
        <p:txBody>
          <a:bodyPr anchor="t" rtlCol="false" tIns="0" lIns="0" bIns="0" rIns="0">
            <a:spAutoFit/>
          </a:bodyPr>
          <a:lstStyle/>
          <a:p>
            <a:pPr algn="ctr">
              <a:lnSpc>
                <a:spcPts val="6045"/>
              </a:lnSpc>
            </a:pPr>
            <a:r>
              <a:rPr lang="en-US" sz="6500">
                <a:solidFill>
                  <a:srgbClr val="3F81F4"/>
                </a:solidFill>
                <a:latin typeface="Poppins"/>
                <a:ea typeface="Poppins"/>
                <a:cs typeface="Poppins"/>
                <a:sym typeface="Poppins"/>
              </a:rPr>
              <a:t>Our </a:t>
            </a:r>
            <a:r>
              <a:rPr lang="en-US" b="true" sz="6500">
                <a:solidFill>
                  <a:srgbClr val="000000"/>
                </a:solidFill>
                <a:latin typeface="Poppins Bold"/>
                <a:ea typeface="Poppins Bold"/>
                <a:cs typeface="Poppins Bold"/>
                <a:sym typeface="Poppins Bold"/>
              </a:rPr>
              <a:t>Team</a:t>
            </a:r>
          </a:p>
        </p:txBody>
      </p:sp>
      <p:sp>
        <p:nvSpPr>
          <p:cNvPr name="TextBox 37" id="37"/>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sp>
        <p:nvSpPr>
          <p:cNvPr name="TextBox 38" id="38"/>
          <p:cNvSpPr txBox="true"/>
          <p:nvPr/>
        </p:nvSpPr>
        <p:spPr>
          <a:xfrm rot="0">
            <a:off x="2709658" y="7682318"/>
            <a:ext cx="3266540" cy="295275"/>
          </a:xfrm>
          <a:prstGeom prst="rect">
            <a:avLst/>
          </a:prstGeom>
        </p:spPr>
        <p:txBody>
          <a:bodyPr anchor="t" rtlCol="false" tIns="0" lIns="0" bIns="0" rIns="0">
            <a:spAutoFit/>
          </a:bodyPr>
          <a:lstStyle/>
          <a:p>
            <a:pPr algn="ctr">
              <a:lnSpc>
                <a:spcPts val="2399"/>
              </a:lnSpc>
            </a:pPr>
            <a:r>
              <a:rPr lang="en-US" b="true" sz="1999" spc="-39">
                <a:solidFill>
                  <a:srgbClr val="FAFAFA"/>
                </a:solidFill>
                <a:latin typeface="Lato Bold"/>
                <a:ea typeface="Lato Bold"/>
                <a:cs typeface="Lato Bold"/>
                <a:sym typeface="Lato Bold"/>
              </a:rPr>
              <a:t>GRETA MAE EVANS</a:t>
            </a:r>
          </a:p>
        </p:txBody>
      </p:sp>
      <p:sp>
        <p:nvSpPr>
          <p:cNvPr name="TextBox 39" id="39"/>
          <p:cNvSpPr txBox="true"/>
          <p:nvPr/>
        </p:nvSpPr>
        <p:spPr>
          <a:xfrm rot="0">
            <a:off x="2709658" y="7968068"/>
            <a:ext cx="3266540" cy="238125"/>
          </a:xfrm>
          <a:prstGeom prst="rect">
            <a:avLst/>
          </a:prstGeom>
        </p:spPr>
        <p:txBody>
          <a:bodyPr anchor="t" rtlCol="false" tIns="0" lIns="0" bIns="0" rIns="0">
            <a:spAutoFit/>
          </a:bodyPr>
          <a:lstStyle/>
          <a:p>
            <a:pPr algn="ctr">
              <a:lnSpc>
                <a:spcPts val="1800"/>
              </a:lnSpc>
            </a:pPr>
            <a:r>
              <a:rPr lang="en-US" sz="1500" i="true" spc="-30">
                <a:solidFill>
                  <a:srgbClr val="FAFAFA"/>
                </a:solidFill>
                <a:latin typeface="Lato Italics"/>
                <a:ea typeface="Lato Italics"/>
                <a:cs typeface="Lato Italics"/>
                <a:sym typeface="Lato Italics"/>
              </a:rPr>
              <a:t>Doctor</a:t>
            </a:r>
          </a:p>
        </p:txBody>
      </p:sp>
      <p:sp>
        <p:nvSpPr>
          <p:cNvPr name="TextBox 40" id="40"/>
          <p:cNvSpPr txBox="true"/>
          <p:nvPr/>
        </p:nvSpPr>
        <p:spPr>
          <a:xfrm rot="0">
            <a:off x="7509008" y="7682318"/>
            <a:ext cx="3266540" cy="295275"/>
          </a:xfrm>
          <a:prstGeom prst="rect">
            <a:avLst/>
          </a:prstGeom>
        </p:spPr>
        <p:txBody>
          <a:bodyPr anchor="t" rtlCol="false" tIns="0" lIns="0" bIns="0" rIns="0">
            <a:spAutoFit/>
          </a:bodyPr>
          <a:lstStyle/>
          <a:p>
            <a:pPr algn="ctr">
              <a:lnSpc>
                <a:spcPts val="2399"/>
              </a:lnSpc>
            </a:pPr>
            <a:r>
              <a:rPr lang="en-US" b="true" sz="1999" spc="-39">
                <a:solidFill>
                  <a:srgbClr val="FAFAFA"/>
                </a:solidFill>
                <a:latin typeface="Lato Bold"/>
                <a:ea typeface="Lato Bold"/>
                <a:cs typeface="Lato Bold"/>
                <a:sym typeface="Lato Bold"/>
              </a:rPr>
              <a:t>HANNAH MORALES</a:t>
            </a:r>
          </a:p>
        </p:txBody>
      </p:sp>
      <p:sp>
        <p:nvSpPr>
          <p:cNvPr name="TextBox 41" id="41"/>
          <p:cNvSpPr txBox="true"/>
          <p:nvPr/>
        </p:nvSpPr>
        <p:spPr>
          <a:xfrm rot="0">
            <a:off x="7509008" y="7968068"/>
            <a:ext cx="3266540" cy="238125"/>
          </a:xfrm>
          <a:prstGeom prst="rect">
            <a:avLst/>
          </a:prstGeom>
        </p:spPr>
        <p:txBody>
          <a:bodyPr anchor="t" rtlCol="false" tIns="0" lIns="0" bIns="0" rIns="0">
            <a:spAutoFit/>
          </a:bodyPr>
          <a:lstStyle/>
          <a:p>
            <a:pPr algn="ctr">
              <a:lnSpc>
                <a:spcPts val="1800"/>
              </a:lnSpc>
            </a:pPr>
            <a:r>
              <a:rPr lang="en-US" sz="1500" i="true" spc="-30">
                <a:solidFill>
                  <a:srgbClr val="FAFAFA"/>
                </a:solidFill>
                <a:latin typeface="Lato Italics"/>
                <a:ea typeface="Lato Italics"/>
                <a:cs typeface="Lato Italics"/>
                <a:sym typeface="Lato Italics"/>
              </a:rPr>
              <a:t>Doctor</a:t>
            </a:r>
          </a:p>
        </p:txBody>
      </p:sp>
      <p:sp>
        <p:nvSpPr>
          <p:cNvPr name="TextBox 42" id="42"/>
          <p:cNvSpPr txBox="true"/>
          <p:nvPr/>
        </p:nvSpPr>
        <p:spPr>
          <a:xfrm rot="0">
            <a:off x="12311802" y="7682318"/>
            <a:ext cx="3266540" cy="295275"/>
          </a:xfrm>
          <a:prstGeom prst="rect">
            <a:avLst/>
          </a:prstGeom>
        </p:spPr>
        <p:txBody>
          <a:bodyPr anchor="t" rtlCol="false" tIns="0" lIns="0" bIns="0" rIns="0">
            <a:spAutoFit/>
          </a:bodyPr>
          <a:lstStyle/>
          <a:p>
            <a:pPr algn="ctr">
              <a:lnSpc>
                <a:spcPts val="2399"/>
              </a:lnSpc>
            </a:pPr>
            <a:r>
              <a:rPr lang="en-US" b="true" sz="1999" spc="-39">
                <a:solidFill>
                  <a:srgbClr val="FAFAFA"/>
                </a:solidFill>
                <a:latin typeface="Lato Bold"/>
                <a:ea typeface="Lato Bold"/>
                <a:cs typeface="Lato Bold"/>
                <a:sym typeface="Lato Bold"/>
              </a:rPr>
              <a:t>OLIVIA WILSON</a:t>
            </a:r>
          </a:p>
        </p:txBody>
      </p:sp>
      <p:sp>
        <p:nvSpPr>
          <p:cNvPr name="TextBox 43" id="43"/>
          <p:cNvSpPr txBox="true"/>
          <p:nvPr/>
        </p:nvSpPr>
        <p:spPr>
          <a:xfrm rot="0">
            <a:off x="12311802" y="7968068"/>
            <a:ext cx="3266540" cy="238125"/>
          </a:xfrm>
          <a:prstGeom prst="rect">
            <a:avLst/>
          </a:prstGeom>
        </p:spPr>
        <p:txBody>
          <a:bodyPr anchor="t" rtlCol="false" tIns="0" lIns="0" bIns="0" rIns="0">
            <a:spAutoFit/>
          </a:bodyPr>
          <a:lstStyle/>
          <a:p>
            <a:pPr algn="ctr">
              <a:lnSpc>
                <a:spcPts val="1800"/>
              </a:lnSpc>
            </a:pPr>
            <a:r>
              <a:rPr lang="en-US" sz="1500" i="true" spc="-30">
                <a:solidFill>
                  <a:srgbClr val="FAFAFA"/>
                </a:solidFill>
                <a:latin typeface="Lato Italics"/>
                <a:ea typeface="Lato Italics"/>
                <a:cs typeface="Lato Italics"/>
                <a:sym typeface="Lato Italics"/>
              </a:rPr>
              <a:t>Doctor</a:t>
            </a:r>
          </a:p>
        </p:txBody>
      </p:sp>
      <p:grpSp>
        <p:nvGrpSpPr>
          <p:cNvPr name="Group 44" id="44"/>
          <p:cNvGrpSpPr/>
          <p:nvPr/>
        </p:nvGrpSpPr>
        <p:grpSpPr>
          <a:xfrm rot="0">
            <a:off x="13875885" y="3831096"/>
            <a:ext cx="135926" cy="135926"/>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46" id="4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7" id="47"/>
          <p:cNvGrpSpPr/>
          <p:nvPr/>
        </p:nvGrpSpPr>
        <p:grpSpPr>
          <a:xfrm rot="0">
            <a:off x="13658206" y="3831096"/>
            <a:ext cx="135926" cy="135926"/>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0" id="50"/>
          <p:cNvGrpSpPr/>
          <p:nvPr/>
        </p:nvGrpSpPr>
        <p:grpSpPr>
          <a:xfrm rot="0">
            <a:off x="14096011" y="3831096"/>
            <a:ext cx="135926" cy="135926"/>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3" id="53"/>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7"/>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348712"/>
            <a:ext cx="8015876"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Common Diseas</a:t>
            </a:r>
            <a:r>
              <a:rPr lang="en-US" sz="6500">
                <a:solidFill>
                  <a:srgbClr val="3F81F4"/>
                </a:solidFill>
                <a:latin typeface="Poppins"/>
                <a:ea typeface="Poppins"/>
                <a:cs typeface="Poppins"/>
                <a:sym typeface="Poppins"/>
              </a:rPr>
              <a:t>es </a:t>
            </a:r>
            <a:r>
              <a:rPr lang="en-US" sz="6500" b="true">
                <a:solidFill>
                  <a:srgbClr val="000000"/>
                </a:solidFill>
                <a:latin typeface="Poppins Bold"/>
                <a:ea typeface="Poppins Bold"/>
                <a:cs typeface="Poppins Bold"/>
                <a:sym typeface="Poppins Bold"/>
              </a:rPr>
              <a:t>and Tre</a:t>
            </a:r>
            <a:r>
              <a:rPr lang="en-US" b="true" sz="6500">
                <a:solidFill>
                  <a:srgbClr val="000000"/>
                </a:solidFill>
                <a:latin typeface="Poppins Bold"/>
                <a:ea typeface="Poppins Bold"/>
                <a:cs typeface="Poppins Bold"/>
                <a:sym typeface="Poppins Bold"/>
              </a:rPr>
              <a:t>atments</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grpSp>
        <p:nvGrpSpPr>
          <p:cNvPr name="Group 5" id="5"/>
          <p:cNvGrpSpPr/>
          <p:nvPr/>
        </p:nvGrpSpPr>
        <p:grpSpPr>
          <a:xfrm rot="0">
            <a:off x="15572202" y="0"/>
            <a:ext cx="2715798" cy="7091362"/>
            <a:chOff x="0" y="0"/>
            <a:chExt cx="321872" cy="840458"/>
          </a:xfrm>
        </p:grpSpPr>
        <p:sp>
          <p:nvSpPr>
            <p:cNvPr name="Freeform 6" id="6"/>
            <p:cNvSpPr/>
            <p:nvPr/>
          </p:nvSpPr>
          <p:spPr>
            <a:xfrm flipH="false" flipV="false" rot="0">
              <a:off x="0" y="0"/>
              <a:ext cx="321872" cy="840458"/>
            </a:xfrm>
            <a:custGeom>
              <a:avLst/>
              <a:gdLst/>
              <a:ahLst/>
              <a:cxnLst/>
              <a:rect r="r" b="b" t="t" l="l"/>
              <a:pathLst>
                <a:path h="840458" w="321872">
                  <a:moveTo>
                    <a:pt x="0" y="0"/>
                  </a:moveTo>
                  <a:lnTo>
                    <a:pt x="321872" y="0"/>
                  </a:lnTo>
                  <a:lnTo>
                    <a:pt x="321872" y="840458"/>
                  </a:lnTo>
                  <a:lnTo>
                    <a:pt x="0" y="840458"/>
                  </a:lnTo>
                  <a:close/>
                </a:path>
              </a:pathLst>
            </a:custGeom>
            <a:solidFill>
              <a:srgbClr val="3F81F4"/>
            </a:solidFill>
          </p:spPr>
        </p:sp>
        <p:sp>
          <p:nvSpPr>
            <p:cNvPr name="TextBox 7" id="7"/>
            <p:cNvSpPr txBox="true"/>
            <p:nvPr/>
          </p:nvSpPr>
          <p:spPr>
            <a:xfrm>
              <a:off x="0" y="-28575"/>
              <a:ext cx="321872" cy="86903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3885104" y="2243937"/>
            <a:ext cx="3374196" cy="5799126"/>
            <a:chOff x="0" y="0"/>
            <a:chExt cx="522751" cy="898436"/>
          </a:xfrm>
        </p:grpSpPr>
        <p:sp>
          <p:nvSpPr>
            <p:cNvPr name="Freeform 9" id="9"/>
            <p:cNvSpPr/>
            <p:nvPr/>
          </p:nvSpPr>
          <p:spPr>
            <a:xfrm flipH="false" flipV="false" rot="0">
              <a:off x="0" y="0"/>
              <a:ext cx="522751" cy="898436"/>
            </a:xfrm>
            <a:custGeom>
              <a:avLst/>
              <a:gdLst/>
              <a:ahLst/>
              <a:cxnLst/>
              <a:rect r="r" b="b" t="t" l="l"/>
              <a:pathLst>
                <a:path h="898436" w="522751">
                  <a:moveTo>
                    <a:pt x="114722" y="0"/>
                  </a:moveTo>
                  <a:lnTo>
                    <a:pt x="408029" y="0"/>
                  </a:lnTo>
                  <a:cubicBezTo>
                    <a:pt x="471388" y="0"/>
                    <a:pt x="522751" y="51363"/>
                    <a:pt x="522751" y="114722"/>
                  </a:cubicBezTo>
                  <a:lnTo>
                    <a:pt x="522751" y="783714"/>
                  </a:lnTo>
                  <a:cubicBezTo>
                    <a:pt x="522751" y="847073"/>
                    <a:pt x="471388" y="898436"/>
                    <a:pt x="408029" y="898436"/>
                  </a:cubicBezTo>
                  <a:lnTo>
                    <a:pt x="114722" y="898436"/>
                  </a:lnTo>
                  <a:cubicBezTo>
                    <a:pt x="84296" y="898436"/>
                    <a:pt x="55116" y="886350"/>
                    <a:pt x="33601" y="864835"/>
                  </a:cubicBezTo>
                  <a:cubicBezTo>
                    <a:pt x="12087" y="843320"/>
                    <a:pt x="0" y="814140"/>
                    <a:pt x="0" y="783714"/>
                  </a:cubicBezTo>
                  <a:lnTo>
                    <a:pt x="0" y="114722"/>
                  </a:lnTo>
                  <a:cubicBezTo>
                    <a:pt x="0" y="51363"/>
                    <a:pt x="51363" y="0"/>
                    <a:pt x="114722" y="0"/>
                  </a:cubicBezTo>
                  <a:close/>
                </a:path>
              </a:pathLst>
            </a:custGeom>
            <a:blipFill>
              <a:blip r:embed="rId4"/>
              <a:stretch>
                <a:fillRect l="-21980" t="-25987" r="-22373" b="0"/>
              </a:stretch>
            </a:blipFill>
          </p:spPr>
        </p:sp>
      </p:grpSp>
      <p:graphicFrame>
        <p:nvGraphicFramePr>
          <p:cNvPr name="Table 10" id="10"/>
          <p:cNvGraphicFramePr>
            <a:graphicFrameLocks noGrp="true"/>
          </p:cNvGraphicFramePr>
          <p:nvPr/>
        </p:nvGraphicFramePr>
        <p:xfrm>
          <a:off x="1028700" y="4924425"/>
          <a:ext cx="12028270" cy="4333875"/>
        </p:xfrm>
        <a:graphic>
          <a:graphicData uri="http://schemas.openxmlformats.org/drawingml/2006/table">
            <a:tbl>
              <a:tblPr/>
              <a:tblGrid>
                <a:gridCol w="4009423"/>
                <a:gridCol w="4009423"/>
                <a:gridCol w="4009423"/>
              </a:tblGrid>
              <a:tr h="801862">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Rank</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Cause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Estimated Deaths/year</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1</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Ischemic Heart Disease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8.9 million</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2</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Stroke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6.2 million</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3</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COPD</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3.2 million</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4</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Lower Respiratory Infections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2.6 million</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5</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Neonatal Conditions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1.9 million</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bl>
          </a:graphicData>
        </a:graphic>
      </p:graphicFrame>
      <p:sp>
        <p:nvSpPr>
          <p:cNvPr name="Freeform 11" id="11"/>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84746" y="2729712"/>
            <a:ext cx="3981463" cy="6290463"/>
            <a:chOff x="0" y="0"/>
            <a:chExt cx="616833" cy="974557"/>
          </a:xfrm>
        </p:grpSpPr>
        <p:sp>
          <p:nvSpPr>
            <p:cNvPr name="Freeform 4" id="4"/>
            <p:cNvSpPr/>
            <p:nvPr/>
          </p:nvSpPr>
          <p:spPr>
            <a:xfrm flipH="false" flipV="false" rot="0">
              <a:off x="0" y="0"/>
              <a:ext cx="616833" cy="974557"/>
            </a:xfrm>
            <a:custGeom>
              <a:avLst/>
              <a:gdLst/>
              <a:ahLst/>
              <a:cxnLst/>
              <a:rect r="r" b="b" t="t" l="l"/>
              <a:pathLst>
                <a:path h="974557" w="616833">
                  <a:moveTo>
                    <a:pt x="0" y="0"/>
                  </a:moveTo>
                  <a:lnTo>
                    <a:pt x="616833" y="0"/>
                  </a:lnTo>
                  <a:lnTo>
                    <a:pt x="616833" y="974557"/>
                  </a:lnTo>
                  <a:lnTo>
                    <a:pt x="0" y="974557"/>
                  </a:lnTo>
                  <a:close/>
                </a:path>
              </a:pathLst>
            </a:custGeom>
            <a:blipFill>
              <a:blip r:embed="rId4"/>
              <a:stretch>
                <a:fillRect l="-68495" t="0" r="-68495" b="0"/>
              </a:stretch>
            </a:blipFill>
          </p:spPr>
        </p:sp>
      </p:grpSp>
      <p:sp>
        <p:nvSpPr>
          <p:cNvPr name="Freeform 5" id="5"/>
          <p:cNvSpPr/>
          <p:nvPr/>
        </p:nvSpPr>
        <p:spPr>
          <a:xfrm flipH="false" flipV="false" rot="0">
            <a:off x="11674174" y="2729712"/>
            <a:ext cx="394058" cy="590550"/>
          </a:xfrm>
          <a:custGeom>
            <a:avLst/>
            <a:gdLst/>
            <a:ahLst/>
            <a:cxnLst/>
            <a:rect r="r" b="b" t="t" l="l"/>
            <a:pathLst>
              <a:path h="590550" w="394058">
                <a:moveTo>
                  <a:pt x="0" y="0"/>
                </a:moveTo>
                <a:lnTo>
                  <a:pt x="394058" y="0"/>
                </a:lnTo>
                <a:lnTo>
                  <a:pt x="394058" y="590550"/>
                </a:lnTo>
                <a:lnTo>
                  <a:pt x="0" y="5905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1683301" y="5233147"/>
            <a:ext cx="375805" cy="590550"/>
          </a:xfrm>
          <a:custGeom>
            <a:avLst/>
            <a:gdLst/>
            <a:ahLst/>
            <a:cxnLst/>
            <a:rect r="r" b="b" t="t" l="l"/>
            <a:pathLst>
              <a:path h="590550" w="375805">
                <a:moveTo>
                  <a:pt x="0" y="0"/>
                </a:moveTo>
                <a:lnTo>
                  <a:pt x="375804" y="0"/>
                </a:lnTo>
                <a:lnTo>
                  <a:pt x="375804" y="590550"/>
                </a:lnTo>
                <a:lnTo>
                  <a:pt x="0" y="5905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1625028" y="7736583"/>
            <a:ext cx="492349" cy="590550"/>
          </a:xfrm>
          <a:custGeom>
            <a:avLst/>
            <a:gdLst/>
            <a:ahLst/>
            <a:cxnLst/>
            <a:rect r="r" b="b" t="t" l="l"/>
            <a:pathLst>
              <a:path h="590550" w="492349">
                <a:moveTo>
                  <a:pt x="0" y="0"/>
                </a:moveTo>
                <a:lnTo>
                  <a:pt x="492350" y="0"/>
                </a:lnTo>
                <a:lnTo>
                  <a:pt x="492350" y="590550"/>
                </a:lnTo>
                <a:lnTo>
                  <a:pt x="0" y="5905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28700" y="2834487"/>
            <a:ext cx="4897227"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Th</a:t>
            </a:r>
            <a:r>
              <a:rPr lang="en-US" sz="6500">
                <a:solidFill>
                  <a:srgbClr val="3F81F4"/>
                </a:solidFill>
                <a:latin typeface="Poppins"/>
                <a:ea typeface="Poppins"/>
                <a:cs typeface="Poppins"/>
                <a:sym typeface="Poppins"/>
              </a:rPr>
              <a:t>e </a:t>
            </a:r>
            <a:r>
              <a:rPr lang="en-US" sz="6500">
                <a:solidFill>
                  <a:srgbClr val="3F81F4"/>
                </a:solidFill>
                <a:latin typeface="Poppins"/>
                <a:ea typeface="Poppins"/>
                <a:cs typeface="Poppins"/>
                <a:sym typeface="Poppins"/>
              </a:rPr>
              <a:t>Futu</a:t>
            </a:r>
            <a:r>
              <a:rPr lang="en-US" sz="6500">
                <a:solidFill>
                  <a:srgbClr val="3F81F4"/>
                </a:solidFill>
                <a:latin typeface="Poppins"/>
                <a:ea typeface="Poppins"/>
                <a:cs typeface="Poppins"/>
                <a:sym typeface="Poppins"/>
              </a:rPr>
              <a:t>re</a:t>
            </a:r>
            <a:r>
              <a:rPr lang="en-US" sz="6500">
                <a:solidFill>
                  <a:srgbClr val="3F81F4"/>
                </a:solidFill>
                <a:latin typeface="Poppins"/>
                <a:ea typeface="Poppins"/>
                <a:cs typeface="Poppins"/>
                <a:sym typeface="Poppins"/>
              </a:rPr>
              <a:t> </a:t>
            </a:r>
            <a:r>
              <a:rPr lang="en-US" sz="6500" b="true">
                <a:solidFill>
                  <a:srgbClr val="000000"/>
                </a:solidFill>
                <a:latin typeface="Poppins Bold"/>
                <a:ea typeface="Poppins Bold"/>
                <a:cs typeface="Poppins Bold"/>
                <a:sym typeface="Poppins Bold"/>
              </a:rPr>
              <a:t>of M</a:t>
            </a:r>
            <a:r>
              <a:rPr lang="en-US" b="true" sz="6500">
                <a:solidFill>
                  <a:srgbClr val="000000"/>
                </a:solidFill>
                <a:latin typeface="Poppins Bold"/>
                <a:ea typeface="Poppins Bold"/>
                <a:cs typeface="Poppins Bold"/>
                <a:sym typeface="Poppins Bold"/>
              </a:rPr>
              <a:t>edicine</a:t>
            </a:r>
          </a:p>
        </p:txBody>
      </p:sp>
      <p:sp>
        <p:nvSpPr>
          <p:cNvPr name="TextBox 9" id="9"/>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sp>
        <p:nvSpPr>
          <p:cNvPr name="TextBox 10" id="10"/>
          <p:cNvSpPr txBox="true"/>
          <p:nvPr/>
        </p:nvSpPr>
        <p:spPr>
          <a:xfrm rot="0">
            <a:off x="1028700" y="5408218"/>
            <a:ext cx="4897227"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sp>
        <p:nvSpPr>
          <p:cNvPr name="TextBox 11" id="11"/>
          <p:cNvSpPr txBox="true"/>
          <p:nvPr/>
        </p:nvSpPr>
        <p:spPr>
          <a:xfrm rot="0">
            <a:off x="12301926" y="6050014"/>
            <a:ext cx="4957374" cy="4667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a:t>
            </a:r>
          </a:p>
        </p:txBody>
      </p:sp>
      <p:sp>
        <p:nvSpPr>
          <p:cNvPr name="TextBox 12" id="12"/>
          <p:cNvSpPr txBox="true"/>
          <p:nvPr/>
        </p:nvSpPr>
        <p:spPr>
          <a:xfrm rot="0">
            <a:off x="12301926" y="3546579"/>
            <a:ext cx="4957374" cy="4667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a:t>
            </a:r>
          </a:p>
        </p:txBody>
      </p:sp>
      <p:sp>
        <p:nvSpPr>
          <p:cNvPr name="TextBox 13" id="13"/>
          <p:cNvSpPr txBox="true"/>
          <p:nvPr/>
        </p:nvSpPr>
        <p:spPr>
          <a:xfrm rot="0">
            <a:off x="12301926" y="8553450"/>
            <a:ext cx="4957374" cy="4667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a:t>
            </a:r>
          </a:p>
        </p:txBody>
      </p:sp>
      <p:sp>
        <p:nvSpPr>
          <p:cNvPr name="TextBox 14" id="14"/>
          <p:cNvSpPr txBox="true"/>
          <p:nvPr/>
        </p:nvSpPr>
        <p:spPr>
          <a:xfrm rot="0">
            <a:off x="12301926" y="5233147"/>
            <a:ext cx="1460133"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Wearable Tech</a:t>
            </a:r>
          </a:p>
        </p:txBody>
      </p:sp>
      <p:sp>
        <p:nvSpPr>
          <p:cNvPr name="TextBox 15" id="15"/>
          <p:cNvSpPr txBox="true"/>
          <p:nvPr/>
        </p:nvSpPr>
        <p:spPr>
          <a:xfrm rot="0">
            <a:off x="12301926" y="2729712"/>
            <a:ext cx="2510986"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Personalized Medicine</a:t>
            </a:r>
          </a:p>
        </p:txBody>
      </p:sp>
      <p:sp>
        <p:nvSpPr>
          <p:cNvPr name="TextBox 16" id="16"/>
          <p:cNvSpPr txBox="true"/>
          <p:nvPr/>
        </p:nvSpPr>
        <p:spPr>
          <a:xfrm rot="0">
            <a:off x="12301926" y="7736583"/>
            <a:ext cx="1255493"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AI &amp; B</a:t>
            </a:r>
            <a:r>
              <a:rPr lang="en-US" sz="1999" b="true">
                <a:solidFill>
                  <a:srgbClr val="000000"/>
                </a:solidFill>
                <a:latin typeface="Lato Bold"/>
                <a:ea typeface="Lato Bold"/>
                <a:cs typeface="Lato Bold"/>
                <a:sym typeface="Lato Bold"/>
              </a:rPr>
              <a:t>ig Data</a:t>
            </a:r>
          </a:p>
        </p:txBody>
      </p:sp>
      <p:sp>
        <p:nvSpPr>
          <p:cNvPr name="AutoShape 17" id="17"/>
          <p:cNvSpPr/>
          <p:nvPr/>
        </p:nvSpPr>
        <p:spPr>
          <a:xfrm flipV="true">
            <a:off x="11674174" y="4618785"/>
            <a:ext cx="5585126" cy="0"/>
          </a:xfrm>
          <a:prstGeom prst="line">
            <a:avLst/>
          </a:prstGeom>
          <a:ln cap="flat" w="9525">
            <a:solidFill>
              <a:srgbClr val="000000"/>
            </a:solidFill>
            <a:prstDash val="solid"/>
            <a:headEnd type="none" len="sm" w="sm"/>
            <a:tailEnd type="none" len="sm" w="sm"/>
          </a:ln>
        </p:spPr>
      </p:sp>
      <p:sp>
        <p:nvSpPr>
          <p:cNvPr name="AutoShape 18" id="18"/>
          <p:cNvSpPr/>
          <p:nvPr/>
        </p:nvSpPr>
        <p:spPr>
          <a:xfrm flipV="true">
            <a:off x="11674174" y="7126339"/>
            <a:ext cx="5585126" cy="0"/>
          </a:xfrm>
          <a:prstGeom prst="line">
            <a:avLst/>
          </a:prstGeom>
          <a:ln cap="flat" w="9525">
            <a:solidFill>
              <a:srgbClr val="000000"/>
            </a:solidFill>
            <a:prstDash val="solid"/>
            <a:headEnd type="none" len="sm" w="sm"/>
            <a:tailEnd type="none" len="sm" w="sm"/>
          </a:ln>
        </p:spPr>
      </p:sp>
      <p:sp>
        <p:nvSpPr>
          <p:cNvPr name="Freeform 19" id="19"/>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11"/>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834487"/>
            <a:ext cx="5717413"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Chall</a:t>
            </a:r>
            <a:r>
              <a:rPr lang="en-US" sz="6500">
                <a:solidFill>
                  <a:srgbClr val="3F81F4"/>
                </a:solidFill>
                <a:latin typeface="Poppins"/>
                <a:ea typeface="Poppins"/>
                <a:cs typeface="Poppins"/>
                <a:sym typeface="Poppins"/>
              </a:rPr>
              <a:t>enges</a:t>
            </a:r>
            <a:r>
              <a:rPr lang="en-US" sz="6500">
                <a:solidFill>
                  <a:srgbClr val="3F81F4"/>
                </a:solidFill>
                <a:latin typeface="Poppins"/>
                <a:ea typeface="Poppins"/>
                <a:cs typeface="Poppins"/>
                <a:sym typeface="Poppins"/>
              </a:rPr>
              <a:t> in</a:t>
            </a:r>
            <a:r>
              <a:rPr lang="en-US" sz="6500">
                <a:solidFill>
                  <a:srgbClr val="3F81F4"/>
                </a:solidFill>
                <a:latin typeface="Poppins"/>
                <a:ea typeface="Poppins"/>
                <a:cs typeface="Poppins"/>
                <a:sym typeface="Poppins"/>
              </a:rPr>
              <a:t> </a:t>
            </a:r>
            <a:r>
              <a:rPr lang="en-US" sz="6500" b="true">
                <a:solidFill>
                  <a:srgbClr val="000000"/>
                </a:solidFill>
                <a:latin typeface="Poppins Bold"/>
                <a:ea typeface="Poppins Bold"/>
                <a:cs typeface="Poppins Bold"/>
                <a:sym typeface="Poppins Bold"/>
              </a:rPr>
              <a:t>M</a:t>
            </a:r>
            <a:r>
              <a:rPr lang="en-US" b="true" sz="6500">
                <a:solidFill>
                  <a:srgbClr val="000000"/>
                </a:solidFill>
                <a:latin typeface="Poppins Bold"/>
                <a:ea typeface="Poppins Bold"/>
                <a:cs typeface="Poppins Bold"/>
                <a:sym typeface="Poppins Bold"/>
              </a:rPr>
              <a:t>edical Field</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grpSp>
        <p:nvGrpSpPr>
          <p:cNvPr name="Group 5" id="5"/>
          <p:cNvGrpSpPr/>
          <p:nvPr/>
        </p:nvGrpSpPr>
        <p:grpSpPr>
          <a:xfrm rot="0">
            <a:off x="11304485" y="2564211"/>
            <a:ext cx="1536793" cy="1529533"/>
            <a:chOff x="0" y="0"/>
            <a:chExt cx="182138" cy="181278"/>
          </a:xfrm>
        </p:grpSpPr>
        <p:sp>
          <p:nvSpPr>
            <p:cNvPr name="Freeform 6" id="6"/>
            <p:cNvSpPr/>
            <p:nvPr/>
          </p:nvSpPr>
          <p:spPr>
            <a:xfrm flipH="false" flipV="false" rot="0">
              <a:off x="0" y="0"/>
              <a:ext cx="182138" cy="181278"/>
            </a:xfrm>
            <a:custGeom>
              <a:avLst/>
              <a:gdLst/>
              <a:ahLst/>
              <a:cxnLst/>
              <a:rect r="r" b="b" t="t" l="l"/>
              <a:pathLst>
                <a:path h="181278" w="182138">
                  <a:moveTo>
                    <a:pt x="0" y="0"/>
                  </a:moveTo>
                  <a:lnTo>
                    <a:pt x="182138" y="0"/>
                  </a:lnTo>
                  <a:lnTo>
                    <a:pt x="182138" y="181278"/>
                  </a:lnTo>
                  <a:lnTo>
                    <a:pt x="0" y="181278"/>
                  </a:lnTo>
                  <a:close/>
                </a:path>
              </a:pathLst>
            </a:custGeom>
            <a:solidFill>
              <a:srgbClr val="E80363"/>
            </a:solidFill>
          </p:spPr>
        </p:sp>
        <p:sp>
          <p:nvSpPr>
            <p:cNvPr name="TextBox 7" id="7"/>
            <p:cNvSpPr txBox="true"/>
            <p:nvPr/>
          </p:nvSpPr>
          <p:spPr>
            <a:xfrm>
              <a:off x="0" y="-28575"/>
              <a:ext cx="182138" cy="20985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1467391" y="2729712"/>
            <a:ext cx="5791909" cy="6528588"/>
            <a:chOff x="0" y="0"/>
            <a:chExt cx="897318" cy="1011449"/>
          </a:xfrm>
        </p:grpSpPr>
        <p:sp>
          <p:nvSpPr>
            <p:cNvPr name="Freeform 9" id="9"/>
            <p:cNvSpPr/>
            <p:nvPr/>
          </p:nvSpPr>
          <p:spPr>
            <a:xfrm flipH="false" flipV="false" rot="0">
              <a:off x="0" y="0"/>
              <a:ext cx="897318" cy="1011449"/>
            </a:xfrm>
            <a:custGeom>
              <a:avLst/>
              <a:gdLst/>
              <a:ahLst/>
              <a:cxnLst/>
              <a:rect r="r" b="b" t="t" l="l"/>
              <a:pathLst>
                <a:path h="1011449" w="897318">
                  <a:moveTo>
                    <a:pt x="0" y="0"/>
                  </a:moveTo>
                  <a:lnTo>
                    <a:pt x="897318" y="0"/>
                  </a:lnTo>
                  <a:lnTo>
                    <a:pt x="897318" y="1011449"/>
                  </a:lnTo>
                  <a:lnTo>
                    <a:pt x="0" y="1011449"/>
                  </a:lnTo>
                  <a:close/>
                </a:path>
              </a:pathLst>
            </a:custGeom>
            <a:blipFill>
              <a:blip r:embed="rId4"/>
              <a:stretch>
                <a:fillRect l="-34539" t="0" r="-34539" b="0"/>
              </a:stretch>
            </a:blipFill>
          </p:spPr>
        </p:sp>
      </p:grpSp>
      <p:sp>
        <p:nvSpPr>
          <p:cNvPr name="TextBox 10" id="10"/>
          <p:cNvSpPr txBox="true"/>
          <p:nvPr/>
        </p:nvSpPr>
        <p:spPr>
          <a:xfrm rot="0">
            <a:off x="1028700" y="5408218"/>
            <a:ext cx="4897227"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grpSp>
        <p:nvGrpSpPr>
          <p:cNvPr name="Group 11" id="11"/>
          <p:cNvGrpSpPr/>
          <p:nvPr/>
        </p:nvGrpSpPr>
        <p:grpSpPr>
          <a:xfrm rot="0">
            <a:off x="8424995" y="6310691"/>
            <a:ext cx="5758979" cy="2469309"/>
            <a:chOff x="0" y="0"/>
            <a:chExt cx="682546" cy="292659"/>
          </a:xfrm>
        </p:grpSpPr>
        <p:sp>
          <p:nvSpPr>
            <p:cNvPr name="Freeform 12" id="12"/>
            <p:cNvSpPr/>
            <p:nvPr/>
          </p:nvSpPr>
          <p:spPr>
            <a:xfrm flipH="false" flipV="false" rot="0">
              <a:off x="0" y="0"/>
              <a:ext cx="682546" cy="292659"/>
            </a:xfrm>
            <a:custGeom>
              <a:avLst/>
              <a:gdLst/>
              <a:ahLst/>
              <a:cxnLst/>
              <a:rect r="r" b="b" t="t" l="l"/>
              <a:pathLst>
                <a:path h="292659" w="682546">
                  <a:moveTo>
                    <a:pt x="0" y="0"/>
                  </a:moveTo>
                  <a:lnTo>
                    <a:pt x="682546" y="0"/>
                  </a:lnTo>
                  <a:lnTo>
                    <a:pt x="682546" y="292659"/>
                  </a:lnTo>
                  <a:lnTo>
                    <a:pt x="0" y="292659"/>
                  </a:lnTo>
                  <a:close/>
                </a:path>
              </a:pathLst>
            </a:custGeom>
            <a:solidFill>
              <a:srgbClr val="3F81F4"/>
            </a:solidFill>
          </p:spPr>
        </p:sp>
        <p:sp>
          <p:nvSpPr>
            <p:cNvPr name="TextBox 13" id="13"/>
            <p:cNvSpPr txBox="true"/>
            <p:nvPr/>
          </p:nvSpPr>
          <p:spPr>
            <a:xfrm>
              <a:off x="0" y="-28575"/>
              <a:ext cx="682546" cy="321234"/>
            </a:xfrm>
            <a:prstGeom prst="rect">
              <a:avLst/>
            </a:prstGeom>
          </p:spPr>
          <p:txBody>
            <a:bodyPr anchor="ctr" rtlCol="false" tIns="50800" lIns="50800" bIns="50800" rIns="50800"/>
            <a:lstStyle/>
            <a:p>
              <a:pPr algn="ctr">
                <a:lnSpc>
                  <a:spcPts val="1400"/>
                </a:lnSpc>
              </a:pPr>
            </a:p>
          </p:txBody>
        </p:sp>
      </p:grpSp>
      <p:sp>
        <p:nvSpPr>
          <p:cNvPr name="TextBox 14" id="14"/>
          <p:cNvSpPr txBox="true"/>
          <p:nvPr/>
        </p:nvSpPr>
        <p:spPr>
          <a:xfrm rot="0">
            <a:off x="9051041" y="6850021"/>
            <a:ext cx="4506888" cy="1381125"/>
          </a:xfrm>
          <a:prstGeom prst="rect">
            <a:avLst/>
          </a:prstGeom>
        </p:spPr>
        <p:txBody>
          <a:bodyPr anchor="t" rtlCol="false" tIns="0" lIns="0" bIns="0" rIns="0">
            <a:spAutoFit/>
          </a:bodyPr>
          <a:lstStyle/>
          <a:p>
            <a:pPr algn="l">
              <a:lnSpc>
                <a:spcPts val="1800"/>
              </a:lnSpc>
            </a:pPr>
            <a:r>
              <a:rPr lang="en-US" sz="1500">
                <a:solidFill>
                  <a:srgbClr val="FAFAFA"/>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sp>
        <p:nvSpPr>
          <p:cNvPr name="Freeform 15" id="15"/>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834487"/>
            <a:ext cx="5717413" cy="880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Co</a:t>
            </a:r>
            <a:r>
              <a:rPr lang="en-US" sz="6500">
                <a:solidFill>
                  <a:srgbClr val="3F81F4"/>
                </a:solidFill>
                <a:latin typeface="Poppins"/>
                <a:ea typeface="Poppins"/>
                <a:cs typeface="Poppins"/>
                <a:sym typeface="Poppins"/>
              </a:rPr>
              <a:t>nclus</a:t>
            </a:r>
            <a:r>
              <a:rPr lang="en-US" sz="6500">
                <a:solidFill>
                  <a:srgbClr val="3F81F4"/>
                </a:solidFill>
                <a:latin typeface="Poppins"/>
                <a:ea typeface="Poppins"/>
                <a:cs typeface="Poppins"/>
                <a:sym typeface="Poppins"/>
              </a:rPr>
              <a:t>ion</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grpSp>
        <p:nvGrpSpPr>
          <p:cNvPr name="Group 5" id="5"/>
          <p:cNvGrpSpPr/>
          <p:nvPr/>
        </p:nvGrpSpPr>
        <p:grpSpPr>
          <a:xfrm rot="0">
            <a:off x="7653609" y="0"/>
            <a:ext cx="9605691" cy="9258300"/>
            <a:chOff x="0" y="0"/>
            <a:chExt cx="1138452" cy="1097280"/>
          </a:xfrm>
        </p:grpSpPr>
        <p:sp>
          <p:nvSpPr>
            <p:cNvPr name="Freeform 6" id="6"/>
            <p:cNvSpPr/>
            <p:nvPr/>
          </p:nvSpPr>
          <p:spPr>
            <a:xfrm flipH="false" flipV="false" rot="0">
              <a:off x="0" y="0"/>
              <a:ext cx="1138452" cy="1097280"/>
            </a:xfrm>
            <a:custGeom>
              <a:avLst/>
              <a:gdLst/>
              <a:ahLst/>
              <a:cxnLst/>
              <a:rect r="r" b="b" t="t" l="l"/>
              <a:pathLst>
                <a:path h="1097280" w="1138452">
                  <a:moveTo>
                    <a:pt x="0" y="0"/>
                  </a:moveTo>
                  <a:lnTo>
                    <a:pt x="1138452" y="0"/>
                  </a:lnTo>
                  <a:lnTo>
                    <a:pt x="1138452" y="1097280"/>
                  </a:lnTo>
                  <a:lnTo>
                    <a:pt x="0" y="1097280"/>
                  </a:lnTo>
                  <a:close/>
                </a:path>
              </a:pathLst>
            </a:custGeom>
            <a:solidFill>
              <a:srgbClr val="85ABEF"/>
            </a:solidFill>
          </p:spPr>
        </p:sp>
        <p:sp>
          <p:nvSpPr>
            <p:cNvPr name="TextBox 7" id="7"/>
            <p:cNvSpPr txBox="true"/>
            <p:nvPr/>
          </p:nvSpPr>
          <p:spPr>
            <a:xfrm>
              <a:off x="0" y="-28575"/>
              <a:ext cx="1138452" cy="1125855"/>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1467391" y="2729712"/>
            <a:ext cx="5791909" cy="6528588"/>
            <a:chOff x="0" y="0"/>
            <a:chExt cx="897318" cy="1011449"/>
          </a:xfrm>
        </p:grpSpPr>
        <p:sp>
          <p:nvSpPr>
            <p:cNvPr name="Freeform 9" id="9"/>
            <p:cNvSpPr/>
            <p:nvPr/>
          </p:nvSpPr>
          <p:spPr>
            <a:xfrm flipH="false" flipV="false" rot="0">
              <a:off x="0" y="0"/>
              <a:ext cx="897318" cy="1011449"/>
            </a:xfrm>
            <a:custGeom>
              <a:avLst/>
              <a:gdLst/>
              <a:ahLst/>
              <a:cxnLst/>
              <a:rect r="r" b="b" t="t" l="l"/>
              <a:pathLst>
                <a:path h="1011449" w="897318">
                  <a:moveTo>
                    <a:pt x="0" y="0"/>
                  </a:moveTo>
                  <a:lnTo>
                    <a:pt x="897318" y="0"/>
                  </a:lnTo>
                  <a:lnTo>
                    <a:pt x="897318" y="1011449"/>
                  </a:lnTo>
                  <a:lnTo>
                    <a:pt x="0" y="1011449"/>
                  </a:lnTo>
                  <a:close/>
                </a:path>
              </a:pathLst>
            </a:custGeom>
            <a:blipFill>
              <a:blip r:embed="rId4"/>
              <a:stretch>
                <a:fillRect l="-34539" t="0" r="-34539" b="0"/>
              </a:stretch>
            </a:blipFill>
          </p:spPr>
        </p:sp>
      </p:grpSp>
      <p:sp>
        <p:nvSpPr>
          <p:cNvPr name="TextBox 10" id="10"/>
          <p:cNvSpPr txBox="true"/>
          <p:nvPr/>
        </p:nvSpPr>
        <p:spPr>
          <a:xfrm rot="0">
            <a:off x="1028700" y="5439869"/>
            <a:ext cx="5108659"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sp>
        <p:nvSpPr>
          <p:cNvPr name="TextBox 11" id="11"/>
          <p:cNvSpPr txBox="true"/>
          <p:nvPr/>
        </p:nvSpPr>
        <p:spPr>
          <a:xfrm rot="0">
            <a:off x="1028700" y="7877175"/>
            <a:ext cx="5108659"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grpSp>
        <p:nvGrpSpPr>
          <p:cNvPr name="Group 12" id="12"/>
          <p:cNvGrpSpPr/>
          <p:nvPr/>
        </p:nvGrpSpPr>
        <p:grpSpPr>
          <a:xfrm rot="0">
            <a:off x="8587901" y="5449394"/>
            <a:ext cx="5758979" cy="2469309"/>
            <a:chOff x="0" y="0"/>
            <a:chExt cx="682546" cy="292659"/>
          </a:xfrm>
        </p:grpSpPr>
        <p:sp>
          <p:nvSpPr>
            <p:cNvPr name="Freeform 13" id="13"/>
            <p:cNvSpPr/>
            <p:nvPr/>
          </p:nvSpPr>
          <p:spPr>
            <a:xfrm flipH="false" flipV="false" rot="0">
              <a:off x="0" y="0"/>
              <a:ext cx="682546" cy="292659"/>
            </a:xfrm>
            <a:custGeom>
              <a:avLst/>
              <a:gdLst/>
              <a:ahLst/>
              <a:cxnLst/>
              <a:rect r="r" b="b" t="t" l="l"/>
              <a:pathLst>
                <a:path h="292659" w="682546">
                  <a:moveTo>
                    <a:pt x="0" y="0"/>
                  </a:moveTo>
                  <a:lnTo>
                    <a:pt x="682546" y="0"/>
                  </a:lnTo>
                  <a:lnTo>
                    <a:pt x="682546" y="292659"/>
                  </a:lnTo>
                  <a:lnTo>
                    <a:pt x="0" y="292659"/>
                  </a:lnTo>
                  <a:close/>
                </a:path>
              </a:pathLst>
            </a:custGeom>
            <a:solidFill>
              <a:srgbClr val="3F81F4"/>
            </a:solidFill>
          </p:spPr>
        </p:sp>
        <p:sp>
          <p:nvSpPr>
            <p:cNvPr name="TextBox 14" id="14"/>
            <p:cNvSpPr txBox="true"/>
            <p:nvPr/>
          </p:nvSpPr>
          <p:spPr>
            <a:xfrm>
              <a:off x="0" y="-28575"/>
              <a:ext cx="682546" cy="321234"/>
            </a:xfrm>
            <a:prstGeom prst="rect">
              <a:avLst/>
            </a:prstGeom>
          </p:spPr>
          <p:txBody>
            <a:bodyPr anchor="ctr" rtlCol="false" tIns="50800" lIns="50800" bIns="50800" rIns="50800"/>
            <a:lstStyle/>
            <a:p>
              <a:pPr algn="ctr">
                <a:lnSpc>
                  <a:spcPts val="1400"/>
                </a:lnSpc>
              </a:pPr>
            </a:p>
          </p:txBody>
        </p:sp>
      </p:grpSp>
      <p:sp>
        <p:nvSpPr>
          <p:cNvPr name="TextBox 15" id="15"/>
          <p:cNvSpPr txBox="true"/>
          <p:nvPr/>
        </p:nvSpPr>
        <p:spPr>
          <a:xfrm rot="0">
            <a:off x="9213947" y="5988723"/>
            <a:ext cx="4506888" cy="1381125"/>
          </a:xfrm>
          <a:prstGeom prst="rect">
            <a:avLst/>
          </a:prstGeom>
        </p:spPr>
        <p:txBody>
          <a:bodyPr anchor="t" rtlCol="false" tIns="0" lIns="0" bIns="0" rIns="0">
            <a:spAutoFit/>
          </a:bodyPr>
          <a:lstStyle/>
          <a:p>
            <a:pPr algn="l">
              <a:lnSpc>
                <a:spcPts val="1800"/>
              </a:lnSpc>
            </a:pPr>
            <a:r>
              <a:rPr lang="en-US" sz="1500">
                <a:solidFill>
                  <a:srgbClr val="FAFAFA"/>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sp>
        <p:nvSpPr>
          <p:cNvPr name="Freeform 16" id="16"/>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01300" y="0"/>
            <a:ext cx="6858000" cy="10287000"/>
            <a:chOff x="0" y="0"/>
            <a:chExt cx="406400" cy="609600"/>
          </a:xfrm>
        </p:grpSpPr>
        <p:sp>
          <p:nvSpPr>
            <p:cNvPr name="Freeform 4" id="4"/>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solidFill>
              <a:srgbClr val="3F81F4"/>
            </a:solidFill>
          </p:spPr>
        </p:sp>
        <p:sp>
          <p:nvSpPr>
            <p:cNvPr name="TextBox 5" id="5"/>
            <p:cNvSpPr txBox="true"/>
            <p:nvPr/>
          </p:nvSpPr>
          <p:spPr>
            <a:xfrm>
              <a:off x="101600" y="-28575"/>
              <a:ext cx="203200" cy="638175"/>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14394180" y="0"/>
            <a:ext cx="6858000" cy="10287000"/>
            <a:chOff x="0" y="0"/>
            <a:chExt cx="406400" cy="609600"/>
          </a:xfrm>
        </p:grpSpPr>
        <p:sp>
          <p:nvSpPr>
            <p:cNvPr name="Freeform 7" id="7"/>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solidFill>
              <a:srgbClr val="3F81F4"/>
            </a:solidFill>
          </p:spPr>
        </p:sp>
        <p:sp>
          <p:nvSpPr>
            <p:cNvPr name="TextBox 8" id="8"/>
            <p:cNvSpPr txBox="true"/>
            <p:nvPr/>
          </p:nvSpPr>
          <p:spPr>
            <a:xfrm>
              <a:off x="101600" y="-28575"/>
              <a:ext cx="203200" cy="638175"/>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7999861" y="6398664"/>
            <a:ext cx="9203844" cy="2367208"/>
            <a:chOff x="0" y="0"/>
            <a:chExt cx="2424058" cy="623462"/>
          </a:xfrm>
        </p:grpSpPr>
        <p:sp>
          <p:nvSpPr>
            <p:cNvPr name="Freeform 10" id="10"/>
            <p:cNvSpPr/>
            <p:nvPr/>
          </p:nvSpPr>
          <p:spPr>
            <a:xfrm flipH="false" flipV="false" rot="0">
              <a:off x="0" y="0"/>
              <a:ext cx="2424058" cy="623462"/>
            </a:xfrm>
            <a:custGeom>
              <a:avLst/>
              <a:gdLst/>
              <a:ahLst/>
              <a:cxnLst/>
              <a:rect r="r" b="b" t="t" l="l"/>
              <a:pathLst>
                <a:path h="623462" w="2424058">
                  <a:moveTo>
                    <a:pt x="50470" y="0"/>
                  </a:moveTo>
                  <a:lnTo>
                    <a:pt x="2373588" y="0"/>
                  </a:lnTo>
                  <a:cubicBezTo>
                    <a:pt x="2401462" y="0"/>
                    <a:pt x="2424058" y="22596"/>
                    <a:pt x="2424058" y="50470"/>
                  </a:cubicBezTo>
                  <a:lnTo>
                    <a:pt x="2424058" y="572992"/>
                  </a:lnTo>
                  <a:cubicBezTo>
                    <a:pt x="2424058" y="586378"/>
                    <a:pt x="2418740" y="599215"/>
                    <a:pt x="2409275" y="608680"/>
                  </a:cubicBezTo>
                  <a:cubicBezTo>
                    <a:pt x="2399810" y="618145"/>
                    <a:pt x="2386973" y="623462"/>
                    <a:pt x="2373588" y="623462"/>
                  </a:cubicBezTo>
                  <a:lnTo>
                    <a:pt x="50470" y="623462"/>
                  </a:lnTo>
                  <a:cubicBezTo>
                    <a:pt x="37084" y="623462"/>
                    <a:pt x="24247" y="618145"/>
                    <a:pt x="14782" y="608680"/>
                  </a:cubicBezTo>
                  <a:cubicBezTo>
                    <a:pt x="5317" y="599215"/>
                    <a:pt x="0" y="586378"/>
                    <a:pt x="0" y="572992"/>
                  </a:cubicBezTo>
                  <a:lnTo>
                    <a:pt x="0" y="50470"/>
                  </a:lnTo>
                  <a:cubicBezTo>
                    <a:pt x="0" y="37084"/>
                    <a:pt x="5317" y="24247"/>
                    <a:pt x="14782" y="14782"/>
                  </a:cubicBezTo>
                  <a:cubicBezTo>
                    <a:pt x="24247" y="5317"/>
                    <a:pt x="37084" y="0"/>
                    <a:pt x="50470" y="0"/>
                  </a:cubicBezTo>
                  <a:close/>
                </a:path>
              </a:pathLst>
            </a:custGeom>
            <a:solidFill>
              <a:srgbClr val="FAFAFA"/>
            </a:solidFill>
          </p:spPr>
        </p:sp>
        <p:sp>
          <p:nvSpPr>
            <p:cNvPr name="TextBox 11" id="11"/>
            <p:cNvSpPr txBox="true"/>
            <p:nvPr/>
          </p:nvSpPr>
          <p:spPr>
            <a:xfrm>
              <a:off x="0" y="-38100"/>
              <a:ext cx="2424058" cy="66156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7876" y="8483430"/>
            <a:ext cx="5513105" cy="2294897"/>
          </a:xfrm>
          <a:custGeom>
            <a:avLst/>
            <a:gdLst/>
            <a:ahLst/>
            <a:cxnLst/>
            <a:rect r="r" b="b" t="t" l="l"/>
            <a:pathLst>
              <a:path h="2294897" w="5513105">
                <a:moveTo>
                  <a:pt x="0" y="0"/>
                </a:moveTo>
                <a:lnTo>
                  <a:pt x="5513105" y="0"/>
                </a:lnTo>
                <a:lnTo>
                  <a:pt x="5513105" y="2294897"/>
                </a:lnTo>
                <a:lnTo>
                  <a:pt x="0" y="22948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8182405" y="6577565"/>
            <a:ext cx="8838756" cy="2009407"/>
            <a:chOff x="0" y="0"/>
            <a:chExt cx="1369355" cy="311310"/>
          </a:xfrm>
        </p:grpSpPr>
        <p:sp>
          <p:nvSpPr>
            <p:cNvPr name="Freeform 14" id="14"/>
            <p:cNvSpPr/>
            <p:nvPr/>
          </p:nvSpPr>
          <p:spPr>
            <a:xfrm flipH="false" flipV="false" rot="0">
              <a:off x="0" y="0"/>
              <a:ext cx="1369355" cy="311310"/>
            </a:xfrm>
            <a:custGeom>
              <a:avLst/>
              <a:gdLst/>
              <a:ahLst/>
              <a:cxnLst/>
              <a:rect r="r" b="b" t="t" l="l"/>
              <a:pathLst>
                <a:path h="311310" w="1369355">
                  <a:moveTo>
                    <a:pt x="43795" y="0"/>
                  </a:moveTo>
                  <a:lnTo>
                    <a:pt x="1325559" y="0"/>
                  </a:lnTo>
                  <a:cubicBezTo>
                    <a:pt x="1337174" y="0"/>
                    <a:pt x="1348314" y="4614"/>
                    <a:pt x="1356527" y="12827"/>
                  </a:cubicBezTo>
                  <a:cubicBezTo>
                    <a:pt x="1364740" y="21041"/>
                    <a:pt x="1369355" y="32180"/>
                    <a:pt x="1369355" y="43795"/>
                  </a:cubicBezTo>
                  <a:lnTo>
                    <a:pt x="1369355" y="267514"/>
                  </a:lnTo>
                  <a:cubicBezTo>
                    <a:pt x="1369355" y="279130"/>
                    <a:pt x="1364740" y="290269"/>
                    <a:pt x="1356527" y="298482"/>
                  </a:cubicBezTo>
                  <a:cubicBezTo>
                    <a:pt x="1348314" y="306696"/>
                    <a:pt x="1337174" y="311310"/>
                    <a:pt x="1325559" y="311310"/>
                  </a:cubicBezTo>
                  <a:lnTo>
                    <a:pt x="43795" y="311310"/>
                  </a:lnTo>
                  <a:cubicBezTo>
                    <a:pt x="32180" y="311310"/>
                    <a:pt x="21041" y="306696"/>
                    <a:pt x="12827" y="298482"/>
                  </a:cubicBezTo>
                  <a:cubicBezTo>
                    <a:pt x="4614" y="290269"/>
                    <a:pt x="0" y="279130"/>
                    <a:pt x="0" y="267514"/>
                  </a:cubicBezTo>
                  <a:lnTo>
                    <a:pt x="0" y="43795"/>
                  </a:lnTo>
                  <a:cubicBezTo>
                    <a:pt x="0" y="32180"/>
                    <a:pt x="4614" y="21041"/>
                    <a:pt x="12827" y="12827"/>
                  </a:cubicBezTo>
                  <a:cubicBezTo>
                    <a:pt x="21041" y="4614"/>
                    <a:pt x="32180" y="0"/>
                    <a:pt x="43795" y="0"/>
                  </a:cubicBezTo>
                  <a:close/>
                </a:path>
              </a:pathLst>
            </a:custGeom>
            <a:blipFill>
              <a:blip r:embed="rId6"/>
              <a:stretch>
                <a:fillRect l="0" t="-96622" r="0" b="-96622"/>
              </a:stretch>
            </a:blipFill>
          </p:spPr>
        </p:sp>
      </p:grpSp>
      <p:sp>
        <p:nvSpPr>
          <p:cNvPr name="Freeform 15" id="15"/>
          <p:cNvSpPr/>
          <p:nvPr/>
        </p:nvSpPr>
        <p:spPr>
          <a:xfrm flipH="false" flipV="false" rot="0">
            <a:off x="1028700" y="4602280"/>
            <a:ext cx="304344" cy="304344"/>
          </a:xfrm>
          <a:custGeom>
            <a:avLst/>
            <a:gdLst/>
            <a:ahLst/>
            <a:cxnLst/>
            <a:rect r="r" b="b" t="t" l="l"/>
            <a:pathLst>
              <a:path h="304344" w="304344">
                <a:moveTo>
                  <a:pt x="0" y="0"/>
                </a:moveTo>
                <a:lnTo>
                  <a:pt x="304344" y="0"/>
                </a:lnTo>
                <a:lnTo>
                  <a:pt x="304344" y="304344"/>
                </a:lnTo>
                <a:lnTo>
                  <a:pt x="0" y="3043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028700" y="5033292"/>
            <a:ext cx="304344" cy="304344"/>
          </a:xfrm>
          <a:custGeom>
            <a:avLst/>
            <a:gdLst/>
            <a:ahLst/>
            <a:cxnLst/>
            <a:rect r="r" b="b" t="t" l="l"/>
            <a:pathLst>
              <a:path h="304344" w="304344">
                <a:moveTo>
                  <a:pt x="0" y="0"/>
                </a:moveTo>
                <a:lnTo>
                  <a:pt x="304344" y="0"/>
                </a:lnTo>
                <a:lnTo>
                  <a:pt x="304344" y="304344"/>
                </a:lnTo>
                <a:lnTo>
                  <a:pt x="0" y="3043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1028700" y="5464304"/>
            <a:ext cx="304344" cy="304344"/>
          </a:xfrm>
          <a:custGeom>
            <a:avLst/>
            <a:gdLst/>
            <a:ahLst/>
            <a:cxnLst/>
            <a:rect r="r" b="b" t="t" l="l"/>
            <a:pathLst>
              <a:path h="304344" w="304344">
                <a:moveTo>
                  <a:pt x="0" y="0"/>
                </a:moveTo>
                <a:lnTo>
                  <a:pt x="304344" y="0"/>
                </a:lnTo>
                <a:lnTo>
                  <a:pt x="304344" y="304345"/>
                </a:lnTo>
                <a:lnTo>
                  <a:pt x="0" y="3043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1028700" y="5903592"/>
            <a:ext cx="304344" cy="304344"/>
          </a:xfrm>
          <a:custGeom>
            <a:avLst/>
            <a:gdLst/>
            <a:ahLst/>
            <a:cxnLst/>
            <a:rect r="r" b="b" t="t" l="l"/>
            <a:pathLst>
              <a:path h="304344" w="304344">
                <a:moveTo>
                  <a:pt x="0" y="0"/>
                </a:moveTo>
                <a:lnTo>
                  <a:pt x="304344" y="0"/>
                </a:lnTo>
                <a:lnTo>
                  <a:pt x="304344" y="304345"/>
                </a:lnTo>
                <a:lnTo>
                  <a:pt x="0" y="3043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9" id="19"/>
          <p:cNvSpPr txBox="true"/>
          <p:nvPr/>
        </p:nvSpPr>
        <p:spPr>
          <a:xfrm rot="0">
            <a:off x="1028700" y="2472745"/>
            <a:ext cx="9610739" cy="1732227"/>
          </a:xfrm>
          <a:prstGeom prst="rect">
            <a:avLst/>
          </a:prstGeom>
        </p:spPr>
        <p:txBody>
          <a:bodyPr anchor="t" rtlCol="false" tIns="0" lIns="0" bIns="0" rIns="0">
            <a:spAutoFit/>
          </a:bodyPr>
          <a:lstStyle/>
          <a:p>
            <a:pPr algn="l">
              <a:lnSpc>
                <a:spcPts val="11847"/>
              </a:lnSpc>
            </a:pPr>
            <a:r>
              <a:rPr lang="en-US" sz="12739">
                <a:solidFill>
                  <a:srgbClr val="3F81F4"/>
                </a:solidFill>
                <a:latin typeface="Poppins"/>
                <a:ea typeface="Poppins"/>
                <a:cs typeface="Poppins"/>
                <a:sym typeface="Poppins"/>
              </a:rPr>
              <a:t>Thank </a:t>
            </a:r>
            <a:r>
              <a:rPr lang="en-US" sz="12739" b="true">
                <a:solidFill>
                  <a:srgbClr val="000000"/>
                </a:solidFill>
                <a:latin typeface="Poppins Bold"/>
                <a:ea typeface="Poppins Bold"/>
                <a:cs typeface="Poppins Bold"/>
                <a:sym typeface="Poppins Bold"/>
              </a:rPr>
              <a:t>You</a:t>
            </a:r>
          </a:p>
        </p:txBody>
      </p:sp>
      <p:sp>
        <p:nvSpPr>
          <p:cNvPr name="TextBox 20" id="20"/>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Medical Borcelle</a:t>
            </a:r>
          </a:p>
        </p:txBody>
      </p:sp>
      <p:sp>
        <p:nvSpPr>
          <p:cNvPr name="TextBox 21" id="21"/>
          <p:cNvSpPr txBox="true"/>
          <p:nvPr/>
        </p:nvSpPr>
        <p:spPr>
          <a:xfrm rot="0">
            <a:off x="1028700" y="7001243"/>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Lorem ipsum dolor sit amet, consectetur adipiscing elit. Fusce at tortor ut quam consequat fermentum ac non enim. Aenean nec ipsum in risus finibus interdum. Lorem ipsum dolor sit amet, consectetur adipiscing elit. Curabitur eget blandit ex. Nam sit amet elit velit. Vivamus vestibulum libero id cursus tincidunt.</a:t>
            </a:r>
          </a:p>
        </p:txBody>
      </p:sp>
      <p:sp>
        <p:nvSpPr>
          <p:cNvPr name="TextBox 22" id="22"/>
          <p:cNvSpPr txBox="true"/>
          <p:nvPr/>
        </p:nvSpPr>
        <p:spPr>
          <a:xfrm rot="0">
            <a:off x="1543364" y="4630627"/>
            <a:ext cx="2401867" cy="238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+123-456-7890</a:t>
            </a:r>
          </a:p>
        </p:txBody>
      </p:sp>
      <p:sp>
        <p:nvSpPr>
          <p:cNvPr name="TextBox 23" id="23"/>
          <p:cNvSpPr txBox="true"/>
          <p:nvPr/>
        </p:nvSpPr>
        <p:spPr>
          <a:xfrm rot="0">
            <a:off x="1543364" y="5061639"/>
            <a:ext cx="2401867" cy="238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www.reallygreatsite.com</a:t>
            </a:r>
          </a:p>
        </p:txBody>
      </p:sp>
      <p:sp>
        <p:nvSpPr>
          <p:cNvPr name="TextBox 24" id="24"/>
          <p:cNvSpPr txBox="true"/>
          <p:nvPr/>
        </p:nvSpPr>
        <p:spPr>
          <a:xfrm rot="0">
            <a:off x="1543364" y="5492651"/>
            <a:ext cx="2401867" cy="238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@reallygreatsite</a:t>
            </a:r>
          </a:p>
        </p:txBody>
      </p:sp>
      <p:sp>
        <p:nvSpPr>
          <p:cNvPr name="TextBox 25" id="25"/>
          <p:cNvSpPr txBox="true"/>
          <p:nvPr/>
        </p:nvSpPr>
        <p:spPr>
          <a:xfrm rot="0">
            <a:off x="1543364" y="5931939"/>
            <a:ext cx="2401867" cy="466725"/>
          </a:xfrm>
          <a:prstGeom prst="rect">
            <a:avLst/>
          </a:prstGeom>
        </p:spPr>
        <p:txBody>
          <a:bodyPr anchor="t" rtlCol="false" tIns="0" lIns="0" bIns="0" rIns="0">
            <a:spAutoFit/>
          </a:bodyPr>
          <a:lstStyle/>
          <a:p>
            <a:pPr algn="l">
              <a:lnSpc>
                <a:spcPts val="1800"/>
              </a:lnSpc>
            </a:pPr>
            <a:r>
              <a:rPr lang="en-US" sz="1500" spc="-37">
                <a:solidFill>
                  <a:srgbClr val="000000"/>
                </a:solidFill>
                <a:latin typeface="Lato"/>
                <a:ea typeface="Lato"/>
                <a:cs typeface="Lato"/>
                <a:sym typeface="Lato"/>
              </a:rPr>
              <a:t>123 Anywhere St., Any City,</a:t>
            </a:r>
          </a:p>
          <a:p>
            <a:pPr algn="l">
              <a:lnSpc>
                <a:spcPts val="1800"/>
              </a:lnSpc>
            </a:pPr>
            <a:r>
              <a:rPr lang="en-US" sz="1500" spc="-37">
                <a:solidFill>
                  <a:srgbClr val="000000"/>
                </a:solidFill>
                <a:latin typeface="Lato"/>
                <a:ea typeface="Lato"/>
                <a:cs typeface="Lato"/>
                <a:sym typeface="Lato"/>
              </a:rPr>
              <a:t>ST 12345</a:t>
            </a:r>
          </a:p>
        </p:txBody>
      </p:sp>
      <p:grpSp>
        <p:nvGrpSpPr>
          <p:cNvPr name="Group 26" id="26"/>
          <p:cNvGrpSpPr/>
          <p:nvPr/>
        </p:nvGrpSpPr>
        <p:grpSpPr>
          <a:xfrm rot="0">
            <a:off x="12514273" y="1028700"/>
            <a:ext cx="4506888" cy="5027064"/>
            <a:chOff x="0" y="0"/>
            <a:chExt cx="698235" cy="778824"/>
          </a:xfrm>
        </p:grpSpPr>
        <p:sp>
          <p:nvSpPr>
            <p:cNvPr name="Freeform 27" id="27"/>
            <p:cNvSpPr/>
            <p:nvPr/>
          </p:nvSpPr>
          <p:spPr>
            <a:xfrm flipH="false" flipV="false" rot="0">
              <a:off x="0" y="0"/>
              <a:ext cx="698235" cy="778824"/>
            </a:xfrm>
            <a:custGeom>
              <a:avLst/>
              <a:gdLst/>
              <a:ahLst/>
              <a:cxnLst/>
              <a:rect r="r" b="b" t="t" l="l"/>
              <a:pathLst>
                <a:path h="778824" w="698235">
                  <a:moveTo>
                    <a:pt x="85890" y="0"/>
                  </a:moveTo>
                  <a:lnTo>
                    <a:pt x="612345" y="0"/>
                  </a:lnTo>
                  <a:cubicBezTo>
                    <a:pt x="635124" y="0"/>
                    <a:pt x="656971" y="9049"/>
                    <a:pt x="673078" y="25157"/>
                  </a:cubicBezTo>
                  <a:cubicBezTo>
                    <a:pt x="689186" y="41264"/>
                    <a:pt x="698235" y="63110"/>
                    <a:pt x="698235" y="85890"/>
                  </a:cubicBezTo>
                  <a:lnTo>
                    <a:pt x="698235" y="692934"/>
                  </a:lnTo>
                  <a:cubicBezTo>
                    <a:pt x="698235" y="740370"/>
                    <a:pt x="659781" y="778824"/>
                    <a:pt x="612345" y="778824"/>
                  </a:cubicBezTo>
                  <a:lnTo>
                    <a:pt x="85890" y="778824"/>
                  </a:lnTo>
                  <a:cubicBezTo>
                    <a:pt x="38454" y="778824"/>
                    <a:pt x="0" y="740370"/>
                    <a:pt x="0" y="692934"/>
                  </a:cubicBezTo>
                  <a:lnTo>
                    <a:pt x="0" y="85890"/>
                  </a:lnTo>
                  <a:cubicBezTo>
                    <a:pt x="0" y="38454"/>
                    <a:pt x="38454" y="0"/>
                    <a:pt x="85890" y="0"/>
                  </a:cubicBezTo>
                  <a:close/>
                </a:path>
              </a:pathLst>
            </a:custGeom>
            <a:blipFill>
              <a:blip r:embed="rId15"/>
              <a:stretch>
                <a:fillRect l="-42361" t="0" r="-24950" b="0"/>
              </a:stretch>
            </a:blipFill>
          </p:spPr>
        </p:sp>
      </p:grpSp>
      <p:sp>
        <p:nvSpPr>
          <p:cNvPr name="Freeform 28" id="28"/>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16"/>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DAHHH5N00rk</dc:identifier>
  <dcterms:modified xsi:type="dcterms:W3CDTF">2011-08-01T06:04:30Z</dcterms:modified>
  <cp:revision>1</cp:revision>
  <dc:title>Blue Black and White Modern Medical Science Presentation</dc:title>
</cp:coreProperties>
</file>