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charset="1" panose="00000500000000000000"/>
      <p:regular r:id="rId22"/>
    </p:embeddedFont>
    <p:embeddedFont>
      <p:font typeface="Poppins Bold" charset="1" panose="00000800000000000000"/>
      <p:regular r:id="rId23"/>
    </p:embeddedFont>
    <p:embeddedFont>
      <p:font typeface="Lato Bold" charset="1" panose="020F0502020204030203"/>
      <p:regular r:id="rId24"/>
    </p:embeddedFont>
    <p:embeddedFont>
      <p:font typeface="Lato" charset="1" panose="020F0502020204030203"/>
      <p:regular r:id="rId25"/>
    </p:embeddedFont>
    <p:embeddedFont>
      <p:font typeface="Lato Italics" charset="1" panose="020F0502020204030203"/>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jpeg" Type="http://schemas.openxmlformats.org/officeDocument/2006/relationships/image"/><Relationship Id="rId5"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jpeg" Type="http://schemas.openxmlformats.org/officeDocument/2006/relationships/image"/><Relationship Id="rId5"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 Id="rId6"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 Id="rId6"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 Id="rId6" Target="../media/image15.jpeg" Type="http://schemas.openxmlformats.org/officeDocument/2006/relationships/image"/><Relationship Id="rId7"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6.jpeg" Type="http://schemas.openxmlformats.org/officeDocument/2006/relationships/image"/><Relationship Id="rId5"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 Id="rId9"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0.jpeg" Type="http://schemas.openxmlformats.org/officeDocument/2006/relationships/image"/><Relationship Id="rId5"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11.jpeg" Type="http://schemas.openxmlformats.org/officeDocument/2006/relationships/image"/><Relationship Id="rId16" Target="../media/image2.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jpe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grpSp>
        <p:nvGrpSpPr>
          <p:cNvPr name="Group 2" id="2"/>
          <p:cNvGrpSpPr/>
          <p:nvPr/>
        </p:nvGrpSpPr>
        <p:grpSpPr>
          <a:xfrm rot="0">
            <a:off x="10401300" y="0"/>
            <a:ext cx="6858000" cy="10287000"/>
            <a:chOff x="0" y="0"/>
            <a:chExt cx="406400" cy="609600"/>
          </a:xfrm>
        </p:grpSpPr>
        <p:sp>
          <p:nvSpPr>
            <p:cNvPr name="Freeform 3" id="3"/>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solidFill>
              <a:srgbClr val="3F81F4"/>
            </a:solidFill>
          </p:spPr>
        </p:sp>
        <p:sp>
          <p:nvSpPr>
            <p:cNvPr name="TextBox 4" id="4"/>
            <p:cNvSpPr txBox="true"/>
            <p:nvPr/>
          </p:nvSpPr>
          <p:spPr>
            <a:xfrm>
              <a:off x="101600" y="-28575"/>
              <a:ext cx="203200" cy="638175"/>
            </a:xfrm>
            <a:prstGeom prst="rect">
              <a:avLst/>
            </a:prstGeom>
          </p:spPr>
          <p:txBody>
            <a:bodyPr anchor="ctr" rtlCol="false" tIns="50800" lIns="50800" bIns="50800" rIns="50800"/>
            <a:lstStyle/>
            <a:p>
              <a:pPr algn="ctr">
                <a:lnSpc>
                  <a:spcPts val="1400"/>
                </a:lnSpc>
              </a:pPr>
            </a:p>
          </p:txBody>
        </p:sp>
      </p:grpSp>
      <p:grpSp>
        <p:nvGrpSpPr>
          <p:cNvPr name="Group 5" id="5"/>
          <p:cNvGrpSpPr/>
          <p:nvPr/>
        </p:nvGrpSpPr>
        <p:grpSpPr>
          <a:xfrm rot="0">
            <a:off x="10401300" y="1028700"/>
            <a:ext cx="6858000" cy="8229600"/>
            <a:chOff x="0" y="0"/>
            <a:chExt cx="1806222" cy="2167467"/>
          </a:xfrm>
        </p:grpSpPr>
        <p:sp>
          <p:nvSpPr>
            <p:cNvPr name="Freeform 6" id="6"/>
            <p:cNvSpPr/>
            <p:nvPr/>
          </p:nvSpPr>
          <p:spPr>
            <a:xfrm flipH="false" flipV="false" rot="0">
              <a:off x="0" y="0"/>
              <a:ext cx="1806222" cy="2167467"/>
            </a:xfrm>
            <a:custGeom>
              <a:avLst/>
              <a:gdLst/>
              <a:ahLst/>
              <a:cxnLst/>
              <a:rect r="r" b="b" t="t" l="l"/>
              <a:pathLst>
                <a:path h="2167467" w="1806222">
                  <a:moveTo>
                    <a:pt x="57573" y="0"/>
                  </a:moveTo>
                  <a:lnTo>
                    <a:pt x="1748649" y="0"/>
                  </a:lnTo>
                  <a:cubicBezTo>
                    <a:pt x="1780446" y="0"/>
                    <a:pt x="1806222" y="25776"/>
                    <a:pt x="1806222" y="57573"/>
                  </a:cubicBezTo>
                  <a:lnTo>
                    <a:pt x="1806222" y="2109894"/>
                  </a:lnTo>
                  <a:cubicBezTo>
                    <a:pt x="1806222" y="2125163"/>
                    <a:pt x="1800157" y="2139807"/>
                    <a:pt x="1789359" y="2150604"/>
                  </a:cubicBezTo>
                  <a:cubicBezTo>
                    <a:pt x="1778562" y="2161401"/>
                    <a:pt x="1763918" y="2167467"/>
                    <a:pt x="1748649" y="2167467"/>
                  </a:cubicBezTo>
                  <a:lnTo>
                    <a:pt x="57573" y="2167467"/>
                  </a:lnTo>
                  <a:cubicBezTo>
                    <a:pt x="42304" y="2167467"/>
                    <a:pt x="27660" y="2161401"/>
                    <a:pt x="16863" y="2150604"/>
                  </a:cubicBezTo>
                  <a:cubicBezTo>
                    <a:pt x="6066" y="2139807"/>
                    <a:pt x="0" y="2125163"/>
                    <a:pt x="0" y="2109894"/>
                  </a:cubicBezTo>
                  <a:lnTo>
                    <a:pt x="0" y="57573"/>
                  </a:lnTo>
                  <a:cubicBezTo>
                    <a:pt x="0" y="42304"/>
                    <a:pt x="6066" y="27660"/>
                    <a:pt x="16863" y="16863"/>
                  </a:cubicBezTo>
                  <a:cubicBezTo>
                    <a:pt x="27660" y="6066"/>
                    <a:pt x="42304" y="0"/>
                    <a:pt x="57573" y="0"/>
                  </a:cubicBezTo>
                  <a:close/>
                </a:path>
              </a:pathLst>
            </a:custGeom>
            <a:solidFill>
              <a:srgbClr val="FAFAFA"/>
            </a:solidFill>
          </p:spPr>
        </p:sp>
        <p:sp>
          <p:nvSpPr>
            <p:cNvPr name="TextBox 7" id="7"/>
            <p:cNvSpPr txBox="true"/>
            <p:nvPr/>
          </p:nvSpPr>
          <p:spPr>
            <a:xfrm>
              <a:off x="0" y="-38100"/>
              <a:ext cx="1806222" cy="220556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639439" y="1266825"/>
            <a:ext cx="6381722" cy="7753350"/>
            <a:chOff x="0" y="0"/>
            <a:chExt cx="988696" cy="1201197"/>
          </a:xfrm>
        </p:grpSpPr>
        <p:sp>
          <p:nvSpPr>
            <p:cNvPr name="Freeform 9" id="9"/>
            <p:cNvSpPr/>
            <p:nvPr/>
          </p:nvSpPr>
          <p:spPr>
            <a:xfrm flipH="false" flipV="false" rot="0">
              <a:off x="0" y="0"/>
              <a:ext cx="988696" cy="1201197"/>
            </a:xfrm>
            <a:custGeom>
              <a:avLst/>
              <a:gdLst/>
              <a:ahLst/>
              <a:cxnLst/>
              <a:rect r="r" b="b" t="t" l="l"/>
              <a:pathLst>
                <a:path h="1201197" w="988696">
                  <a:moveTo>
                    <a:pt x="60657" y="0"/>
                  </a:moveTo>
                  <a:lnTo>
                    <a:pt x="928039" y="0"/>
                  </a:lnTo>
                  <a:cubicBezTo>
                    <a:pt x="961539" y="0"/>
                    <a:pt x="988696" y="27157"/>
                    <a:pt x="988696" y="60657"/>
                  </a:cubicBezTo>
                  <a:lnTo>
                    <a:pt x="988696" y="1140540"/>
                  </a:lnTo>
                  <a:cubicBezTo>
                    <a:pt x="988696" y="1156627"/>
                    <a:pt x="982305" y="1172055"/>
                    <a:pt x="970930" y="1183431"/>
                  </a:cubicBezTo>
                  <a:cubicBezTo>
                    <a:pt x="959554" y="1194806"/>
                    <a:pt x="944126" y="1201197"/>
                    <a:pt x="928039" y="1201197"/>
                  </a:cubicBezTo>
                  <a:lnTo>
                    <a:pt x="60657" y="1201197"/>
                  </a:lnTo>
                  <a:cubicBezTo>
                    <a:pt x="27157" y="1201197"/>
                    <a:pt x="0" y="1174040"/>
                    <a:pt x="0" y="1140540"/>
                  </a:cubicBezTo>
                  <a:lnTo>
                    <a:pt x="0" y="60657"/>
                  </a:lnTo>
                  <a:cubicBezTo>
                    <a:pt x="0" y="27157"/>
                    <a:pt x="27157" y="0"/>
                    <a:pt x="60657" y="0"/>
                  </a:cubicBezTo>
                  <a:close/>
                </a:path>
              </a:pathLst>
            </a:custGeom>
            <a:blipFill>
              <a:blip r:embed="rId2"/>
              <a:stretch>
                <a:fillRect l="0" t="-11770" r="0" b="-11770"/>
              </a:stretch>
            </a:blipFill>
          </p:spPr>
        </p:sp>
      </p:grpSp>
      <p:sp>
        <p:nvSpPr>
          <p:cNvPr name="Freeform 10" id="10"/>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3"/>
            <a:stretch>
              <a:fillRect l="0" t="0" r="0" b="0"/>
            </a:stretch>
          </a:blipFill>
        </p:spPr>
      </p:sp>
      <p:sp>
        <p:nvSpPr>
          <p:cNvPr name="TextBox 11" id="11"/>
          <p:cNvSpPr txBox="true"/>
          <p:nvPr/>
        </p:nvSpPr>
        <p:spPr>
          <a:xfrm rot="0">
            <a:off x="1028700" y="3430599"/>
            <a:ext cx="7559923" cy="3194304"/>
          </a:xfrm>
          <a:prstGeom prst="rect">
            <a:avLst/>
          </a:prstGeom>
        </p:spPr>
        <p:txBody>
          <a:bodyPr anchor="t" rtlCol="false" tIns="0" lIns="0" bIns="0" rIns="0">
            <a:spAutoFit/>
          </a:bodyPr>
          <a:lstStyle/>
          <a:p>
            <a:pPr algn="l">
              <a:lnSpc>
                <a:spcPts val="11718"/>
              </a:lnSpc>
            </a:pPr>
            <a:r>
              <a:rPr lang="en-US" sz="12600">
                <a:solidFill>
                  <a:srgbClr val="3F81F4"/>
                </a:solidFill>
                <a:latin typeface="Poppins"/>
                <a:ea typeface="Poppins"/>
                <a:cs typeface="Poppins"/>
                <a:sym typeface="Poppins"/>
              </a:rPr>
              <a:t>Guardian</a:t>
            </a:r>
          </a:p>
          <a:p>
            <a:pPr algn="l">
              <a:lnSpc>
                <a:spcPts val="11718"/>
              </a:lnSpc>
            </a:pPr>
            <a:r>
              <a:rPr lang="en-US" sz="12600" b="true">
                <a:solidFill>
                  <a:srgbClr val="000000"/>
                </a:solidFill>
                <a:latin typeface="Poppins Bold"/>
                <a:ea typeface="Poppins Bold"/>
                <a:cs typeface="Poppins Bold"/>
                <a:sym typeface="Poppins Bold"/>
              </a:rPr>
              <a:t>Eye</a:t>
            </a:r>
          </a:p>
        </p:txBody>
      </p:sp>
      <p:sp>
        <p:nvSpPr>
          <p:cNvPr name="TextBox 12" id="12"/>
          <p:cNvSpPr txBox="true"/>
          <p:nvPr/>
        </p:nvSpPr>
        <p:spPr>
          <a:xfrm rot="0">
            <a:off x="1589312" y="1038225"/>
            <a:ext cx="749365" cy="368935"/>
          </a:xfrm>
          <a:prstGeom prst="rect">
            <a:avLst/>
          </a:prstGeom>
        </p:spPr>
        <p:txBody>
          <a:bodyPr anchor="t" rtlCol="false" tIns="0" lIns="0" bIns="0" rIns="0">
            <a:spAutoFit/>
          </a:bodyPr>
          <a:lstStyle/>
          <a:p>
            <a:pPr algn="l">
              <a:lnSpc>
                <a:spcPts val="1400"/>
              </a:lnSpc>
            </a:pPr>
            <a:r>
              <a:rPr lang="en-US" sz="1400" b="true">
                <a:solidFill>
                  <a:srgbClr val="000000"/>
                </a:solidFill>
                <a:latin typeface="Lato Bold"/>
                <a:ea typeface="Lato Bold"/>
                <a:cs typeface="Lato Bold"/>
                <a:sym typeface="Lato Bold"/>
              </a:rPr>
              <a:t>AI Assistant</a:t>
            </a:r>
          </a:p>
          <a:p>
            <a:pPr algn="l">
              <a:lnSpc>
                <a:spcPts val="1400"/>
              </a:lnSpc>
            </a:pPr>
            <a:r>
              <a:rPr lang="en-US" sz="1400" b="true">
                <a:solidFill>
                  <a:srgbClr val="000000"/>
                </a:solidFill>
                <a:latin typeface="Lato Bold"/>
                <a:ea typeface="Lato Bold"/>
                <a:cs typeface="Lato Bold"/>
                <a:sym typeface="Lato Bold"/>
              </a:rPr>
              <a:t>for Visually Impaired People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3" id="3"/>
          <p:cNvGrpSpPr/>
          <p:nvPr/>
        </p:nvGrpSpPr>
        <p:grpSpPr>
          <a:xfrm rot="0">
            <a:off x="10940415" y="1984058"/>
            <a:ext cx="6318885" cy="631888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00" t="0" r="-25000" b="0"/>
              </a:stretch>
            </a:blipFill>
          </p:spPr>
        </p:sp>
      </p:grpSp>
      <p:grpSp>
        <p:nvGrpSpPr>
          <p:cNvPr name="Group 5" id="5"/>
          <p:cNvGrpSpPr/>
          <p:nvPr/>
        </p:nvGrpSpPr>
        <p:grpSpPr>
          <a:xfrm rot="0">
            <a:off x="11178760" y="2222402"/>
            <a:ext cx="5842195" cy="584219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AFAFA"/>
              </a:solidFill>
              <a:prstDash val="lgDash"/>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940415" y="5789265"/>
            <a:ext cx="2513677" cy="251367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1F4"/>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3325824"/>
            <a:ext cx="6653328"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Introduction to </a:t>
            </a:r>
            <a:r>
              <a:rPr lang="en-US" sz="6500" b="true">
                <a:solidFill>
                  <a:srgbClr val="000000"/>
                </a:solidFill>
                <a:latin typeface="Poppins Bold"/>
                <a:ea typeface="Poppins Bold"/>
                <a:cs typeface="Poppins Bold"/>
                <a:sym typeface="Poppins Bold"/>
              </a:rPr>
              <a:t>Guardian</a:t>
            </a:r>
            <a:r>
              <a:rPr lang="en-US" b="true" sz="6500">
                <a:solidFill>
                  <a:srgbClr val="000000"/>
                </a:solidFill>
                <a:latin typeface="Poppins Bold"/>
                <a:ea typeface="Poppins Bold"/>
                <a:cs typeface="Poppins Bold"/>
                <a:sym typeface="Poppins Bold"/>
              </a:rPr>
              <a:t>Eye Project</a:t>
            </a:r>
          </a:p>
        </p:txBody>
      </p:sp>
      <p:sp>
        <p:nvSpPr>
          <p:cNvPr name="TextBox 12" id="12"/>
          <p:cNvSpPr txBox="true"/>
          <p:nvPr/>
        </p:nvSpPr>
        <p:spPr>
          <a:xfrm rot="0">
            <a:off x="11471139" y="6430760"/>
            <a:ext cx="1452229" cy="707129"/>
          </a:xfrm>
          <a:prstGeom prst="rect">
            <a:avLst/>
          </a:prstGeom>
        </p:spPr>
        <p:txBody>
          <a:bodyPr anchor="t" rtlCol="false" tIns="0" lIns="0" bIns="0" rIns="0">
            <a:spAutoFit/>
          </a:bodyPr>
          <a:lstStyle/>
          <a:p>
            <a:pPr algn="ctr">
              <a:lnSpc>
                <a:spcPts val="4866"/>
              </a:lnSpc>
            </a:pPr>
            <a:r>
              <a:rPr lang="en-US" b="true" sz="5232">
                <a:solidFill>
                  <a:srgbClr val="FAFAFA"/>
                </a:solidFill>
                <a:latin typeface="Poppins Bold"/>
                <a:ea typeface="Poppins Bold"/>
                <a:cs typeface="Poppins Bold"/>
                <a:sym typeface="Poppins Bold"/>
              </a:rPr>
              <a:t>24/7</a:t>
            </a:r>
          </a:p>
        </p:txBody>
      </p:sp>
      <p:sp>
        <p:nvSpPr>
          <p:cNvPr name="TextBox 13" id="13"/>
          <p:cNvSpPr txBox="true"/>
          <p:nvPr/>
        </p:nvSpPr>
        <p:spPr>
          <a:xfrm rot="0">
            <a:off x="1589312" y="1038225"/>
            <a:ext cx="749365" cy="368935"/>
          </a:xfrm>
          <a:prstGeom prst="rect">
            <a:avLst/>
          </a:prstGeom>
        </p:spPr>
        <p:txBody>
          <a:bodyPr anchor="t" rtlCol="false" tIns="0" lIns="0" bIns="0" rIns="0">
            <a:spAutoFit/>
          </a:bodyPr>
          <a:lstStyle/>
          <a:p>
            <a:pPr algn="l">
              <a:lnSpc>
                <a:spcPts val="1400"/>
              </a:lnSpc>
            </a:pPr>
            <a:r>
              <a:rPr lang="en-US" sz="1400" b="true">
                <a:solidFill>
                  <a:srgbClr val="000000"/>
                </a:solidFill>
                <a:latin typeface="Lato Bold"/>
                <a:ea typeface="Lato Bold"/>
                <a:cs typeface="Lato Bold"/>
                <a:sym typeface="Lato Bold"/>
              </a:rPr>
              <a:t>Vision assistance</a:t>
            </a:r>
          </a:p>
        </p:txBody>
      </p:sp>
      <p:sp>
        <p:nvSpPr>
          <p:cNvPr name="TextBox 14" id="14"/>
          <p:cNvSpPr txBox="true"/>
          <p:nvPr/>
        </p:nvSpPr>
        <p:spPr>
          <a:xfrm rot="0">
            <a:off x="1028700" y="5959792"/>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Guardian Eye is an AI-powered assistant designed to improve independence and safety for visually impaired users. It combines computer vision, text understanding, speech interaction, and mobile guidance in one accessible workflow.</a:t>
            </a:r>
          </a:p>
        </p:txBody>
      </p:sp>
      <p:sp>
        <p:nvSpPr>
          <p:cNvPr name="TextBox 15" id="15"/>
          <p:cNvSpPr txBox="true"/>
          <p:nvPr/>
        </p:nvSpPr>
        <p:spPr>
          <a:xfrm rot="0">
            <a:off x="11471139" y="7324966"/>
            <a:ext cx="1452229" cy="422207"/>
          </a:xfrm>
          <a:prstGeom prst="rect">
            <a:avLst/>
          </a:prstGeom>
        </p:spPr>
        <p:txBody>
          <a:bodyPr anchor="t" rtlCol="false" tIns="0" lIns="0" bIns="0" rIns="0">
            <a:spAutoFit/>
          </a:bodyPr>
          <a:lstStyle/>
          <a:p>
            <a:pPr algn="ctr">
              <a:lnSpc>
                <a:spcPts val="1624"/>
              </a:lnSpc>
            </a:pPr>
            <a:r>
              <a:rPr lang="en-US" sz="1353">
                <a:solidFill>
                  <a:srgbClr val="FAFAFA"/>
                </a:solidFill>
                <a:latin typeface="Lato"/>
                <a:ea typeface="Lato"/>
                <a:cs typeface="Lato"/>
                <a:sym typeface="Lato"/>
              </a:rPr>
              <a:t>AI-powered navigation and scene understanding</a:t>
            </a:r>
          </a:p>
        </p:txBody>
      </p:sp>
      <p:sp>
        <p:nvSpPr>
          <p:cNvPr name="TextBox 16" id="16"/>
          <p:cNvSpPr txBox="true"/>
          <p:nvPr/>
        </p:nvSpPr>
        <p:spPr>
          <a:xfrm rot="0">
            <a:off x="1028700" y="7607617"/>
            <a:ext cx="7508385" cy="6953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The project helps users understand their surroundings, read printed text, ask questions about objects, and receive spoken feedback in real time. The goal is to turn a smartphone into a practical daily assistant for movement, reading, and decision support.</a:t>
            </a:r>
          </a:p>
        </p:txBody>
      </p:sp>
      <p:sp>
        <p:nvSpPr>
          <p:cNvPr name="TextBox 17" id="17"/>
          <p:cNvSpPr txBox="true"/>
          <p:nvPr/>
        </p:nvSpPr>
        <p:spPr>
          <a:xfrm rot="0">
            <a:off x="11765610" y="7035635"/>
            <a:ext cx="863287" cy="190073"/>
          </a:xfrm>
          <a:prstGeom prst="rect">
            <a:avLst/>
          </a:prstGeom>
        </p:spPr>
        <p:txBody>
          <a:bodyPr anchor="t" rtlCol="false" tIns="0" lIns="0" bIns="0" rIns="0">
            <a:spAutoFit/>
          </a:bodyPr>
          <a:lstStyle/>
          <a:p>
            <a:pPr algn="ctr">
              <a:lnSpc>
                <a:spcPts val="1460"/>
              </a:lnSpc>
            </a:pPr>
            <a:r>
              <a:rPr lang="en-US" b="true" sz="1216">
                <a:solidFill>
                  <a:srgbClr val="FAFAFA"/>
                </a:solidFill>
                <a:latin typeface="Lato Bold"/>
                <a:ea typeface="Lato Bold"/>
                <a:cs typeface="Lato Bold"/>
                <a:sym typeface="Lato Bold"/>
              </a:rPr>
              <a:t>AI ACCESS</a:t>
            </a:r>
          </a:p>
        </p:txBody>
      </p:sp>
      <p:sp>
        <p:nvSpPr>
          <p:cNvPr name="Freeform 18" id="18"/>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TextBox 2" id="2"/>
          <p:cNvSpPr txBox="true"/>
          <p:nvPr/>
        </p:nvSpPr>
        <p:spPr>
          <a:xfrm rot="0">
            <a:off x="9103278" y="3325824"/>
            <a:ext cx="5130933"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Problem</a:t>
            </a:r>
            <a:r>
              <a:rPr lang="en-US" sz="6500" b="true">
                <a:solidFill>
                  <a:srgbClr val="000000"/>
                </a:solidFill>
                <a:latin typeface="Poppins Bold"/>
                <a:ea typeface="Poppins Bold"/>
                <a:cs typeface="Poppins Bold"/>
                <a:sym typeface="Poppins Bold"/>
              </a:rPr>
              <a:t>Defin</a:t>
            </a:r>
            <a:r>
              <a:rPr lang="en-US" b="true" sz="6500">
                <a:solidFill>
                  <a:srgbClr val="000000"/>
                </a:solidFill>
                <a:latin typeface="Poppins Bold"/>
                <a:ea typeface="Poppins Bold"/>
                <a:cs typeface="Poppins Bold"/>
                <a:sym typeface="Poppins Bold"/>
              </a:rPr>
              <a:t>ition</a:t>
            </a:r>
          </a:p>
        </p:txBody>
      </p:sp>
      <p:sp>
        <p:nvSpPr>
          <p:cNvPr name="TextBox 3" id="3"/>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grpSp>
        <p:nvGrpSpPr>
          <p:cNvPr name="Group 4" id="4"/>
          <p:cNvGrpSpPr/>
          <p:nvPr/>
        </p:nvGrpSpPr>
        <p:grpSpPr>
          <a:xfrm rot="0">
            <a:off x="1028700" y="2939415"/>
            <a:ext cx="6318885" cy="6318885"/>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4953" t="0" r="-24953" b="0"/>
              </a:stretch>
            </a:blipFill>
          </p:spPr>
        </p:sp>
      </p:grpSp>
      <p:grpSp>
        <p:nvGrpSpPr>
          <p:cNvPr name="Group 6" id="6"/>
          <p:cNvGrpSpPr/>
          <p:nvPr/>
        </p:nvGrpSpPr>
        <p:grpSpPr>
          <a:xfrm rot="0">
            <a:off x="1267045" y="3177760"/>
            <a:ext cx="5842195" cy="584219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AFAFA"/>
              </a:solidFill>
              <a:prstDash val="lgDash"/>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9103278" y="5959792"/>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Visually impaired people often face barriers when identifying objects, reading labels, navigating unfamiliar places, and reacting quickly to obstacles. Daily tasks that sighted users perform in seconds may require assistance, extra time, or risky guesswork.</a:t>
            </a:r>
          </a:p>
        </p:txBody>
      </p:sp>
      <p:sp>
        <p:nvSpPr>
          <p:cNvPr name="TextBox 10" id="10"/>
          <p:cNvSpPr txBox="true"/>
          <p:nvPr/>
        </p:nvSpPr>
        <p:spPr>
          <a:xfrm rot="0">
            <a:off x="9103278" y="7607617"/>
            <a:ext cx="7164033" cy="6953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Existing tools usually solve one task only, such as reading text or detecting objects, but they do not provide a complete assistive experience. Our project addresses this gap by combining perception, reasoning, and voice interaction in a single mobile system.</a:t>
            </a:r>
          </a:p>
        </p:txBody>
      </p:sp>
      <p:sp>
        <p:nvSpPr>
          <p:cNvPr name="Freeform 11" id="11"/>
          <p:cNvSpPr/>
          <p:nvPr/>
        </p:nvSpPr>
        <p:spPr>
          <a:xfrm flipH="false" flipV="false" rot="0">
            <a:off x="-125663" y="779817"/>
            <a:ext cx="2785415" cy="916866"/>
          </a:xfrm>
          <a:custGeom>
            <a:avLst/>
            <a:gdLst/>
            <a:ahLst/>
            <a:cxnLst/>
            <a:rect r="r" b="b" t="t" l="l"/>
            <a:pathLst>
              <a:path h="916866" w="2785415">
                <a:moveTo>
                  <a:pt x="0" y="0"/>
                </a:moveTo>
                <a:lnTo>
                  <a:pt x="2785415" y="0"/>
                </a:lnTo>
                <a:lnTo>
                  <a:pt x="2785415" y="916866"/>
                </a:lnTo>
                <a:lnTo>
                  <a:pt x="0" y="916866"/>
                </a:lnTo>
                <a:lnTo>
                  <a:pt x="0" y="0"/>
                </a:lnTo>
                <a:close/>
              </a:path>
            </a:pathLst>
          </a:custGeom>
          <a:blipFill>
            <a:blip r:embed="rId3"/>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5888370"/>
            <a:ext cx="4756850" cy="1139496"/>
            <a:chOff x="0" y="0"/>
            <a:chExt cx="1696525" cy="406400"/>
          </a:xfrm>
        </p:grpSpPr>
        <p:sp>
          <p:nvSpPr>
            <p:cNvPr name="Freeform 4" id="4"/>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5" id="5"/>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8700" y="7412370"/>
            <a:ext cx="4756850" cy="1139496"/>
            <a:chOff x="0" y="0"/>
            <a:chExt cx="1696525" cy="406400"/>
          </a:xfrm>
        </p:grpSpPr>
        <p:sp>
          <p:nvSpPr>
            <p:cNvPr name="Freeform 7" id="7"/>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8" id="8"/>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765575" y="5888370"/>
            <a:ext cx="4756850" cy="1139496"/>
            <a:chOff x="0" y="0"/>
            <a:chExt cx="1696525" cy="406400"/>
          </a:xfrm>
        </p:grpSpPr>
        <p:sp>
          <p:nvSpPr>
            <p:cNvPr name="Freeform 10" id="10"/>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1" id="11"/>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6765575" y="7412370"/>
            <a:ext cx="4756850" cy="1139496"/>
            <a:chOff x="0" y="0"/>
            <a:chExt cx="1696525" cy="406400"/>
          </a:xfrm>
        </p:grpSpPr>
        <p:sp>
          <p:nvSpPr>
            <p:cNvPr name="Freeform 13" id="13"/>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4" id="14"/>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0800000">
            <a:off x="1163710" y="6008666"/>
            <a:ext cx="4486829" cy="898905"/>
            <a:chOff x="0" y="0"/>
            <a:chExt cx="2028521" cy="406400"/>
          </a:xfrm>
        </p:grpSpPr>
        <p:sp>
          <p:nvSpPr>
            <p:cNvPr name="Freeform 16" id="16"/>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7" id="17"/>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0800000">
            <a:off x="1163710" y="7532666"/>
            <a:ext cx="4486829" cy="898905"/>
            <a:chOff x="0" y="0"/>
            <a:chExt cx="2028521" cy="406400"/>
          </a:xfrm>
        </p:grpSpPr>
        <p:sp>
          <p:nvSpPr>
            <p:cNvPr name="Freeform 19" id="19"/>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0" id="20"/>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0800000">
            <a:off x="6900585" y="6008666"/>
            <a:ext cx="4486829" cy="898905"/>
            <a:chOff x="0" y="0"/>
            <a:chExt cx="2028521" cy="406400"/>
          </a:xfrm>
        </p:grpSpPr>
        <p:sp>
          <p:nvSpPr>
            <p:cNvPr name="Freeform 22" id="22"/>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3" id="23"/>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10800000">
            <a:off x="6900585" y="7532666"/>
            <a:ext cx="4486829" cy="898905"/>
            <a:chOff x="0" y="0"/>
            <a:chExt cx="2028521" cy="406400"/>
          </a:xfrm>
        </p:grpSpPr>
        <p:sp>
          <p:nvSpPr>
            <p:cNvPr name="Freeform 25" id="25"/>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6" id="26"/>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028700" y="3325824"/>
            <a:ext cx="6979556"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System Architecture</a:t>
            </a:r>
            <a:r>
              <a:rPr lang="en-US" sz="6500" b="true">
                <a:solidFill>
                  <a:srgbClr val="000000"/>
                </a:solidFill>
                <a:latin typeface="Poppins Bold"/>
                <a:ea typeface="Poppins Bold"/>
                <a:cs typeface="Poppins Bold"/>
                <a:sym typeface="Poppins Bold"/>
              </a:rPr>
              <a:t>of Guar</a:t>
            </a:r>
            <a:r>
              <a:rPr lang="en-US" b="true" sz="6500">
                <a:solidFill>
                  <a:srgbClr val="000000"/>
                </a:solidFill>
                <a:latin typeface="Poppins Bold"/>
                <a:ea typeface="Poppins Bold"/>
                <a:cs typeface="Poppins Bold"/>
                <a:sym typeface="Poppins Bold"/>
              </a:rPr>
              <a:t>dian Eye</a:t>
            </a:r>
          </a:p>
        </p:txBody>
      </p:sp>
      <p:sp>
        <p:nvSpPr>
          <p:cNvPr name="TextBox 28" id="28"/>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sp>
        <p:nvSpPr>
          <p:cNvPr name="TextBox 29" id="29"/>
          <p:cNvSpPr txBox="true"/>
          <p:nvPr/>
        </p:nvSpPr>
        <p:spPr>
          <a:xfrm rot="0">
            <a:off x="1587760" y="6162843"/>
            <a:ext cx="363873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Mobile Camera Input - captures the live scene continuously</a:t>
            </a:r>
          </a:p>
        </p:txBody>
      </p:sp>
      <p:sp>
        <p:nvSpPr>
          <p:cNvPr name="TextBox 30" id="30"/>
          <p:cNvSpPr txBox="true"/>
          <p:nvPr/>
        </p:nvSpPr>
        <p:spPr>
          <a:xfrm rot="0">
            <a:off x="1877475" y="7686843"/>
            <a:ext cx="305930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Preprocessing Layer - frames and images are prepared for analysis</a:t>
            </a:r>
          </a:p>
        </p:txBody>
      </p:sp>
      <p:sp>
        <p:nvSpPr>
          <p:cNvPr name="TextBox 31" id="31"/>
          <p:cNvSpPr txBox="true"/>
          <p:nvPr/>
        </p:nvSpPr>
        <p:spPr>
          <a:xfrm rot="0">
            <a:off x="7324635" y="6162843"/>
            <a:ext cx="363873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YOLO Detection - recognizes objects, hazards, and scene elements</a:t>
            </a:r>
          </a:p>
        </p:txBody>
      </p:sp>
      <p:sp>
        <p:nvSpPr>
          <p:cNvPr name="TextBox 32" id="32"/>
          <p:cNvSpPr txBox="true"/>
          <p:nvPr/>
        </p:nvSpPr>
        <p:spPr>
          <a:xfrm rot="0">
            <a:off x="7751355" y="7686843"/>
            <a:ext cx="278529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OCR + LLM - extracts text and explains it in useful language</a:t>
            </a:r>
          </a:p>
        </p:txBody>
      </p:sp>
      <p:grpSp>
        <p:nvGrpSpPr>
          <p:cNvPr name="Group 33" id="33"/>
          <p:cNvGrpSpPr/>
          <p:nvPr/>
        </p:nvGrpSpPr>
        <p:grpSpPr>
          <a:xfrm rot="0">
            <a:off x="12502450" y="5888370"/>
            <a:ext cx="4756850" cy="1139496"/>
            <a:chOff x="0" y="0"/>
            <a:chExt cx="1696525" cy="406400"/>
          </a:xfrm>
        </p:grpSpPr>
        <p:sp>
          <p:nvSpPr>
            <p:cNvPr name="Freeform 34" id="34"/>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5" id="35"/>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2502450" y="7412370"/>
            <a:ext cx="4756850" cy="1139496"/>
            <a:chOff x="0" y="0"/>
            <a:chExt cx="1696525" cy="406400"/>
          </a:xfrm>
        </p:grpSpPr>
        <p:sp>
          <p:nvSpPr>
            <p:cNvPr name="Freeform 37" id="37"/>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8" id="38"/>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10800000">
            <a:off x="12637460" y="6008666"/>
            <a:ext cx="4486829" cy="898905"/>
            <a:chOff x="0" y="0"/>
            <a:chExt cx="2028521" cy="406400"/>
          </a:xfrm>
        </p:grpSpPr>
        <p:sp>
          <p:nvSpPr>
            <p:cNvPr name="Freeform 40" id="40"/>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41" id="41"/>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10800000">
            <a:off x="12637460" y="7532666"/>
            <a:ext cx="4486829" cy="898905"/>
            <a:chOff x="0" y="0"/>
            <a:chExt cx="2028521" cy="406400"/>
          </a:xfrm>
        </p:grpSpPr>
        <p:sp>
          <p:nvSpPr>
            <p:cNvPr name="Freeform 43" id="43"/>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44" id="44"/>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sp>
        <p:nvSpPr>
          <p:cNvPr name="TextBox 45" id="45"/>
          <p:cNvSpPr txBox="true"/>
          <p:nvPr/>
        </p:nvSpPr>
        <p:spPr>
          <a:xfrm rot="0">
            <a:off x="13351070" y="6162843"/>
            <a:ext cx="305961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Speech Modules - converts voice commands to text and answers back</a:t>
            </a:r>
          </a:p>
        </p:txBody>
      </p:sp>
      <p:sp>
        <p:nvSpPr>
          <p:cNvPr name="TextBox 46" id="46"/>
          <p:cNvSpPr txBox="true"/>
          <p:nvPr/>
        </p:nvSpPr>
        <p:spPr>
          <a:xfrm rot="0">
            <a:off x="13351070" y="7686843"/>
            <a:ext cx="305961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Mobile App Output - delivers alerts, descriptions, and guidance</a:t>
            </a:r>
          </a:p>
        </p:txBody>
      </p:sp>
      <p:sp>
        <p:nvSpPr>
          <p:cNvPr name="TextBox 47" id="47"/>
          <p:cNvSpPr txBox="true"/>
          <p:nvPr/>
        </p:nvSpPr>
        <p:spPr>
          <a:xfrm rot="0">
            <a:off x="11182692" y="3513466"/>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The architecture follows a multimodal pipeline where visual data and voice commands are processed by specialized AI modules, then fused into simple spoken feedback that the user can act on immediately.</a:t>
            </a:r>
          </a:p>
        </p:txBody>
      </p:sp>
      <p:grpSp>
        <p:nvGrpSpPr>
          <p:cNvPr name="Group 48" id="48"/>
          <p:cNvGrpSpPr/>
          <p:nvPr/>
        </p:nvGrpSpPr>
        <p:grpSpPr>
          <a:xfrm rot="0">
            <a:off x="11182692" y="1028700"/>
            <a:ext cx="6076608" cy="1837066"/>
            <a:chOff x="0" y="0"/>
            <a:chExt cx="941426" cy="284610"/>
          </a:xfrm>
        </p:grpSpPr>
        <p:sp>
          <p:nvSpPr>
            <p:cNvPr name="Freeform 49" id="49"/>
            <p:cNvSpPr/>
            <p:nvPr/>
          </p:nvSpPr>
          <p:spPr>
            <a:xfrm flipH="false" flipV="false" rot="0">
              <a:off x="0" y="0"/>
              <a:ext cx="941426" cy="284610"/>
            </a:xfrm>
            <a:custGeom>
              <a:avLst/>
              <a:gdLst/>
              <a:ahLst/>
              <a:cxnLst/>
              <a:rect r="r" b="b" t="t" l="l"/>
              <a:pathLst>
                <a:path h="284610" w="941426">
                  <a:moveTo>
                    <a:pt x="63703" y="0"/>
                  </a:moveTo>
                  <a:lnTo>
                    <a:pt x="877723" y="0"/>
                  </a:lnTo>
                  <a:cubicBezTo>
                    <a:pt x="894618" y="0"/>
                    <a:pt x="910821" y="6712"/>
                    <a:pt x="922768" y="18658"/>
                  </a:cubicBezTo>
                  <a:cubicBezTo>
                    <a:pt x="934714" y="30605"/>
                    <a:pt x="941426" y="46808"/>
                    <a:pt x="941426" y="63703"/>
                  </a:cubicBezTo>
                  <a:lnTo>
                    <a:pt x="941426" y="220907"/>
                  </a:lnTo>
                  <a:cubicBezTo>
                    <a:pt x="941426" y="237802"/>
                    <a:pt x="934714" y="254005"/>
                    <a:pt x="922768" y="265952"/>
                  </a:cubicBezTo>
                  <a:cubicBezTo>
                    <a:pt x="910821" y="277898"/>
                    <a:pt x="894618" y="284610"/>
                    <a:pt x="877723" y="284610"/>
                  </a:cubicBezTo>
                  <a:lnTo>
                    <a:pt x="63703" y="284610"/>
                  </a:lnTo>
                  <a:cubicBezTo>
                    <a:pt x="46808" y="284610"/>
                    <a:pt x="30605" y="277898"/>
                    <a:pt x="18658" y="265952"/>
                  </a:cubicBezTo>
                  <a:cubicBezTo>
                    <a:pt x="6712" y="254005"/>
                    <a:pt x="0" y="237802"/>
                    <a:pt x="0" y="220907"/>
                  </a:cubicBezTo>
                  <a:lnTo>
                    <a:pt x="0" y="63703"/>
                  </a:lnTo>
                  <a:cubicBezTo>
                    <a:pt x="0" y="46808"/>
                    <a:pt x="6712" y="30605"/>
                    <a:pt x="18658" y="18658"/>
                  </a:cubicBezTo>
                  <a:cubicBezTo>
                    <a:pt x="30605" y="6712"/>
                    <a:pt x="46808" y="0"/>
                    <a:pt x="63703" y="0"/>
                  </a:cubicBezTo>
                  <a:close/>
                </a:path>
              </a:pathLst>
            </a:custGeom>
            <a:blipFill>
              <a:blip r:embed="rId4"/>
              <a:stretch>
                <a:fillRect l="0" t="-60293" r="0" b="-60293"/>
              </a:stretch>
            </a:blipFill>
          </p:spPr>
        </p:sp>
      </p:grpSp>
      <p:sp>
        <p:nvSpPr>
          <p:cNvPr name="Freeform 50" id="50"/>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325824"/>
            <a:ext cx="4967876" cy="2404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AI</a:t>
            </a:r>
            <a:r>
              <a:rPr lang="en-US" sz="6500">
                <a:solidFill>
                  <a:srgbClr val="3F81F4"/>
                </a:solidFill>
                <a:latin typeface="Poppins"/>
                <a:ea typeface="Poppins"/>
                <a:cs typeface="Poppins"/>
                <a:sym typeface="Poppins"/>
              </a:rPr>
              <a:t> Mod</a:t>
            </a:r>
            <a:r>
              <a:rPr lang="en-US" b="true" sz="6500">
                <a:solidFill>
                  <a:srgbClr val="000000"/>
                </a:solidFill>
                <a:latin typeface="Poppins Bold"/>
                <a:ea typeface="Poppins Bold"/>
                <a:cs typeface="Poppins Bold"/>
                <a:sym typeface="Poppins Bold"/>
              </a:rPr>
              <a:t>els: YOLO</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grpSp>
        <p:nvGrpSpPr>
          <p:cNvPr name="Group 5" id="5"/>
          <p:cNvGrpSpPr/>
          <p:nvPr/>
        </p:nvGrpSpPr>
        <p:grpSpPr>
          <a:xfrm rot="0">
            <a:off x="14220996" y="0"/>
            <a:ext cx="4067004" cy="10287000"/>
            <a:chOff x="0" y="0"/>
            <a:chExt cx="482015" cy="1219200"/>
          </a:xfrm>
        </p:grpSpPr>
        <p:sp>
          <p:nvSpPr>
            <p:cNvPr name="Freeform 6" id="6"/>
            <p:cNvSpPr/>
            <p:nvPr/>
          </p:nvSpPr>
          <p:spPr>
            <a:xfrm flipH="false" flipV="false" rot="0">
              <a:off x="0" y="0"/>
              <a:ext cx="482015" cy="1219200"/>
            </a:xfrm>
            <a:custGeom>
              <a:avLst/>
              <a:gdLst/>
              <a:ahLst/>
              <a:cxnLst/>
              <a:rect r="r" b="b" t="t" l="l"/>
              <a:pathLst>
                <a:path h="1219200" w="482015">
                  <a:moveTo>
                    <a:pt x="0" y="0"/>
                  </a:moveTo>
                  <a:lnTo>
                    <a:pt x="482015" y="0"/>
                  </a:lnTo>
                  <a:lnTo>
                    <a:pt x="482015" y="1219200"/>
                  </a:lnTo>
                  <a:lnTo>
                    <a:pt x="0" y="1219200"/>
                  </a:lnTo>
                  <a:close/>
                </a:path>
              </a:pathLst>
            </a:custGeom>
            <a:solidFill>
              <a:srgbClr val="3F81F4"/>
            </a:solidFill>
          </p:spPr>
        </p:sp>
        <p:sp>
          <p:nvSpPr>
            <p:cNvPr name="TextBox 7" id="7"/>
            <p:cNvSpPr txBox="true"/>
            <p:nvPr/>
          </p:nvSpPr>
          <p:spPr>
            <a:xfrm>
              <a:off x="0" y="-28575"/>
              <a:ext cx="482015" cy="1247775"/>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1182692" y="1870863"/>
            <a:ext cx="6076608" cy="3159004"/>
            <a:chOff x="0" y="0"/>
            <a:chExt cx="941426" cy="489412"/>
          </a:xfrm>
        </p:grpSpPr>
        <p:sp>
          <p:nvSpPr>
            <p:cNvPr name="Freeform 9" id="9"/>
            <p:cNvSpPr/>
            <p:nvPr/>
          </p:nvSpPr>
          <p:spPr>
            <a:xfrm flipH="false" flipV="false" rot="0">
              <a:off x="0" y="0"/>
              <a:ext cx="941426" cy="489412"/>
            </a:xfrm>
            <a:custGeom>
              <a:avLst/>
              <a:gdLst/>
              <a:ahLst/>
              <a:cxnLst/>
              <a:rect r="r" b="b" t="t" l="l"/>
              <a:pathLst>
                <a:path h="489412" w="941426">
                  <a:moveTo>
                    <a:pt x="63703" y="0"/>
                  </a:moveTo>
                  <a:lnTo>
                    <a:pt x="877723" y="0"/>
                  </a:lnTo>
                  <a:cubicBezTo>
                    <a:pt x="894618" y="0"/>
                    <a:pt x="910821" y="6712"/>
                    <a:pt x="922768" y="18658"/>
                  </a:cubicBezTo>
                  <a:cubicBezTo>
                    <a:pt x="934714" y="30605"/>
                    <a:pt x="941426" y="46808"/>
                    <a:pt x="941426" y="63703"/>
                  </a:cubicBezTo>
                  <a:lnTo>
                    <a:pt x="941426" y="425710"/>
                  </a:lnTo>
                  <a:cubicBezTo>
                    <a:pt x="941426" y="442605"/>
                    <a:pt x="934714" y="458808"/>
                    <a:pt x="922768" y="470754"/>
                  </a:cubicBezTo>
                  <a:cubicBezTo>
                    <a:pt x="910821" y="482701"/>
                    <a:pt x="894618" y="489412"/>
                    <a:pt x="877723" y="489412"/>
                  </a:cubicBezTo>
                  <a:lnTo>
                    <a:pt x="63703" y="489412"/>
                  </a:lnTo>
                  <a:cubicBezTo>
                    <a:pt x="46808" y="489412"/>
                    <a:pt x="30605" y="482701"/>
                    <a:pt x="18658" y="470754"/>
                  </a:cubicBezTo>
                  <a:cubicBezTo>
                    <a:pt x="6712" y="458808"/>
                    <a:pt x="0" y="442605"/>
                    <a:pt x="0" y="425710"/>
                  </a:cubicBezTo>
                  <a:lnTo>
                    <a:pt x="0" y="63703"/>
                  </a:lnTo>
                  <a:cubicBezTo>
                    <a:pt x="0" y="46808"/>
                    <a:pt x="6712" y="30605"/>
                    <a:pt x="18658" y="18658"/>
                  </a:cubicBezTo>
                  <a:cubicBezTo>
                    <a:pt x="30605" y="6712"/>
                    <a:pt x="46808" y="0"/>
                    <a:pt x="63703" y="0"/>
                  </a:cubicBezTo>
                  <a:close/>
                </a:path>
              </a:pathLst>
            </a:custGeom>
            <a:blipFill>
              <a:blip r:embed="rId4"/>
              <a:stretch>
                <a:fillRect l="0" t="-14119" r="0" b="-14119"/>
              </a:stretch>
            </a:blipFill>
          </p:spPr>
        </p:sp>
      </p:grpSp>
      <p:grpSp>
        <p:nvGrpSpPr>
          <p:cNvPr name="Group 10" id="10"/>
          <p:cNvGrpSpPr/>
          <p:nvPr/>
        </p:nvGrpSpPr>
        <p:grpSpPr>
          <a:xfrm rot="0">
            <a:off x="11182692" y="5257133"/>
            <a:ext cx="6076608" cy="3159004"/>
            <a:chOff x="0" y="0"/>
            <a:chExt cx="941426" cy="489412"/>
          </a:xfrm>
        </p:grpSpPr>
        <p:sp>
          <p:nvSpPr>
            <p:cNvPr name="Freeform 11" id="11"/>
            <p:cNvSpPr/>
            <p:nvPr/>
          </p:nvSpPr>
          <p:spPr>
            <a:xfrm flipH="false" flipV="false" rot="0">
              <a:off x="0" y="0"/>
              <a:ext cx="941426" cy="489412"/>
            </a:xfrm>
            <a:custGeom>
              <a:avLst/>
              <a:gdLst/>
              <a:ahLst/>
              <a:cxnLst/>
              <a:rect r="r" b="b" t="t" l="l"/>
              <a:pathLst>
                <a:path h="489412" w="941426">
                  <a:moveTo>
                    <a:pt x="63703" y="0"/>
                  </a:moveTo>
                  <a:lnTo>
                    <a:pt x="877723" y="0"/>
                  </a:lnTo>
                  <a:cubicBezTo>
                    <a:pt x="894618" y="0"/>
                    <a:pt x="910821" y="6712"/>
                    <a:pt x="922768" y="18658"/>
                  </a:cubicBezTo>
                  <a:cubicBezTo>
                    <a:pt x="934714" y="30605"/>
                    <a:pt x="941426" y="46808"/>
                    <a:pt x="941426" y="63703"/>
                  </a:cubicBezTo>
                  <a:lnTo>
                    <a:pt x="941426" y="425710"/>
                  </a:lnTo>
                  <a:cubicBezTo>
                    <a:pt x="941426" y="442605"/>
                    <a:pt x="934714" y="458808"/>
                    <a:pt x="922768" y="470754"/>
                  </a:cubicBezTo>
                  <a:cubicBezTo>
                    <a:pt x="910821" y="482701"/>
                    <a:pt x="894618" y="489412"/>
                    <a:pt x="877723" y="489412"/>
                  </a:cubicBezTo>
                  <a:lnTo>
                    <a:pt x="63703" y="489412"/>
                  </a:lnTo>
                  <a:cubicBezTo>
                    <a:pt x="46808" y="489412"/>
                    <a:pt x="30605" y="482701"/>
                    <a:pt x="18658" y="470754"/>
                  </a:cubicBezTo>
                  <a:cubicBezTo>
                    <a:pt x="6712" y="458808"/>
                    <a:pt x="0" y="442605"/>
                    <a:pt x="0" y="425710"/>
                  </a:cubicBezTo>
                  <a:lnTo>
                    <a:pt x="0" y="63703"/>
                  </a:lnTo>
                  <a:cubicBezTo>
                    <a:pt x="0" y="46808"/>
                    <a:pt x="6712" y="30605"/>
                    <a:pt x="18658" y="18658"/>
                  </a:cubicBezTo>
                  <a:cubicBezTo>
                    <a:pt x="30605" y="6712"/>
                    <a:pt x="46808" y="0"/>
                    <a:pt x="63703" y="0"/>
                  </a:cubicBezTo>
                  <a:close/>
                </a:path>
              </a:pathLst>
            </a:custGeom>
            <a:blipFill>
              <a:blip r:embed="rId5"/>
              <a:stretch>
                <a:fillRect l="0" t="-14119" r="0" b="-14119"/>
              </a:stretch>
            </a:blipFill>
          </p:spPr>
        </p:sp>
      </p:grpSp>
      <p:sp>
        <p:nvSpPr>
          <p:cNvPr name="TextBox 12" id="12"/>
          <p:cNvSpPr txBox="true"/>
          <p:nvPr/>
        </p:nvSpPr>
        <p:spPr>
          <a:xfrm rot="0">
            <a:off x="1028700" y="6599872"/>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Real-time object detection for doors, chairs, cars, stairs, and people</a:t>
            </a:r>
          </a:p>
        </p:txBody>
      </p:sp>
      <p:grpSp>
        <p:nvGrpSpPr>
          <p:cNvPr name="Group 13" id="13"/>
          <p:cNvGrpSpPr/>
          <p:nvPr/>
        </p:nvGrpSpPr>
        <p:grpSpPr>
          <a:xfrm rot="0">
            <a:off x="8804267" y="2213692"/>
            <a:ext cx="4756850" cy="1139496"/>
            <a:chOff x="0" y="0"/>
            <a:chExt cx="1696525" cy="406400"/>
          </a:xfrm>
        </p:grpSpPr>
        <p:sp>
          <p:nvSpPr>
            <p:cNvPr name="Freeform 14" id="14"/>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5" id="15"/>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8804267" y="5599962"/>
            <a:ext cx="4756850" cy="1139496"/>
            <a:chOff x="0" y="0"/>
            <a:chExt cx="1696525" cy="406400"/>
          </a:xfrm>
        </p:grpSpPr>
        <p:sp>
          <p:nvSpPr>
            <p:cNvPr name="Freeform 17" id="17"/>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18" id="18"/>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8804267" y="3547542"/>
            <a:ext cx="4756850" cy="1139496"/>
            <a:chOff x="0" y="0"/>
            <a:chExt cx="1696525" cy="406400"/>
          </a:xfrm>
        </p:grpSpPr>
        <p:sp>
          <p:nvSpPr>
            <p:cNvPr name="Freeform 20" id="20"/>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1" id="21"/>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8804267" y="6933812"/>
            <a:ext cx="4756850" cy="1139496"/>
            <a:chOff x="0" y="0"/>
            <a:chExt cx="1696525" cy="406400"/>
          </a:xfrm>
        </p:grpSpPr>
        <p:sp>
          <p:nvSpPr>
            <p:cNvPr name="Freeform 23" id="23"/>
            <p:cNvSpPr/>
            <p:nvPr/>
          </p:nvSpPr>
          <p:spPr>
            <a:xfrm flipH="false" flipV="false" rot="0">
              <a:off x="0" y="0"/>
              <a:ext cx="1696525" cy="406400"/>
            </a:xfrm>
            <a:custGeom>
              <a:avLst/>
              <a:gdLst/>
              <a:ahLst/>
              <a:cxnLst/>
              <a:rect r="r" b="b" t="t" l="l"/>
              <a:pathLst>
                <a:path h="406400" w="1696525">
                  <a:moveTo>
                    <a:pt x="1493325" y="0"/>
                  </a:moveTo>
                  <a:cubicBezTo>
                    <a:pt x="1605549" y="0"/>
                    <a:pt x="1696525" y="90976"/>
                    <a:pt x="1696525" y="203200"/>
                  </a:cubicBezTo>
                  <a:cubicBezTo>
                    <a:pt x="1696525" y="315424"/>
                    <a:pt x="1605549" y="406400"/>
                    <a:pt x="1493325"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4" id="24"/>
            <p:cNvSpPr txBox="true"/>
            <p:nvPr/>
          </p:nvSpPr>
          <p:spPr>
            <a:xfrm>
              <a:off x="0" y="-38100"/>
              <a:ext cx="1696525" cy="444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10800000">
            <a:off x="8939277" y="2333987"/>
            <a:ext cx="4486829" cy="898905"/>
            <a:chOff x="0" y="0"/>
            <a:chExt cx="2028521" cy="406400"/>
          </a:xfrm>
        </p:grpSpPr>
        <p:sp>
          <p:nvSpPr>
            <p:cNvPr name="Freeform 26" id="26"/>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27" id="27"/>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10800000">
            <a:off x="8939277" y="5720257"/>
            <a:ext cx="4486829" cy="898905"/>
            <a:chOff x="0" y="0"/>
            <a:chExt cx="2028521" cy="406400"/>
          </a:xfrm>
        </p:grpSpPr>
        <p:sp>
          <p:nvSpPr>
            <p:cNvPr name="Freeform 29" id="29"/>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0" id="30"/>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10800000">
            <a:off x="8939277" y="3667838"/>
            <a:ext cx="4486829" cy="898905"/>
            <a:chOff x="0" y="0"/>
            <a:chExt cx="2028521" cy="406400"/>
          </a:xfrm>
        </p:grpSpPr>
        <p:sp>
          <p:nvSpPr>
            <p:cNvPr name="Freeform 32" id="32"/>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3" id="33"/>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10800000">
            <a:off x="8939277" y="7054108"/>
            <a:ext cx="4486829" cy="898905"/>
            <a:chOff x="0" y="0"/>
            <a:chExt cx="2028521" cy="406400"/>
          </a:xfrm>
        </p:grpSpPr>
        <p:sp>
          <p:nvSpPr>
            <p:cNvPr name="Freeform 35" id="35"/>
            <p:cNvSpPr/>
            <p:nvPr/>
          </p:nvSpPr>
          <p:spPr>
            <a:xfrm flipH="false" flipV="false" rot="0">
              <a:off x="0" y="0"/>
              <a:ext cx="2028521" cy="406400"/>
            </a:xfrm>
            <a:custGeom>
              <a:avLst/>
              <a:gdLst/>
              <a:ahLst/>
              <a:cxnLst/>
              <a:rect r="r" b="b" t="t" l="l"/>
              <a:pathLst>
                <a:path h="406400" w="2028521">
                  <a:moveTo>
                    <a:pt x="1825321" y="0"/>
                  </a:moveTo>
                  <a:cubicBezTo>
                    <a:pt x="1937545" y="0"/>
                    <a:pt x="2028521" y="90976"/>
                    <a:pt x="2028521" y="203200"/>
                  </a:cubicBezTo>
                  <a:cubicBezTo>
                    <a:pt x="2028521" y="315424"/>
                    <a:pt x="1937545" y="406400"/>
                    <a:pt x="1825321"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3F81F4">
                    <a:alpha val="100000"/>
                  </a:srgbClr>
                </a:gs>
                <a:gs pos="100000">
                  <a:srgbClr val="85ABEF">
                    <a:alpha val="100000"/>
                  </a:srgbClr>
                </a:gs>
              </a:gsLst>
              <a:lin ang="0"/>
            </a:gradFill>
          </p:spPr>
        </p:sp>
        <p:sp>
          <p:nvSpPr>
            <p:cNvPr name="TextBox 36" id="36"/>
            <p:cNvSpPr txBox="true"/>
            <p:nvPr/>
          </p:nvSpPr>
          <p:spPr>
            <a:xfrm>
              <a:off x="0" y="-38100"/>
              <a:ext cx="2028521" cy="444500"/>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9363327" y="2635802"/>
            <a:ext cx="3638730" cy="295275"/>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Obstacle awareness to warn users about hazards in front of them</a:t>
            </a:r>
          </a:p>
        </p:txBody>
      </p:sp>
      <p:sp>
        <p:nvSpPr>
          <p:cNvPr name="TextBox 38" id="38"/>
          <p:cNvSpPr txBox="true"/>
          <p:nvPr/>
        </p:nvSpPr>
        <p:spPr>
          <a:xfrm rot="0">
            <a:off x="9363327" y="6022072"/>
            <a:ext cx="3638730" cy="295275"/>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Fast inference suitable for mobile-friendly assistive scenarios</a:t>
            </a:r>
          </a:p>
        </p:txBody>
      </p:sp>
      <p:sp>
        <p:nvSpPr>
          <p:cNvPr name="TextBox 39" id="39"/>
          <p:cNvSpPr txBox="true"/>
          <p:nvPr/>
        </p:nvSpPr>
        <p:spPr>
          <a:xfrm rot="0">
            <a:off x="9363327" y="3969653"/>
            <a:ext cx="3638730" cy="295275"/>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Spatial context by estimating where objects appear in the frame</a:t>
            </a:r>
          </a:p>
        </p:txBody>
      </p:sp>
      <p:sp>
        <p:nvSpPr>
          <p:cNvPr name="TextBox 40" id="40"/>
          <p:cNvSpPr txBox="true"/>
          <p:nvPr/>
        </p:nvSpPr>
        <p:spPr>
          <a:xfrm rot="0">
            <a:off x="9363327" y="7208285"/>
            <a:ext cx="3638730" cy="590550"/>
          </a:xfrm>
          <a:prstGeom prst="rect">
            <a:avLst/>
          </a:prstGeom>
        </p:spPr>
        <p:txBody>
          <a:bodyPr anchor="t" rtlCol="false" tIns="0" lIns="0" bIns="0" rIns="0">
            <a:spAutoFit/>
          </a:bodyPr>
          <a:lstStyle/>
          <a:p>
            <a:pPr algn="ctr">
              <a:lnSpc>
                <a:spcPts val="2399"/>
              </a:lnSpc>
            </a:pPr>
            <a:r>
              <a:rPr lang="en-US" b="true" sz="1999">
                <a:solidFill>
                  <a:srgbClr val="FAFAFA"/>
                </a:solidFill>
                <a:latin typeface="Lato Bold"/>
                <a:ea typeface="Lato Bold"/>
                <a:cs typeface="Lato Bold"/>
                <a:sym typeface="Lato Bold"/>
              </a:rPr>
              <a:t>High-value alerts focused on immediate safety and navigation</a:t>
            </a:r>
          </a:p>
        </p:txBody>
      </p:sp>
      <p:sp>
        <p:nvSpPr>
          <p:cNvPr name="AutoShape 41" id="41"/>
          <p:cNvSpPr/>
          <p:nvPr/>
        </p:nvSpPr>
        <p:spPr>
          <a:xfrm>
            <a:off x="8804267" y="2783440"/>
            <a:ext cx="0" cy="1333850"/>
          </a:xfrm>
          <a:prstGeom prst="line">
            <a:avLst/>
          </a:prstGeom>
          <a:ln cap="rnd" w="38100">
            <a:solidFill>
              <a:srgbClr val="000000"/>
            </a:solidFill>
            <a:prstDash val="solid"/>
            <a:headEnd type="none" len="sm" w="sm"/>
            <a:tailEnd type="arrow" len="sm" w="med"/>
          </a:ln>
        </p:spPr>
      </p:sp>
      <p:sp>
        <p:nvSpPr>
          <p:cNvPr name="AutoShape 42" id="42"/>
          <p:cNvSpPr/>
          <p:nvPr/>
        </p:nvSpPr>
        <p:spPr>
          <a:xfrm>
            <a:off x="8804267" y="6169710"/>
            <a:ext cx="0" cy="1333850"/>
          </a:xfrm>
          <a:prstGeom prst="line">
            <a:avLst/>
          </a:prstGeom>
          <a:ln cap="rnd" w="38100">
            <a:solidFill>
              <a:srgbClr val="000000"/>
            </a:solidFill>
            <a:prstDash val="solid"/>
            <a:headEnd type="none" len="sm" w="sm"/>
            <a:tailEnd type="arrow" len="sm" w="med"/>
          </a:ln>
        </p:spPr>
      </p:sp>
      <p:sp>
        <p:nvSpPr>
          <p:cNvPr name="AutoShape 43" id="43"/>
          <p:cNvSpPr/>
          <p:nvPr/>
        </p:nvSpPr>
        <p:spPr>
          <a:xfrm>
            <a:off x="8804267" y="4117290"/>
            <a:ext cx="0" cy="2052420"/>
          </a:xfrm>
          <a:prstGeom prst="line">
            <a:avLst/>
          </a:prstGeom>
          <a:ln cap="rnd" w="38100">
            <a:solidFill>
              <a:srgbClr val="000000"/>
            </a:solidFill>
            <a:prstDash val="solid"/>
            <a:headEnd type="none" len="sm" w="sm"/>
            <a:tailEnd type="arrow" len="sm" w="med"/>
          </a:ln>
        </p:spPr>
      </p:sp>
      <p:sp>
        <p:nvSpPr>
          <p:cNvPr name="Freeform 44" id="44"/>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325824"/>
            <a:ext cx="8015876"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OCR +</a:t>
            </a:r>
            <a:r>
              <a:rPr lang="en-US" sz="6500">
                <a:solidFill>
                  <a:srgbClr val="3F81F4"/>
                </a:solidFill>
                <a:latin typeface="Poppins"/>
                <a:ea typeface="Poppins"/>
                <a:cs typeface="Poppins"/>
                <a:sym typeface="Poppins"/>
              </a:rPr>
              <a:t> LLM</a:t>
            </a:r>
            <a:r>
              <a:rPr lang="en-US" sz="6500">
                <a:solidFill>
                  <a:srgbClr val="3F81F4"/>
                </a:solidFill>
                <a:latin typeface="Poppins"/>
                <a:ea typeface="Poppins"/>
                <a:cs typeface="Poppins"/>
                <a:sym typeface="Poppins"/>
              </a:rPr>
              <a:t> for Reading</a:t>
            </a:r>
            <a:r>
              <a:rPr lang="en-US" b="true" sz="6500">
                <a:solidFill>
                  <a:srgbClr val="000000"/>
                </a:solidFill>
                <a:latin typeface="Poppins Bold"/>
                <a:ea typeface="Poppins Bold"/>
                <a:cs typeface="Poppins Bold"/>
                <a:sym typeface="Poppins Bold"/>
              </a:rPr>
              <a:t>and Understanding</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sp>
        <p:nvSpPr>
          <p:cNvPr name="TextBox 5" id="5"/>
          <p:cNvSpPr txBox="true"/>
          <p:nvPr/>
        </p:nvSpPr>
        <p:spPr>
          <a:xfrm rot="0">
            <a:off x="1028700" y="6599872"/>
            <a:ext cx="6076608" cy="1152525"/>
          </a:xfrm>
          <a:prstGeom prst="rect">
            <a:avLst/>
          </a:prstGeom>
        </p:spPr>
        <p:txBody>
          <a:bodyPr anchor="t" rtlCol="false" tIns="0" lIns="0" bIns="0" rIns="0">
            <a:spAutoFit/>
          </a:bodyPr>
          <a:lstStyle/>
          <a:p>
            <a:pPr algn="l" marL="323852" indent="-161926" lvl="1">
              <a:lnSpc>
                <a:spcPts val="1800"/>
              </a:lnSpc>
              <a:buFont typeface="Arial"/>
              <a:buChar char="•"/>
            </a:pPr>
            <a:r>
              <a:rPr lang="en-US" sz="1500">
                <a:solidFill>
                  <a:srgbClr val="000000"/>
                </a:solidFill>
                <a:latin typeface="Lato"/>
                <a:ea typeface="Lato"/>
                <a:cs typeface="Lato"/>
                <a:sym typeface="Lato"/>
              </a:rPr>
              <a:t>OCR extracts printed text from labels, signs, documents, and medicine boxes</a:t>
            </a:r>
          </a:p>
          <a:p>
            <a:pPr algn="l" marL="323852" indent="-161926" lvl="1">
              <a:lnSpc>
                <a:spcPts val="1800"/>
              </a:lnSpc>
              <a:buFont typeface="Arial"/>
              <a:buChar char="•"/>
            </a:pPr>
            <a:r>
              <a:rPr lang="en-US" sz="1500">
                <a:solidFill>
                  <a:srgbClr val="000000"/>
                </a:solidFill>
                <a:latin typeface="Lato"/>
                <a:ea typeface="Lato"/>
                <a:cs typeface="Lato"/>
                <a:sym typeface="Lato"/>
              </a:rPr>
              <a:t>LLM summarizes complex content into short, useful spoken answers</a:t>
            </a:r>
          </a:p>
          <a:p>
            <a:pPr algn="l" marL="323852" indent="-161926" lvl="1">
              <a:lnSpc>
                <a:spcPts val="1800"/>
              </a:lnSpc>
              <a:buFont typeface="Arial"/>
              <a:buChar char="•"/>
            </a:pPr>
            <a:r>
              <a:rPr lang="en-US" sz="1500">
                <a:solidFill>
                  <a:srgbClr val="000000"/>
                </a:solidFill>
                <a:latin typeface="Lato"/>
                <a:ea typeface="Lato"/>
                <a:cs typeface="Lato"/>
                <a:sym typeface="Lato"/>
              </a:rPr>
              <a:t>Text can be translated, explained, or converted into task-oriented guidance</a:t>
            </a:r>
          </a:p>
          <a:p>
            <a:pPr algn="l" marL="323852" indent="-161926" lvl="1">
              <a:lnSpc>
                <a:spcPts val="1800"/>
              </a:lnSpc>
              <a:buFont typeface="Arial"/>
              <a:buChar char="•"/>
            </a:pPr>
            <a:r>
              <a:rPr lang="en-US" sz="1500">
                <a:solidFill>
                  <a:srgbClr val="000000"/>
                </a:solidFill>
                <a:latin typeface="Lato"/>
                <a:ea typeface="Lato"/>
                <a:cs typeface="Lato"/>
                <a:sym typeface="Lato"/>
              </a:rPr>
              <a:t>Context-aware responses help the user understand meaning, not only raw text</a:t>
            </a:r>
          </a:p>
          <a:p>
            <a:pPr algn="l" marL="323852" indent="-161926" lvl="1">
              <a:lnSpc>
                <a:spcPts val="1800"/>
              </a:lnSpc>
              <a:buFont typeface="Arial"/>
              <a:buChar char="•"/>
            </a:pPr>
            <a:r>
              <a:rPr lang="en-US" sz="1500">
                <a:solidFill>
                  <a:srgbClr val="000000"/>
                </a:solidFill>
                <a:latin typeface="Lato"/>
                <a:ea typeface="Lato"/>
                <a:cs typeface="Lato"/>
                <a:sym typeface="Lato"/>
              </a:rPr>
              <a:t>Multi-step reading support for menus, instructions, and forms</a:t>
            </a:r>
          </a:p>
        </p:txBody>
      </p:sp>
      <p:sp>
        <p:nvSpPr>
          <p:cNvPr name="TextBox 6" id="6"/>
          <p:cNvSpPr txBox="true"/>
          <p:nvPr/>
        </p:nvSpPr>
        <p:spPr>
          <a:xfrm rot="0">
            <a:off x="1028700" y="5776912"/>
            <a:ext cx="3866808"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This module goes beyond text recognition. After OCR reads the visible content, the language model can explain what it means, answer follow-up questions, and present the result in a way that is easier to understand through audio.</a:t>
            </a:r>
          </a:p>
        </p:txBody>
      </p:sp>
      <p:sp>
        <p:nvSpPr>
          <p:cNvPr name="TextBox 7" id="7"/>
          <p:cNvSpPr txBox="true"/>
          <p:nvPr/>
        </p:nvSpPr>
        <p:spPr>
          <a:xfrm rot="0">
            <a:off x="12752412" y="1019175"/>
            <a:ext cx="4506888"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From text extraction to smart explanation</a:t>
            </a:r>
          </a:p>
        </p:txBody>
      </p:sp>
      <p:grpSp>
        <p:nvGrpSpPr>
          <p:cNvPr name="Group 8" id="8"/>
          <p:cNvGrpSpPr/>
          <p:nvPr/>
        </p:nvGrpSpPr>
        <p:grpSpPr>
          <a:xfrm rot="0">
            <a:off x="12752412" y="3221049"/>
            <a:ext cx="4506888" cy="5799126"/>
            <a:chOff x="0" y="0"/>
            <a:chExt cx="698235" cy="898436"/>
          </a:xfrm>
        </p:grpSpPr>
        <p:sp>
          <p:nvSpPr>
            <p:cNvPr name="Freeform 9" id="9"/>
            <p:cNvSpPr/>
            <p:nvPr/>
          </p:nvSpPr>
          <p:spPr>
            <a:xfrm flipH="false" flipV="false" rot="0">
              <a:off x="0" y="0"/>
              <a:ext cx="698235" cy="898436"/>
            </a:xfrm>
            <a:custGeom>
              <a:avLst/>
              <a:gdLst/>
              <a:ahLst/>
              <a:cxnLst/>
              <a:rect r="r" b="b" t="t" l="l"/>
              <a:pathLst>
                <a:path h="898436" w="698235">
                  <a:moveTo>
                    <a:pt x="85890" y="0"/>
                  </a:moveTo>
                  <a:lnTo>
                    <a:pt x="612345" y="0"/>
                  </a:lnTo>
                  <a:cubicBezTo>
                    <a:pt x="635124" y="0"/>
                    <a:pt x="656971" y="9049"/>
                    <a:pt x="673078" y="25157"/>
                  </a:cubicBezTo>
                  <a:cubicBezTo>
                    <a:pt x="689186" y="41264"/>
                    <a:pt x="698235" y="63110"/>
                    <a:pt x="698235" y="85890"/>
                  </a:cubicBezTo>
                  <a:lnTo>
                    <a:pt x="698235" y="812547"/>
                  </a:lnTo>
                  <a:cubicBezTo>
                    <a:pt x="698235" y="859982"/>
                    <a:pt x="659781" y="898436"/>
                    <a:pt x="612345" y="898436"/>
                  </a:cubicBezTo>
                  <a:lnTo>
                    <a:pt x="85890" y="898436"/>
                  </a:lnTo>
                  <a:cubicBezTo>
                    <a:pt x="63110" y="898436"/>
                    <a:pt x="41264" y="889387"/>
                    <a:pt x="25157" y="873280"/>
                  </a:cubicBezTo>
                  <a:cubicBezTo>
                    <a:pt x="9049" y="857172"/>
                    <a:pt x="0" y="835326"/>
                    <a:pt x="0" y="812547"/>
                  </a:cubicBezTo>
                  <a:lnTo>
                    <a:pt x="0" y="85890"/>
                  </a:lnTo>
                  <a:cubicBezTo>
                    <a:pt x="0" y="38454"/>
                    <a:pt x="38454" y="0"/>
                    <a:pt x="85890" y="0"/>
                  </a:cubicBezTo>
                  <a:close/>
                </a:path>
              </a:pathLst>
            </a:custGeom>
            <a:blipFill>
              <a:blip r:embed="rId4"/>
              <a:stretch>
                <a:fillRect l="-46504" t="0" r="-46504" b="0"/>
              </a:stretch>
            </a:blipFill>
          </p:spPr>
        </p:sp>
      </p:grpSp>
      <p:grpSp>
        <p:nvGrpSpPr>
          <p:cNvPr name="Group 10" id="10"/>
          <p:cNvGrpSpPr/>
          <p:nvPr/>
        </p:nvGrpSpPr>
        <p:grpSpPr>
          <a:xfrm rot="0">
            <a:off x="11332454" y="5625203"/>
            <a:ext cx="2839915" cy="28399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AFAFA"/>
              </a:solidFill>
              <a:prstDash val="lgDash"/>
              <a:miter/>
            </a:ln>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1495573" y="5789265"/>
            <a:ext cx="2513677" cy="251367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81F4"/>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2026297" y="6430760"/>
            <a:ext cx="1452229" cy="707129"/>
          </a:xfrm>
          <a:prstGeom prst="rect">
            <a:avLst/>
          </a:prstGeom>
        </p:spPr>
        <p:txBody>
          <a:bodyPr anchor="t" rtlCol="false" tIns="0" lIns="0" bIns="0" rIns="0">
            <a:spAutoFit/>
          </a:bodyPr>
          <a:lstStyle/>
          <a:p>
            <a:pPr algn="ctr">
              <a:lnSpc>
                <a:spcPts val="4866"/>
              </a:lnSpc>
            </a:pPr>
            <a:r>
              <a:rPr lang="en-US" b="true" sz="5232">
                <a:solidFill>
                  <a:srgbClr val="FAFAFA"/>
                </a:solidFill>
                <a:latin typeface="Poppins Bold"/>
                <a:ea typeface="Poppins Bold"/>
                <a:cs typeface="Poppins Bold"/>
                <a:sym typeface="Poppins Bold"/>
              </a:rPr>
              <a:t/>
            </a:r>
          </a:p>
        </p:txBody>
      </p:sp>
      <p:sp>
        <p:nvSpPr>
          <p:cNvPr name="TextBox 17" id="17"/>
          <p:cNvSpPr txBox="true"/>
          <p:nvPr/>
        </p:nvSpPr>
        <p:spPr>
          <a:xfrm rot="0">
            <a:off x="12026297" y="7324966"/>
            <a:ext cx="1452229" cy="422207"/>
          </a:xfrm>
          <a:prstGeom prst="rect">
            <a:avLst/>
          </a:prstGeom>
        </p:spPr>
        <p:txBody>
          <a:bodyPr anchor="t" rtlCol="false" tIns="0" lIns="0" bIns="0" rIns="0">
            <a:spAutoFit/>
          </a:bodyPr>
          <a:lstStyle/>
          <a:p>
            <a:pPr algn="ctr">
              <a:lnSpc>
                <a:spcPts val="1624"/>
              </a:lnSpc>
            </a:pPr>
            <a:r>
              <a:rPr lang="en-US" sz="1353">
                <a:solidFill>
                  <a:srgbClr val="FAFAFA"/>
                </a:solidFill>
                <a:latin typeface="Lato"/>
                <a:ea typeface="Lato"/>
                <a:cs typeface="Lato"/>
                <a:sym typeface="Lato"/>
              </a:rPr>
              <a:t/>
            </a:r>
          </a:p>
        </p:txBody>
      </p:sp>
      <p:sp>
        <p:nvSpPr>
          <p:cNvPr name="TextBox 18" id="18"/>
          <p:cNvSpPr txBox="true"/>
          <p:nvPr/>
        </p:nvSpPr>
        <p:spPr>
          <a:xfrm rot="0">
            <a:off x="12320768" y="7035635"/>
            <a:ext cx="863287" cy="190073"/>
          </a:xfrm>
          <a:prstGeom prst="rect">
            <a:avLst/>
          </a:prstGeom>
        </p:spPr>
        <p:txBody>
          <a:bodyPr anchor="t" rtlCol="false" tIns="0" lIns="0" bIns="0" rIns="0">
            <a:spAutoFit/>
          </a:bodyPr>
          <a:lstStyle/>
          <a:p>
            <a:pPr algn="ctr">
              <a:lnSpc>
                <a:spcPts val="1460"/>
              </a:lnSpc>
            </a:pPr>
            <a:r>
              <a:rPr lang="en-US" b="true" sz="1216">
                <a:solidFill>
                  <a:srgbClr val="FAFAFA"/>
                </a:solidFill>
                <a:latin typeface="Lato Bold"/>
                <a:ea typeface="Lato Bold"/>
                <a:cs typeface="Lato Bold"/>
                <a:sym typeface="Lato Bold"/>
              </a:rPr>
              <a:t/>
            </a:r>
          </a:p>
        </p:txBody>
      </p:sp>
      <p:sp>
        <p:nvSpPr>
          <p:cNvPr name="Freeform 19" id="19"/>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3325824"/>
            <a:ext cx="8015876"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Speech</a:t>
            </a:r>
            <a:r>
              <a:rPr lang="en-US" sz="6500">
                <a:solidFill>
                  <a:srgbClr val="3F81F4"/>
                </a:solidFill>
                <a:latin typeface="Poppins"/>
                <a:ea typeface="Poppins"/>
                <a:cs typeface="Poppins"/>
                <a:sym typeface="Poppins"/>
              </a:rPr>
              <a:t> Interac</a:t>
            </a:r>
            <a:r>
              <a:rPr lang="en-US" sz="6500" b="true">
                <a:solidFill>
                  <a:srgbClr val="000000"/>
                </a:solidFill>
                <a:latin typeface="Poppins Bold"/>
                <a:ea typeface="Poppins Bold"/>
                <a:cs typeface="Poppins Bold"/>
                <a:sym typeface="Poppins Bold"/>
              </a:rPr>
              <a:t>tion &amp; Au</a:t>
            </a:r>
            <a:r>
              <a:rPr lang="en-US" b="true" sz="6500">
                <a:solidFill>
                  <a:srgbClr val="000000"/>
                </a:solidFill>
                <a:latin typeface="Poppins Bold"/>
                <a:ea typeface="Poppins Bold"/>
                <a:cs typeface="Poppins Bold"/>
                <a:sym typeface="Poppins Bold"/>
              </a:rPr>
              <a:t>dio Output</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grpSp>
        <p:nvGrpSpPr>
          <p:cNvPr name="Group 5" id="5"/>
          <p:cNvGrpSpPr/>
          <p:nvPr/>
        </p:nvGrpSpPr>
        <p:grpSpPr>
          <a:xfrm rot="0">
            <a:off x="15287796" y="3221049"/>
            <a:ext cx="3000204" cy="7065951"/>
            <a:chOff x="0" y="0"/>
            <a:chExt cx="355580" cy="837446"/>
          </a:xfrm>
        </p:grpSpPr>
        <p:sp>
          <p:nvSpPr>
            <p:cNvPr name="Freeform 6" id="6"/>
            <p:cNvSpPr/>
            <p:nvPr/>
          </p:nvSpPr>
          <p:spPr>
            <a:xfrm flipH="false" flipV="false" rot="0">
              <a:off x="0" y="0"/>
              <a:ext cx="355580" cy="837446"/>
            </a:xfrm>
            <a:custGeom>
              <a:avLst/>
              <a:gdLst/>
              <a:ahLst/>
              <a:cxnLst/>
              <a:rect r="r" b="b" t="t" l="l"/>
              <a:pathLst>
                <a:path h="837446" w="355580">
                  <a:moveTo>
                    <a:pt x="0" y="0"/>
                  </a:moveTo>
                  <a:lnTo>
                    <a:pt x="355580" y="0"/>
                  </a:lnTo>
                  <a:lnTo>
                    <a:pt x="355580" y="837446"/>
                  </a:lnTo>
                  <a:lnTo>
                    <a:pt x="0" y="837446"/>
                  </a:lnTo>
                  <a:close/>
                </a:path>
              </a:pathLst>
            </a:custGeom>
            <a:solidFill>
              <a:srgbClr val="3F81F4"/>
            </a:solidFill>
          </p:spPr>
        </p:sp>
        <p:sp>
          <p:nvSpPr>
            <p:cNvPr name="TextBox 7" id="7"/>
            <p:cNvSpPr txBox="true"/>
            <p:nvPr/>
          </p:nvSpPr>
          <p:spPr>
            <a:xfrm>
              <a:off x="0" y="-28575"/>
              <a:ext cx="355580" cy="866021"/>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5287796" y="3221049"/>
            <a:ext cx="1971504" cy="5799126"/>
            <a:chOff x="0" y="0"/>
            <a:chExt cx="233660" cy="687304"/>
          </a:xfrm>
        </p:grpSpPr>
        <p:sp>
          <p:nvSpPr>
            <p:cNvPr name="Freeform 9" id="9"/>
            <p:cNvSpPr/>
            <p:nvPr/>
          </p:nvSpPr>
          <p:spPr>
            <a:xfrm flipH="false" flipV="false" rot="0">
              <a:off x="0" y="0"/>
              <a:ext cx="233660" cy="687304"/>
            </a:xfrm>
            <a:custGeom>
              <a:avLst/>
              <a:gdLst/>
              <a:ahLst/>
              <a:cxnLst/>
              <a:rect r="r" b="b" t="t" l="l"/>
              <a:pathLst>
                <a:path h="687304" w="233660">
                  <a:moveTo>
                    <a:pt x="0" y="0"/>
                  </a:moveTo>
                  <a:lnTo>
                    <a:pt x="233660" y="0"/>
                  </a:lnTo>
                  <a:lnTo>
                    <a:pt x="233660" y="687304"/>
                  </a:lnTo>
                  <a:lnTo>
                    <a:pt x="0" y="687304"/>
                  </a:lnTo>
                  <a:close/>
                </a:path>
              </a:pathLst>
            </a:custGeom>
            <a:solidFill>
              <a:srgbClr val="FAFAFA"/>
            </a:solidFill>
          </p:spPr>
        </p:sp>
        <p:sp>
          <p:nvSpPr>
            <p:cNvPr name="TextBox 10" id="10"/>
            <p:cNvSpPr txBox="true"/>
            <p:nvPr/>
          </p:nvSpPr>
          <p:spPr>
            <a:xfrm>
              <a:off x="0" y="-28575"/>
              <a:ext cx="233660" cy="715879"/>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10780908" y="3221049"/>
            <a:ext cx="4506888" cy="5799126"/>
            <a:chOff x="0" y="0"/>
            <a:chExt cx="698235" cy="898436"/>
          </a:xfrm>
        </p:grpSpPr>
        <p:sp>
          <p:nvSpPr>
            <p:cNvPr name="Freeform 12" id="12"/>
            <p:cNvSpPr/>
            <p:nvPr/>
          </p:nvSpPr>
          <p:spPr>
            <a:xfrm flipH="false" flipV="false" rot="0">
              <a:off x="0" y="0"/>
              <a:ext cx="698235" cy="898436"/>
            </a:xfrm>
            <a:custGeom>
              <a:avLst/>
              <a:gdLst/>
              <a:ahLst/>
              <a:cxnLst/>
              <a:rect r="r" b="b" t="t" l="l"/>
              <a:pathLst>
                <a:path h="898436" w="698235">
                  <a:moveTo>
                    <a:pt x="0" y="0"/>
                  </a:moveTo>
                  <a:lnTo>
                    <a:pt x="698235" y="0"/>
                  </a:lnTo>
                  <a:lnTo>
                    <a:pt x="698235" y="898436"/>
                  </a:lnTo>
                  <a:lnTo>
                    <a:pt x="0" y="898436"/>
                  </a:lnTo>
                  <a:close/>
                </a:path>
              </a:pathLst>
            </a:custGeom>
            <a:blipFill>
              <a:blip r:embed="rId4"/>
              <a:stretch>
                <a:fillRect l="-46504" t="0" r="-46504" b="0"/>
              </a:stretch>
            </a:blipFill>
          </p:spPr>
        </p:sp>
      </p:grpSp>
      <p:grpSp>
        <p:nvGrpSpPr>
          <p:cNvPr name="Group 13" id="13"/>
          <p:cNvGrpSpPr/>
          <p:nvPr/>
        </p:nvGrpSpPr>
        <p:grpSpPr>
          <a:xfrm rot="0">
            <a:off x="11500321" y="1849234"/>
            <a:ext cx="5758979" cy="2469309"/>
            <a:chOff x="0" y="0"/>
            <a:chExt cx="682546" cy="292659"/>
          </a:xfrm>
        </p:grpSpPr>
        <p:sp>
          <p:nvSpPr>
            <p:cNvPr name="Freeform 14" id="14"/>
            <p:cNvSpPr/>
            <p:nvPr/>
          </p:nvSpPr>
          <p:spPr>
            <a:xfrm flipH="false" flipV="false" rot="0">
              <a:off x="0" y="0"/>
              <a:ext cx="682546" cy="292659"/>
            </a:xfrm>
            <a:custGeom>
              <a:avLst/>
              <a:gdLst/>
              <a:ahLst/>
              <a:cxnLst/>
              <a:rect r="r" b="b" t="t" l="l"/>
              <a:pathLst>
                <a:path h="292659" w="682546">
                  <a:moveTo>
                    <a:pt x="0" y="0"/>
                  </a:moveTo>
                  <a:lnTo>
                    <a:pt x="682546" y="0"/>
                  </a:lnTo>
                  <a:lnTo>
                    <a:pt x="682546" y="292659"/>
                  </a:lnTo>
                  <a:lnTo>
                    <a:pt x="0" y="292659"/>
                  </a:lnTo>
                  <a:close/>
                </a:path>
              </a:pathLst>
            </a:custGeom>
            <a:solidFill>
              <a:srgbClr val="3F81F4"/>
            </a:solidFill>
          </p:spPr>
        </p:sp>
        <p:sp>
          <p:nvSpPr>
            <p:cNvPr name="TextBox 15" id="15"/>
            <p:cNvSpPr txBox="true"/>
            <p:nvPr/>
          </p:nvSpPr>
          <p:spPr>
            <a:xfrm>
              <a:off x="0" y="-28575"/>
              <a:ext cx="682546" cy="321234"/>
            </a:xfrm>
            <a:prstGeom prst="rect">
              <a:avLst/>
            </a:prstGeom>
          </p:spPr>
          <p:txBody>
            <a:bodyPr anchor="ctr" rtlCol="false" tIns="50800" lIns="50800" bIns="50800" rIns="50800"/>
            <a:lstStyle/>
            <a:p>
              <a:pPr algn="ctr">
                <a:lnSpc>
                  <a:spcPts val="1400"/>
                </a:lnSpc>
              </a:pPr>
            </a:p>
          </p:txBody>
        </p:sp>
      </p:grpSp>
      <p:sp>
        <p:nvSpPr>
          <p:cNvPr name="TextBox 16" id="16"/>
          <p:cNvSpPr txBox="true"/>
          <p:nvPr/>
        </p:nvSpPr>
        <p:spPr>
          <a:xfrm rot="0">
            <a:off x="1028700" y="6599872"/>
            <a:ext cx="4761879" cy="923925"/>
          </a:xfrm>
          <a:prstGeom prst="rect">
            <a:avLst/>
          </a:prstGeom>
        </p:spPr>
        <p:txBody>
          <a:bodyPr anchor="t" rtlCol="false" tIns="0" lIns="0" bIns="0" rIns="0">
            <a:spAutoFit/>
          </a:bodyPr>
          <a:lstStyle/>
          <a:p>
            <a:pPr algn="l" marL="323852" indent="-161926" lvl="1">
              <a:lnSpc>
                <a:spcPts val="1800"/>
              </a:lnSpc>
              <a:buFont typeface="Arial"/>
              <a:buChar char="•"/>
            </a:pPr>
            <a:r>
              <a:rPr lang="en-US" sz="1500">
                <a:solidFill>
                  <a:srgbClr val="000000"/>
                </a:solidFill>
                <a:latin typeface="Lato"/>
                <a:ea typeface="Lato"/>
                <a:cs typeface="Lato"/>
                <a:sym typeface="Lato"/>
              </a:rPr>
              <a:t>Speech recognition captures user commands without touching the screen</a:t>
            </a:r>
          </a:p>
          <a:p>
            <a:pPr algn="l" marL="323852" indent="-161926" lvl="1">
              <a:lnSpc>
                <a:spcPts val="1800"/>
              </a:lnSpc>
              <a:buFont typeface="Arial"/>
              <a:buChar char="•"/>
            </a:pPr>
            <a:r>
              <a:rPr lang="en-US" sz="1500">
                <a:solidFill>
                  <a:srgbClr val="000000"/>
                </a:solidFill>
                <a:latin typeface="Lato"/>
                <a:ea typeface="Lato"/>
                <a:cs typeface="Lato"/>
                <a:sym typeface="Lato"/>
              </a:rPr>
              <a:t>Voice prompts make the app easier to use while walking or multitasking</a:t>
            </a:r>
            <a:r>
              <a:rPr lang="en-US" sz="1500">
                <a:solidFill>
                  <a:srgbClr val="000000"/>
                </a:solidFill>
                <a:latin typeface="Lato"/>
                <a:ea typeface="Lato"/>
                <a:cs typeface="Lato"/>
                <a:sym typeface="Lato"/>
              </a:rPr>
              <a:t>Text-to-speech returns descriptions, warnings, and answers clearly</a:t>
            </a:r>
          </a:p>
          <a:p>
            <a:pPr algn="l" marL="323852" indent="-161926" lvl="1">
              <a:lnSpc>
                <a:spcPts val="1800"/>
              </a:lnSpc>
              <a:buFont typeface="Arial"/>
              <a:buChar char="•"/>
            </a:pPr>
            <a:r>
              <a:rPr lang="en-US" sz="1500">
                <a:solidFill>
                  <a:srgbClr val="000000"/>
                </a:solidFill>
                <a:latin typeface="Lato"/>
                <a:ea typeface="Lato"/>
                <a:cs typeface="Lato"/>
                <a:sym typeface="Lato"/>
              </a:rPr>
              <a:t>Hands-free interaction improves accessibility and comfort</a:t>
            </a:r>
          </a:p>
          <a:p>
            <a:pPr algn="l" marL="323852" indent="-161926" lvl="1">
              <a:lnSpc>
                <a:spcPts val="1800"/>
              </a:lnSpc>
              <a:buFont typeface="Arial"/>
              <a:buChar char="•"/>
            </a:pPr>
            <a:r>
              <a:rPr lang="en-US" sz="1500">
                <a:solidFill>
                  <a:srgbClr val="000000"/>
                </a:solidFill>
                <a:latin typeface="Lato"/>
                <a:ea typeface="Lato"/>
                <a:cs typeface="Lato"/>
                <a:sym typeface="Lato"/>
              </a:rPr>
              <a:t>Natural dialogue allows users to ask follow-up questions in real time</a:t>
            </a:r>
            <a:r>
              <a:rPr lang="en-US" sz="1500">
                <a:solidFill>
                  <a:srgbClr val="000000"/>
                </a:solidFill>
                <a:latin typeface="Lato"/>
                <a:ea typeface="Lato"/>
                <a:cs typeface="Lato"/>
                <a:sym typeface="Lato"/>
              </a:rPr>
              <a:t>Speech interaction is essential for accessibility because it removes dependence on visual menus. Users can ask the app what is ahead, request text reading, and receive immediate verbal feedback tailored to the scene.</a:t>
            </a:r>
          </a:p>
        </p:txBody>
      </p:sp>
      <p:sp>
        <p:nvSpPr>
          <p:cNvPr name="TextBox 17" id="17"/>
          <p:cNvSpPr txBox="true"/>
          <p:nvPr/>
        </p:nvSpPr>
        <p:spPr>
          <a:xfrm rot="0">
            <a:off x="1028700" y="5776912"/>
            <a:ext cx="8115300"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Designed for smooth two-way communication</a:t>
            </a:r>
          </a:p>
        </p:txBody>
      </p:sp>
      <p:sp>
        <p:nvSpPr>
          <p:cNvPr name="TextBox 18" id="18"/>
          <p:cNvSpPr txBox="true"/>
          <p:nvPr/>
        </p:nvSpPr>
        <p:spPr>
          <a:xfrm rot="0">
            <a:off x="12126366" y="2388564"/>
            <a:ext cx="4506888" cy="1381125"/>
          </a:xfrm>
          <a:prstGeom prst="rect">
            <a:avLst/>
          </a:prstGeom>
        </p:spPr>
        <p:txBody>
          <a:bodyPr anchor="t" rtlCol="false" tIns="0" lIns="0" bIns="0" rIns="0">
            <a:spAutoFit/>
          </a:bodyPr>
          <a:lstStyle/>
          <a:p>
            <a:pPr algn="l">
              <a:lnSpc>
                <a:spcPts val="1800"/>
              </a:lnSpc>
            </a:pPr>
            <a:r>
              <a:rPr lang="en-US" sz="1500">
                <a:solidFill>
                  <a:srgbClr val="FAFAFA"/>
                </a:solidFill>
                <a:latin typeface="Lato"/>
                <a:ea typeface="Lato"/>
                <a:cs typeface="Lato"/>
                <a:sym typeface="Lato"/>
              </a:rPr>
              <a:t/>
            </a:r>
          </a:p>
        </p:txBody>
      </p:sp>
      <p:sp>
        <p:nvSpPr>
          <p:cNvPr name="Freeform 19" id="19"/>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9941459" y="2837268"/>
            <a:ext cx="6225540"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Challen</a:t>
            </a:r>
            <a:r>
              <a:rPr lang="en-US" sz="6500">
                <a:solidFill>
                  <a:srgbClr val="3F81F4"/>
                </a:solidFill>
                <a:latin typeface="Poppins"/>
                <a:ea typeface="Poppins"/>
                <a:cs typeface="Poppins"/>
                <a:sym typeface="Poppins"/>
              </a:rPr>
              <a:t>ges</a:t>
            </a:r>
            <a:r>
              <a:rPr lang="en-US" sz="6500" b="true">
                <a:solidFill>
                  <a:srgbClr val="000000"/>
                </a:solidFill>
                <a:latin typeface="Poppins Bold"/>
                <a:ea typeface="Poppins Bold"/>
                <a:cs typeface="Poppins Bold"/>
                <a:sym typeface="Poppins Bold"/>
              </a:rPr>
              <a:t> in</a:t>
            </a:r>
            <a:r>
              <a:rPr lang="en-US" b="true" sz="6500">
                <a:solidFill>
                  <a:srgbClr val="000000"/>
                </a:solidFill>
                <a:latin typeface="Poppins Bold"/>
                <a:ea typeface="Poppins Bold"/>
                <a:cs typeface="Poppins Bold"/>
                <a:sym typeface="Poppins Bold"/>
              </a:rPr>
              <a:t> AI</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for Accessibility</a:t>
            </a:r>
          </a:p>
        </p:txBody>
      </p:sp>
      <p:sp>
        <p:nvSpPr>
          <p:cNvPr name="TextBox 5" id="5"/>
          <p:cNvSpPr txBox="true"/>
          <p:nvPr/>
        </p:nvSpPr>
        <p:spPr>
          <a:xfrm rot="0">
            <a:off x="9941459" y="6111317"/>
            <a:ext cx="4761879" cy="1152525"/>
          </a:xfrm>
          <a:prstGeom prst="rect">
            <a:avLst/>
          </a:prstGeom>
        </p:spPr>
        <p:txBody>
          <a:bodyPr anchor="t" rtlCol="false" tIns="0" lIns="0" bIns="0" rIns="0">
            <a:spAutoFit/>
          </a:bodyPr>
          <a:lstStyle/>
          <a:p>
            <a:pPr algn="l" marL="323852" indent="-161926" lvl="1">
              <a:lnSpc>
                <a:spcPts val="1800"/>
              </a:lnSpc>
              <a:buFont typeface="Arial"/>
              <a:buChar char="•"/>
            </a:pPr>
            <a:r>
              <a:rPr lang="en-US" sz="1500">
                <a:solidFill>
                  <a:srgbClr val="000000"/>
                </a:solidFill>
                <a:latin typeface="Lato"/>
                <a:ea typeface="Lato"/>
                <a:cs typeface="Lato"/>
                <a:sym typeface="Lato"/>
              </a:rPr>
              <a:t>Guardian Eye</a:t>
            </a:r>
          </a:p>
          <a:p>
            <a:pPr algn="l" marL="323852" indent="-161926" lvl="1">
              <a:lnSpc>
                <a:spcPts val="1800"/>
              </a:lnSpc>
              <a:buFont typeface="Arial"/>
              <a:buChar char="•"/>
            </a:pPr>
            <a:r>
              <a:rPr lang="en-US" sz="1500">
                <a:solidFill>
                  <a:srgbClr val="000000"/>
                </a:solidFill>
                <a:latin typeface="Lato"/>
                <a:ea typeface="Lato"/>
                <a:cs typeface="Lato"/>
                <a:sym typeface="Lato"/>
              </a:rPr>
              <a:t>Lighting changes, blur, and camera angle can reduce detection quality in real environments.</a:t>
            </a:r>
            <a:r>
              <a:rPr lang="en-US" sz="1500">
                <a:solidFill>
                  <a:srgbClr val="000000"/>
                </a:solidFill>
                <a:latin typeface="Lato"/>
                <a:ea typeface="Lato"/>
                <a:cs typeface="Lato"/>
                <a:sym typeface="Lato"/>
              </a:rPr>
              <a:t>Text recognition becomes harder on curved surfaces, small labels, or low-contrast packaging.</a:t>
            </a:r>
          </a:p>
          <a:p>
            <a:pPr algn="l" marL="323852" indent="-161926" lvl="1">
              <a:lnSpc>
                <a:spcPts val="1800"/>
              </a:lnSpc>
              <a:buFont typeface="Arial"/>
              <a:buChar char="•"/>
            </a:pPr>
            <a:r>
              <a:rPr lang="en-US" sz="1500">
                <a:solidFill>
                  <a:srgbClr val="000000"/>
                </a:solidFill>
                <a:latin typeface="Lato"/>
                <a:ea typeface="Lato"/>
                <a:cs typeface="Lato"/>
                <a:sym typeface="Lato"/>
              </a:rPr>
              <a:t>Speech recognition may struggle in noisy streets or crowded public places.</a:t>
            </a:r>
          </a:p>
          <a:p>
            <a:pPr algn="l" marL="323852" indent="-161926" lvl="1">
              <a:lnSpc>
                <a:spcPts val="1800"/>
              </a:lnSpc>
              <a:buFont typeface="Arial"/>
              <a:buChar char="•"/>
            </a:pPr>
            <a:r>
              <a:rPr lang="en-US" sz="1500">
                <a:solidFill>
                  <a:srgbClr val="000000"/>
                </a:solidFill>
                <a:latin typeface="Lato"/>
                <a:ea typeface="Lato"/>
                <a:cs typeface="Lato"/>
                <a:sym typeface="Lato"/>
              </a:rPr>
              <a:t>Latency must stay low so spoken guidance remains helpful and safe.</a:t>
            </a:r>
          </a:p>
          <a:p>
            <a:pPr algn="l" marL="323852" indent="-161926" lvl="1">
              <a:lnSpc>
                <a:spcPts val="1800"/>
              </a:lnSpc>
              <a:buFont typeface="Arial"/>
              <a:buChar char="•"/>
            </a:pPr>
            <a:r>
              <a:rPr lang="en-US" sz="1500">
                <a:solidFill>
                  <a:srgbClr val="000000"/>
                </a:solidFill>
                <a:latin typeface="Lato"/>
                <a:ea typeface="Lato"/>
                <a:cs typeface="Lato"/>
                <a:sym typeface="Lato"/>
              </a:rPr>
              <a:t>Model accuracy and battery efficiency must be balanced for mobile deployment.</a:t>
            </a:r>
          </a:p>
        </p:txBody>
      </p:sp>
      <p:sp>
        <p:nvSpPr>
          <p:cNvPr name="TextBox 6" id="6"/>
          <p:cNvSpPr txBox="true"/>
          <p:nvPr/>
        </p:nvSpPr>
        <p:spPr>
          <a:xfrm rot="0">
            <a:off x="9941459" y="5288357"/>
            <a:ext cx="6225540"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Building assistive AI means solving more than accuracy. The system must also remain fast, understandable, and reliable enough to support real users during everyday movement and reading tasks.</a:t>
            </a:r>
          </a:p>
        </p:txBody>
      </p:sp>
      <p:grpSp>
        <p:nvGrpSpPr>
          <p:cNvPr name="Group 7" id="7"/>
          <p:cNvGrpSpPr/>
          <p:nvPr/>
        </p:nvGrpSpPr>
        <p:grpSpPr>
          <a:xfrm rot="0">
            <a:off x="3137364" y="4916499"/>
            <a:ext cx="4796448" cy="4341801"/>
            <a:chOff x="0" y="0"/>
            <a:chExt cx="1263262" cy="1143520"/>
          </a:xfrm>
        </p:grpSpPr>
        <p:sp>
          <p:nvSpPr>
            <p:cNvPr name="Freeform 8" id="8"/>
            <p:cNvSpPr/>
            <p:nvPr/>
          </p:nvSpPr>
          <p:spPr>
            <a:xfrm flipH="false" flipV="false" rot="0">
              <a:off x="0" y="0"/>
              <a:ext cx="1263262" cy="1143520"/>
            </a:xfrm>
            <a:custGeom>
              <a:avLst/>
              <a:gdLst/>
              <a:ahLst/>
              <a:cxnLst/>
              <a:rect r="r" b="b" t="t" l="l"/>
              <a:pathLst>
                <a:path h="1143520" w="1263262">
                  <a:moveTo>
                    <a:pt x="96846" y="0"/>
                  </a:moveTo>
                  <a:lnTo>
                    <a:pt x="1166416" y="0"/>
                  </a:lnTo>
                  <a:cubicBezTo>
                    <a:pt x="1219903" y="0"/>
                    <a:pt x="1263262" y="43359"/>
                    <a:pt x="1263262" y="96846"/>
                  </a:cubicBezTo>
                  <a:lnTo>
                    <a:pt x="1263262" y="1046674"/>
                  </a:lnTo>
                  <a:cubicBezTo>
                    <a:pt x="1263262" y="1072359"/>
                    <a:pt x="1253059" y="1096992"/>
                    <a:pt x="1234897" y="1115154"/>
                  </a:cubicBezTo>
                  <a:cubicBezTo>
                    <a:pt x="1216735" y="1133316"/>
                    <a:pt x="1192101" y="1143520"/>
                    <a:pt x="1166416" y="1143520"/>
                  </a:cubicBezTo>
                  <a:lnTo>
                    <a:pt x="96846" y="1143520"/>
                  </a:lnTo>
                  <a:cubicBezTo>
                    <a:pt x="71161" y="1143520"/>
                    <a:pt x="46528" y="1133316"/>
                    <a:pt x="28365" y="1115154"/>
                  </a:cubicBezTo>
                  <a:cubicBezTo>
                    <a:pt x="10203" y="1096992"/>
                    <a:pt x="0" y="1072359"/>
                    <a:pt x="0" y="1046674"/>
                  </a:cubicBezTo>
                  <a:lnTo>
                    <a:pt x="0" y="96846"/>
                  </a:lnTo>
                  <a:cubicBezTo>
                    <a:pt x="0" y="71161"/>
                    <a:pt x="10203" y="46528"/>
                    <a:pt x="28365" y="28365"/>
                  </a:cubicBezTo>
                  <a:cubicBezTo>
                    <a:pt x="46528" y="10203"/>
                    <a:pt x="71161" y="0"/>
                    <a:pt x="96846" y="0"/>
                  </a:cubicBezTo>
                  <a:close/>
                </a:path>
              </a:pathLst>
            </a:custGeom>
            <a:solidFill>
              <a:srgbClr val="FAFAFA"/>
            </a:solidFill>
          </p:spPr>
        </p:sp>
        <p:sp>
          <p:nvSpPr>
            <p:cNvPr name="TextBox 9" id="9"/>
            <p:cNvSpPr txBox="true"/>
            <p:nvPr/>
          </p:nvSpPr>
          <p:spPr>
            <a:xfrm>
              <a:off x="0" y="-38100"/>
              <a:ext cx="1263262" cy="118162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8700" y="2243937"/>
            <a:ext cx="4506888" cy="5799126"/>
            <a:chOff x="0" y="0"/>
            <a:chExt cx="698235" cy="898436"/>
          </a:xfrm>
        </p:grpSpPr>
        <p:sp>
          <p:nvSpPr>
            <p:cNvPr name="Freeform 11" id="11"/>
            <p:cNvSpPr/>
            <p:nvPr/>
          </p:nvSpPr>
          <p:spPr>
            <a:xfrm flipH="false" flipV="false" rot="0">
              <a:off x="0" y="0"/>
              <a:ext cx="698235" cy="898436"/>
            </a:xfrm>
            <a:custGeom>
              <a:avLst/>
              <a:gdLst/>
              <a:ahLst/>
              <a:cxnLst/>
              <a:rect r="r" b="b" t="t" l="l"/>
              <a:pathLst>
                <a:path h="898436" w="698235">
                  <a:moveTo>
                    <a:pt x="85890" y="0"/>
                  </a:moveTo>
                  <a:lnTo>
                    <a:pt x="612345" y="0"/>
                  </a:lnTo>
                  <a:cubicBezTo>
                    <a:pt x="635124" y="0"/>
                    <a:pt x="656971" y="9049"/>
                    <a:pt x="673078" y="25157"/>
                  </a:cubicBezTo>
                  <a:cubicBezTo>
                    <a:pt x="689186" y="41264"/>
                    <a:pt x="698235" y="63110"/>
                    <a:pt x="698235" y="85890"/>
                  </a:cubicBezTo>
                  <a:lnTo>
                    <a:pt x="698235" y="812547"/>
                  </a:lnTo>
                  <a:cubicBezTo>
                    <a:pt x="698235" y="859982"/>
                    <a:pt x="659781" y="898436"/>
                    <a:pt x="612345" y="898436"/>
                  </a:cubicBezTo>
                  <a:lnTo>
                    <a:pt x="85890" y="898436"/>
                  </a:lnTo>
                  <a:cubicBezTo>
                    <a:pt x="63110" y="898436"/>
                    <a:pt x="41264" y="889387"/>
                    <a:pt x="25157" y="873280"/>
                  </a:cubicBezTo>
                  <a:cubicBezTo>
                    <a:pt x="9049" y="857172"/>
                    <a:pt x="0" y="835326"/>
                    <a:pt x="0" y="812547"/>
                  </a:cubicBezTo>
                  <a:lnTo>
                    <a:pt x="0" y="85890"/>
                  </a:lnTo>
                  <a:cubicBezTo>
                    <a:pt x="0" y="38454"/>
                    <a:pt x="38454" y="0"/>
                    <a:pt x="85890" y="0"/>
                  </a:cubicBezTo>
                  <a:close/>
                </a:path>
              </a:pathLst>
            </a:custGeom>
            <a:blipFill>
              <a:blip r:embed="rId4"/>
              <a:stretch>
                <a:fillRect l="-56547" t="0" r="-36461" b="0"/>
              </a:stretch>
            </a:blipFill>
          </p:spPr>
        </p:sp>
      </p:grpSp>
      <p:grpSp>
        <p:nvGrpSpPr>
          <p:cNvPr name="Group 12" id="12"/>
          <p:cNvGrpSpPr/>
          <p:nvPr/>
        </p:nvGrpSpPr>
        <p:grpSpPr>
          <a:xfrm rot="0">
            <a:off x="3282144" y="5061279"/>
            <a:ext cx="4506888" cy="4052241"/>
            <a:chOff x="0" y="0"/>
            <a:chExt cx="698235" cy="627798"/>
          </a:xfrm>
        </p:grpSpPr>
        <p:sp>
          <p:nvSpPr>
            <p:cNvPr name="Freeform 13" id="13"/>
            <p:cNvSpPr/>
            <p:nvPr/>
          </p:nvSpPr>
          <p:spPr>
            <a:xfrm flipH="false" flipV="false" rot="0">
              <a:off x="0" y="0"/>
              <a:ext cx="698235" cy="627798"/>
            </a:xfrm>
            <a:custGeom>
              <a:avLst/>
              <a:gdLst/>
              <a:ahLst/>
              <a:cxnLst/>
              <a:rect r="r" b="b" t="t" l="l"/>
              <a:pathLst>
                <a:path h="627798" w="698235">
                  <a:moveTo>
                    <a:pt x="85890" y="0"/>
                  </a:moveTo>
                  <a:lnTo>
                    <a:pt x="612345" y="0"/>
                  </a:lnTo>
                  <a:cubicBezTo>
                    <a:pt x="635124" y="0"/>
                    <a:pt x="656971" y="9049"/>
                    <a:pt x="673078" y="25157"/>
                  </a:cubicBezTo>
                  <a:cubicBezTo>
                    <a:pt x="689186" y="41264"/>
                    <a:pt x="698235" y="63110"/>
                    <a:pt x="698235" y="85890"/>
                  </a:cubicBezTo>
                  <a:lnTo>
                    <a:pt x="698235" y="541908"/>
                  </a:lnTo>
                  <a:cubicBezTo>
                    <a:pt x="698235" y="589344"/>
                    <a:pt x="659781" y="627798"/>
                    <a:pt x="612345" y="627798"/>
                  </a:cubicBezTo>
                  <a:lnTo>
                    <a:pt x="85890" y="627798"/>
                  </a:lnTo>
                  <a:cubicBezTo>
                    <a:pt x="63110" y="627798"/>
                    <a:pt x="41264" y="618749"/>
                    <a:pt x="25157" y="602642"/>
                  </a:cubicBezTo>
                  <a:cubicBezTo>
                    <a:pt x="9049" y="586534"/>
                    <a:pt x="0" y="564688"/>
                    <a:pt x="0" y="541908"/>
                  </a:cubicBezTo>
                  <a:lnTo>
                    <a:pt x="0" y="85890"/>
                  </a:lnTo>
                  <a:cubicBezTo>
                    <a:pt x="0" y="38454"/>
                    <a:pt x="38454" y="0"/>
                    <a:pt x="85890" y="0"/>
                  </a:cubicBezTo>
                  <a:close/>
                </a:path>
              </a:pathLst>
            </a:custGeom>
            <a:blipFill>
              <a:blip r:embed="rId5"/>
              <a:stretch>
                <a:fillRect l="-6435" t="0" r="-28433" b="0"/>
              </a:stretch>
            </a:blipFill>
          </p:spPr>
        </p:sp>
      </p:grpSp>
      <p:sp>
        <p:nvSpPr>
          <p:cNvPr name="TextBox 14" id="14"/>
          <p:cNvSpPr txBox="true"/>
          <p:nvPr/>
        </p:nvSpPr>
        <p:spPr>
          <a:xfrm rot="0">
            <a:off x="9941459" y="7701039"/>
            <a:ext cx="7317841" cy="9239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User trust depends on consistency, clarity, and low delay.</a:t>
            </a:r>
          </a:p>
        </p:txBody>
      </p:sp>
      <p:sp>
        <p:nvSpPr>
          <p:cNvPr name="Freeform 15" id="15"/>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7077560" y="2159484"/>
          <a:ext cx="10153165" cy="4661510"/>
        </p:xfrm>
        <a:graphic>
          <a:graphicData uri="http://schemas.openxmlformats.org/drawingml/2006/table">
            <a:tbl>
              <a:tblPr/>
              <a:tblGrid>
                <a:gridCol w="2538291"/>
                <a:gridCol w="2538291"/>
                <a:gridCol w="2538291"/>
                <a:gridCol w="2538291"/>
              </a:tblGrid>
              <a:tr h="1154885">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AI Demo</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Scene Walkthrough</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Guardian Eye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1. User points the camera toward the environment</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r>
              <a:tr h="793142">
                <a:tc>
                  <a:txBody>
                    <a:bodyPr anchor="t" rtlCol="false"/>
                    <a:lstStyle/>
                    <a:p>
                      <a:pPr algn="ctr">
                        <a:lnSpc>
                          <a:spcPts val="2100"/>
                        </a:lnSpc>
                        <a:defRPr/>
                      </a:pPr>
                      <a:r>
                        <a:rPr lang="en-US" sz="1500">
                          <a:solidFill>
                            <a:srgbClr val="000000"/>
                          </a:solidFill>
                          <a:latin typeface="Lato"/>
                          <a:ea typeface="Lato"/>
                          <a:cs typeface="Lato"/>
                          <a:sym typeface="Lato"/>
                        </a:rPr>
                        <a:t>2. YOLO detects nearby objects and hazards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3. OCR reads visible text such as signs or labels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4. LLM explains the result in simple language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5. Speech output tells the user what to do next</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1127199">
                <a:tc>
                  <a:txBody>
                    <a:bodyPr anchor="t" rtlCol="false"/>
                    <a:lstStyle/>
                    <a:p>
                      <a:pPr algn="ctr">
                        <a:lnSpc>
                          <a:spcPts val="2100"/>
                        </a:lnSpc>
                        <a:defRPr/>
                      </a:pPr>
                      <a:r>
                        <a:rPr lang="en-US" sz="1500">
                          <a:solidFill>
                            <a:srgbClr val="000000"/>
                          </a:solidFill>
                          <a:latin typeface="Lato"/>
                          <a:ea typeface="Lato"/>
                          <a:cs typeface="Lato"/>
                          <a:sym typeface="Lato"/>
                        </a:rPr>
                        <a:t>6. User can ask follow-up questions by voice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The demo shows how the AI pipeline works as one experience instead of separate features. From a single camera view, the app detects objects, reads text, interprets meaning, and answers through audio in a few seconds.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A complete assistive AI flow from vision to action</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93142">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93142">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bl>
          </a:graphicData>
        </a:graphic>
      </p:graphicFrame>
      <p:sp>
        <p:nvSpPr>
          <p:cNvPr name="TextBox 4" id="4"/>
          <p:cNvSpPr txBox="true"/>
          <p:nvPr/>
        </p:nvSpPr>
        <p:spPr>
          <a:xfrm rot="0">
            <a:off x="1028700" y="2264259"/>
            <a:ext cx="4739830" cy="2404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
            </a:r>
            <a:r>
              <a:rPr lang="en-US" sz="6500">
                <a:solidFill>
                  <a:srgbClr val="3F81F4"/>
                </a:solidFill>
                <a:latin typeface="Poppins"/>
                <a:ea typeface="Poppins"/>
                <a:cs typeface="Poppins"/>
                <a:sym typeface="Poppins"/>
              </a:rPr>
              <a:t/>
            </a:r>
            <a:r>
              <a:rPr lang="en-US" sz="6500" b="true">
                <a:solidFill>
                  <a:srgbClr val="000000"/>
                </a:solidFill>
                <a:latin typeface="Poppins Bold"/>
                <a:ea typeface="Poppins Bold"/>
                <a:cs typeface="Poppins Bold"/>
                <a:sym typeface="Poppins Bold"/>
              </a:rPr>
              <a:t/>
            </a:r>
            <a:r>
              <a:rPr lang="en-US" b="true" sz="6500">
                <a:solidFill>
                  <a:srgbClr val="000000"/>
                </a:solidFill>
                <a:latin typeface="Poppins Bold"/>
                <a:ea typeface="Poppins Bold"/>
                <a:cs typeface="Poppins Bold"/>
                <a:sym typeface="Poppins Bold"/>
              </a:rPr>
              <a:t/>
            </a:r>
          </a:p>
        </p:txBody>
      </p:sp>
      <p:sp>
        <p:nvSpPr>
          <p:cNvPr name="TextBox 5" id="5"/>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
            </a:r>
          </a:p>
        </p:txBody>
      </p:sp>
      <p:sp>
        <p:nvSpPr>
          <p:cNvPr name="TextBox 6" id="6"/>
          <p:cNvSpPr txBox="true"/>
          <p:nvPr/>
        </p:nvSpPr>
        <p:spPr>
          <a:xfrm rot="0">
            <a:off x="1028700" y="5439869"/>
            <a:ext cx="5108659"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
            </a:r>
          </a:p>
        </p:txBody>
      </p:sp>
      <p:grpSp>
        <p:nvGrpSpPr>
          <p:cNvPr name="Group 7" id="7"/>
          <p:cNvGrpSpPr/>
          <p:nvPr/>
        </p:nvGrpSpPr>
        <p:grpSpPr>
          <a:xfrm rot="0">
            <a:off x="1028700" y="7532678"/>
            <a:ext cx="16230600" cy="1725622"/>
            <a:chOff x="0" y="0"/>
            <a:chExt cx="2514545" cy="267344"/>
          </a:xfrm>
        </p:grpSpPr>
        <p:sp>
          <p:nvSpPr>
            <p:cNvPr name="Freeform 8" id="8"/>
            <p:cNvSpPr/>
            <p:nvPr/>
          </p:nvSpPr>
          <p:spPr>
            <a:xfrm flipH="false" flipV="false" rot="0">
              <a:off x="0" y="0"/>
              <a:ext cx="2514545" cy="267344"/>
            </a:xfrm>
            <a:custGeom>
              <a:avLst/>
              <a:gdLst/>
              <a:ahLst/>
              <a:cxnLst/>
              <a:rect r="r" b="b" t="t" l="l"/>
              <a:pathLst>
                <a:path h="267344" w="2514545">
                  <a:moveTo>
                    <a:pt x="0" y="0"/>
                  </a:moveTo>
                  <a:lnTo>
                    <a:pt x="2514545" y="0"/>
                  </a:lnTo>
                  <a:lnTo>
                    <a:pt x="2514545" y="267344"/>
                  </a:lnTo>
                  <a:lnTo>
                    <a:pt x="0" y="267344"/>
                  </a:lnTo>
                  <a:close/>
                </a:path>
              </a:pathLst>
            </a:custGeom>
            <a:blipFill>
              <a:blip r:embed="rId4"/>
              <a:stretch>
                <a:fillRect l="0" t="-263521" r="0" b="-263521"/>
              </a:stretch>
            </a:blipFill>
          </p:spPr>
        </p:sp>
      </p:grpSp>
      <p:sp>
        <p:nvSpPr>
          <p:cNvPr name="Freeform 9" id="9"/>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866428" y="3419212"/>
            <a:ext cx="4551699" cy="5262946"/>
            <a:chOff x="0" y="0"/>
            <a:chExt cx="1198801" cy="1386126"/>
          </a:xfrm>
        </p:grpSpPr>
        <p:sp>
          <p:nvSpPr>
            <p:cNvPr name="Freeform 4" id="4"/>
            <p:cNvSpPr/>
            <p:nvPr/>
          </p:nvSpPr>
          <p:spPr>
            <a:xfrm flipH="false" flipV="false" rot="0">
              <a:off x="0" y="0"/>
              <a:ext cx="1198802" cy="1386126"/>
            </a:xfrm>
            <a:custGeom>
              <a:avLst/>
              <a:gdLst/>
              <a:ahLst/>
              <a:cxnLst/>
              <a:rect r="r" b="b" t="t" l="l"/>
              <a:pathLst>
                <a:path h="1386126" w="1198802">
                  <a:moveTo>
                    <a:pt x="86745" y="0"/>
                  </a:moveTo>
                  <a:lnTo>
                    <a:pt x="1112056" y="0"/>
                  </a:lnTo>
                  <a:cubicBezTo>
                    <a:pt x="1135063" y="0"/>
                    <a:pt x="1157127" y="9139"/>
                    <a:pt x="1173394" y="25407"/>
                  </a:cubicBezTo>
                  <a:cubicBezTo>
                    <a:pt x="1189662" y="41675"/>
                    <a:pt x="1198802" y="63739"/>
                    <a:pt x="1198802" y="86745"/>
                  </a:cubicBezTo>
                  <a:lnTo>
                    <a:pt x="1198802" y="1299381"/>
                  </a:lnTo>
                  <a:cubicBezTo>
                    <a:pt x="1198802" y="1322387"/>
                    <a:pt x="1189662" y="1344451"/>
                    <a:pt x="1173394" y="1360719"/>
                  </a:cubicBezTo>
                  <a:cubicBezTo>
                    <a:pt x="1157127" y="1376987"/>
                    <a:pt x="1135063" y="1386126"/>
                    <a:pt x="1112056" y="1386126"/>
                  </a:cubicBezTo>
                  <a:lnTo>
                    <a:pt x="86745" y="1386126"/>
                  </a:lnTo>
                  <a:cubicBezTo>
                    <a:pt x="63739" y="1386126"/>
                    <a:pt x="41675" y="1376987"/>
                    <a:pt x="25407" y="1360719"/>
                  </a:cubicBezTo>
                  <a:cubicBezTo>
                    <a:pt x="9139" y="1344451"/>
                    <a:pt x="0" y="1322387"/>
                    <a:pt x="0" y="1299381"/>
                  </a:cubicBezTo>
                  <a:lnTo>
                    <a:pt x="0" y="86745"/>
                  </a:lnTo>
                  <a:cubicBezTo>
                    <a:pt x="0" y="63739"/>
                    <a:pt x="9139" y="41675"/>
                    <a:pt x="25407" y="25407"/>
                  </a:cubicBezTo>
                  <a:cubicBezTo>
                    <a:pt x="41675" y="9139"/>
                    <a:pt x="63739" y="0"/>
                    <a:pt x="86745" y="0"/>
                  </a:cubicBezTo>
                  <a:close/>
                </a:path>
              </a:pathLst>
            </a:custGeom>
            <a:gradFill rotWithShape="true">
              <a:gsLst>
                <a:gs pos="0">
                  <a:srgbClr val="3F81F4">
                    <a:alpha val="100000"/>
                  </a:srgbClr>
                </a:gs>
                <a:gs pos="100000">
                  <a:srgbClr val="85ABEF">
                    <a:alpha val="100000"/>
                  </a:srgbClr>
                </a:gs>
              </a:gsLst>
              <a:lin ang="0"/>
            </a:gradFill>
          </p:spPr>
        </p:sp>
        <p:sp>
          <p:nvSpPr>
            <p:cNvPr name="TextBox 5" id="5"/>
            <p:cNvSpPr txBox="true"/>
            <p:nvPr/>
          </p:nvSpPr>
          <p:spPr>
            <a:xfrm>
              <a:off x="0" y="-38100"/>
              <a:ext cx="1198801" cy="1424226"/>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1669222" y="3419212"/>
            <a:ext cx="4551699" cy="5262946"/>
            <a:chOff x="0" y="0"/>
            <a:chExt cx="1198801" cy="1386126"/>
          </a:xfrm>
        </p:grpSpPr>
        <p:sp>
          <p:nvSpPr>
            <p:cNvPr name="Freeform 7" id="7"/>
            <p:cNvSpPr/>
            <p:nvPr/>
          </p:nvSpPr>
          <p:spPr>
            <a:xfrm flipH="false" flipV="false" rot="0">
              <a:off x="0" y="0"/>
              <a:ext cx="1198802" cy="1386126"/>
            </a:xfrm>
            <a:custGeom>
              <a:avLst/>
              <a:gdLst/>
              <a:ahLst/>
              <a:cxnLst/>
              <a:rect r="r" b="b" t="t" l="l"/>
              <a:pathLst>
                <a:path h="1386126" w="1198802">
                  <a:moveTo>
                    <a:pt x="86745" y="0"/>
                  </a:moveTo>
                  <a:lnTo>
                    <a:pt x="1112056" y="0"/>
                  </a:lnTo>
                  <a:cubicBezTo>
                    <a:pt x="1135063" y="0"/>
                    <a:pt x="1157127" y="9139"/>
                    <a:pt x="1173394" y="25407"/>
                  </a:cubicBezTo>
                  <a:cubicBezTo>
                    <a:pt x="1189662" y="41675"/>
                    <a:pt x="1198802" y="63739"/>
                    <a:pt x="1198802" y="86745"/>
                  </a:cubicBezTo>
                  <a:lnTo>
                    <a:pt x="1198802" y="1299381"/>
                  </a:lnTo>
                  <a:cubicBezTo>
                    <a:pt x="1198802" y="1322387"/>
                    <a:pt x="1189662" y="1344451"/>
                    <a:pt x="1173394" y="1360719"/>
                  </a:cubicBezTo>
                  <a:cubicBezTo>
                    <a:pt x="1157127" y="1376987"/>
                    <a:pt x="1135063" y="1386126"/>
                    <a:pt x="1112056" y="1386126"/>
                  </a:cubicBezTo>
                  <a:lnTo>
                    <a:pt x="86745" y="1386126"/>
                  </a:lnTo>
                  <a:cubicBezTo>
                    <a:pt x="63739" y="1386126"/>
                    <a:pt x="41675" y="1376987"/>
                    <a:pt x="25407" y="1360719"/>
                  </a:cubicBezTo>
                  <a:cubicBezTo>
                    <a:pt x="9139" y="1344451"/>
                    <a:pt x="0" y="1322387"/>
                    <a:pt x="0" y="1299381"/>
                  </a:cubicBezTo>
                  <a:lnTo>
                    <a:pt x="0" y="86745"/>
                  </a:lnTo>
                  <a:cubicBezTo>
                    <a:pt x="0" y="63739"/>
                    <a:pt x="9139" y="41675"/>
                    <a:pt x="25407" y="25407"/>
                  </a:cubicBezTo>
                  <a:cubicBezTo>
                    <a:pt x="41675" y="9139"/>
                    <a:pt x="63739" y="0"/>
                    <a:pt x="86745" y="0"/>
                  </a:cubicBezTo>
                  <a:close/>
                </a:path>
              </a:pathLst>
            </a:custGeom>
            <a:gradFill rotWithShape="true">
              <a:gsLst>
                <a:gs pos="0">
                  <a:srgbClr val="3F81F4">
                    <a:alpha val="100000"/>
                  </a:srgbClr>
                </a:gs>
                <a:gs pos="100000">
                  <a:srgbClr val="85ABEF">
                    <a:alpha val="100000"/>
                  </a:srgbClr>
                </a:gs>
              </a:gsLst>
              <a:lin ang="0"/>
            </a:gradFill>
          </p:spPr>
        </p:sp>
        <p:sp>
          <p:nvSpPr>
            <p:cNvPr name="TextBox 8" id="8"/>
            <p:cNvSpPr txBox="true"/>
            <p:nvPr/>
          </p:nvSpPr>
          <p:spPr>
            <a:xfrm>
              <a:off x="0" y="-38100"/>
              <a:ext cx="1198801" cy="1424226"/>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2067078" y="3419212"/>
            <a:ext cx="4551699" cy="5262946"/>
            <a:chOff x="0" y="0"/>
            <a:chExt cx="1198801" cy="1386126"/>
          </a:xfrm>
        </p:grpSpPr>
        <p:sp>
          <p:nvSpPr>
            <p:cNvPr name="Freeform 10" id="10"/>
            <p:cNvSpPr/>
            <p:nvPr/>
          </p:nvSpPr>
          <p:spPr>
            <a:xfrm flipH="false" flipV="false" rot="0">
              <a:off x="0" y="0"/>
              <a:ext cx="1198802" cy="1386126"/>
            </a:xfrm>
            <a:custGeom>
              <a:avLst/>
              <a:gdLst/>
              <a:ahLst/>
              <a:cxnLst/>
              <a:rect r="r" b="b" t="t" l="l"/>
              <a:pathLst>
                <a:path h="1386126" w="1198802">
                  <a:moveTo>
                    <a:pt x="86745" y="0"/>
                  </a:moveTo>
                  <a:lnTo>
                    <a:pt x="1112056" y="0"/>
                  </a:lnTo>
                  <a:cubicBezTo>
                    <a:pt x="1135063" y="0"/>
                    <a:pt x="1157127" y="9139"/>
                    <a:pt x="1173394" y="25407"/>
                  </a:cubicBezTo>
                  <a:cubicBezTo>
                    <a:pt x="1189662" y="41675"/>
                    <a:pt x="1198802" y="63739"/>
                    <a:pt x="1198802" y="86745"/>
                  </a:cubicBezTo>
                  <a:lnTo>
                    <a:pt x="1198802" y="1299381"/>
                  </a:lnTo>
                  <a:cubicBezTo>
                    <a:pt x="1198802" y="1322387"/>
                    <a:pt x="1189662" y="1344451"/>
                    <a:pt x="1173394" y="1360719"/>
                  </a:cubicBezTo>
                  <a:cubicBezTo>
                    <a:pt x="1157127" y="1376987"/>
                    <a:pt x="1135063" y="1386126"/>
                    <a:pt x="1112056" y="1386126"/>
                  </a:cubicBezTo>
                  <a:lnTo>
                    <a:pt x="86745" y="1386126"/>
                  </a:lnTo>
                  <a:cubicBezTo>
                    <a:pt x="63739" y="1386126"/>
                    <a:pt x="41675" y="1376987"/>
                    <a:pt x="25407" y="1360719"/>
                  </a:cubicBezTo>
                  <a:cubicBezTo>
                    <a:pt x="9139" y="1344451"/>
                    <a:pt x="0" y="1322387"/>
                    <a:pt x="0" y="1299381"/>
                  </a:cubicBezTo>
                  <a:lnTo>
                    <a:pt x="0" y="86745"/>
                  </a:lnTo>
                  <a:cubicBezTo>
                    <a:pt x="0" y="63739"/>
                    <a:pt x="9139" y="41675"/>
                    <a:pt x="25407" y="25407"/>
                  </a:cubicBezTo>
                  <a:cubicBezTo>
                    <a:pt x="41675" y="9139"/>
                    <a:pt x="63739" y="0"/>
                    <a:pt x="86745" y="0"/>
                  </a:cubicBezTo>
                  <a:close/>
                </a:path>
              </a:pathLst>
            </a:custGeom>
            <a:gradFill rotWithShape="true">
              <a:gsLst>
                <a:gs pos="0">
                  <a:srgbClr val="3F81F4">
                    <a:alpha val="100000"/>
                  </a:srgbClr>
                </a:gs>
                <a:gs pos="100000">
                  <a:srgbClr val="85ABEF">
                    <a:alpha val="100000"/>
                  </a:srgbClr>
                </a:gs>
              </a:gsLst>
              <a:lin ang="0"/>
            </a:gradFill>
          </p:spPr>
        </p:sp>
        <p:sp>
          <p:nvSpPr>
            <p:cNvPr name="TextBox 11" id="11"/>
            <p:cNvSpPr txBox="true"/>
            <p:nvPr/>
          </p:nvSpPr>
          <p:spPr>
            <a:xfrm>
              <a:off x="0" y="-38100"/>
              <a:ext cx="1198801" cy="142422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2480329" y="4242576"/>
            <a:ext cx="3725199" cy="2980676"/>
            <a:chOff x="0" y="0"/>
            <a:chExt cx="577131" cy="461785"/>
          </a:xfrm>
        </p:grpSpPr>
        <p:sp>
          <p:nvSpPr>
            <p:cNvPr name="Freeform 13" id="13"/>
            <p:cNvSpPr/>
            <p:nvPr/>
          </p:nvSpPr>
          <p:spPr>
            <a:xfrm flipH="false" flipV="false" rot="0">
              <a:off x="0" y="0"/>
              <a:ext cx="577131" cy="461785"/>
            </a:xfrm>
            <a:custGeom>
              <a:avLst/>
              <a:gdLst/>
              <a:ahLst/>
              <a:cxnLst/>
              <a:rect r="r" b="b" t="t" l="l"/>
              <a:pathLst>
                <a:path h="461785" w="577131">
                  <a:moveTo>
                    <a:pt x="103913" y="0"/>
                  </a:moveTo>
                  <a:lnTo>
                    <a:pt x="473218" y="0"/>
                  </a:lnTo>
                  <a:cubicBezTo>
                    <a:pt x="500777" y="0"/>
                    <a:pt x="527208" y="10948"/>
                    <a:pt x="546695" y="30435"/>
                  </a:cubicBezTo>
                  <a:cubicBezTo>
                    <a:pt x="566183" y="49923"/>
                    <a:pt x="577131" y="76353"/>
                    <a:pt x="577131" y="103913"/>
                  </a:cubicBezTo>
                  <a:lnTo>
                    <a:pt x="577131" y="357872"/>
                  </a:lnTo>
                  <a:cubicBezTo>
                    <a:pt x="577131" y="385431"/>
                    <a:pt x="566183" y="411862"/>
                    <a:pt x="546695" y="431349"/>
                  </a:cubicBezTo>
                  <a:cubicBezTo>
                    <a:pt x="527208" y="450837"/>
                    <a:pt x="500777" y="461785"/>
                    <a:pt x="473218" y="461785"/>
                  </a:cubicBezTo>
                  <a:lnTo>
                    <a:pt x="103913" y="461785"/>
                  </a:lnTo>
                  <a:cubicBezTo>
                    <a:pt x="76353" y="461785"/>
                    <a:pt x="49923" y="450837"/>
                    <a:pt x="30435" y="431349"/>
                  </a:cubicBezTo>
                  <a:cubicBezTo>
                    <a:pt x="10948" y="411862"/>
                    <a:pt x="0" y="385431"/>
                    <a:pt x="0" y="357872"/>
                  </a:cubicBezTo>
                  <a:lnTo>
                    <a:pt x="0" y="103913"/>
                  </a:lnTo>
                  <a:cubicBezTo>
                    <a:pt x="0" y="76353"/>
                    <a:pt x="10948" y="49923"/>
                    <a:pt x="30435" y="30435"/>
                  </a:cubicBezTo>
                  <a:cubicBezTo>
                    <a:pt x="49923" y="10948"/>
                    <a:pt x="76353" y="0"/>
                    <a:pt x="103913" y="0"/>
                  </a:cubicBezTo>
                  <a:close/>
                </a:path>
              </a:pathLst>
            </a:custGeom>
            <a:blipFill>
              <a:blip r:embed="rId4"/>
              <a:stretch>
                <a:fillRect l="-6703" t="-3588" r="-49826" b="-26830"/>
              </a:stretch>
            </a:blipFill>
          </p:spPr>
        </p:sp>
      </p:grpSp>
      <p:grpSp>
        <p:nvGrpSpPr>
          <p:cNvPr name="Group 14" id="14"/>
          <p:cNvGrpSpPr/>
          <p:nvPr/>
        </p:nvGrpSpPr>
        <p:grpSpPr>
          <a:xfrm rot="0">
            <a:off x="7279678" y="4242576"/>
            <a:ext cx="3725199" cy="2980676"/>
            <a:chOff x="0" y="0"/>
            <a:chExt cx="577131" cy="461785"/>
          </a:xfrm>
        </p:grpSpPr>
        <p:sp>
          <p:nvSpPr>
            <p:cNvPr name="Freeform 15" id="15"/>
            <p:cNvSpPr/>
            <p:nvPr/>
          </p:nvSpPr>
          <p:spPr>
            <a:xfrm flipH="false" flipV="false" rot="0">
              <a:off x="0" y="0"/>
              <a:ext cx="577131" cy="461785"/>
            </a:xfrm>
            <a:custGeom>
              <a:avLst/>
              <a:gdLst/>
              <a:ahLst/>
              <a:cxnLst/>
              <a:rect r="r" b="b" t="t" l="l"/>
              <a:pathLst>
                <a:path h="461785" w="577131">
                  <a:moveTo>
                    <a:pt x="103913" y="0"/>
                  </a:moveTo>
                  <a:lnTo>
                    <a:pt x="473218" y="0"/>
                  </a:lnTo>
                  <a:cubicBezTo>
                    <a:pt x="500777" y="0"/>
                    <a:pt x="527208" y="10948"/>
                    <a:pt x="546695" y="30435"/>
                  </a:cubicBezTo>
                  <a:cubicBezTo>
                    <a:pt x="566183" y="49923"/>
                    <a:pt x="577131" y="76353"/>
                    <a:pt x="577131" y="103913"/>
                  </a:cubicBezTo>
                  <a:lnTo>
                    <a:pt x="577131" y="357872"/>
                  </a:lnTo>
                  <a:cubicBezTo>
                    <a:pt x="577131" y="385431"/>
                    <a:pt x="566183" y="411862"/>
                    <a:pt x="546695" y="431349"/>
                  </a:cubicBezTo>
                  <a:cubicBezTo>
                    <a:pt x="527208" y="450837"/>
                    <a:pt x="500777" y="461785"/>
                    <a:pt x="473218" y="461785"/>
                  </a:cubicBezTo>
                  <a:lnTo>
                    <a:pt x="103913" y="461785"/>
                  </a:lnTo>
                  <a:cubicBezTo>
                    <a:pt x="76353" y="461785"/>
                    <a:pt x="49923" y="450837"/>
                    <a:pt x="30435" y="431349"/>
                  </a:cubicBezTo>
                  <a:cubicBezTo>
                    <a:pt x="10948" y="411862"/>
                    <a:pt x="0" y="385431"/>
                    <a:pt x="0" y="357872"/>
                  </a:cubicBezTo>
                  <a:lnTo>
                    <a:pt x="0" y="103913"/>
                  </a:lnTo>
                  <a:cubicBezTo>
                    <a:pt x="0" y="76353"/>
                    <a:pt x="10948" y="49923"/>
                    <a:pt x="30435" y="30435"/>
                  </a:cubicBezTo>
                  <a:cubicBezTo>
                    <a:pt x="49923" y="10948"/>
                    <a:pt x="76353" y="0"/>
                    <a:pt x="103913" y="0"/>
                  </a:cubicBezTo>
                  <a:close/>
                </a:path>
              </a:pathLst>
            </a:custGeom>
            <a:blipFill>
              <a:blip r:embed="rId5"/>
              <a:stretch>
                <a:fillRect l="-16221" t="-416" r="-35476" b="-25976"/>
              </a:stretch>
            </a:blipFill>
          </p:spPr>
        </p:sp>
      </p:grpSp>
      <p:grpSp>
        <p:nvGrpSpPr>
          <p:cNvPr name="Group 16" id="16"/>
          <p:cNvGrpSpPr/>
          <p:nvPr/>
        </p:nvGrpSpPr>
        <p:grpSpPr>
          <a:xfrm rot="0">
            <a:off x="12082473" y="4242576"/>
            <a:ext cx="3725199" cy="2980676"/>
            <a:chOff x="0" y="0"/>
            <a:chExt cx="577131" cy="461785"/>
          </a:xfrm>
        </p:grpSpPr>
        <p:sp>
          <p:nvSpPr>
            <p:cNvPr name="Freeform 17" id="17"/>
            <p:cNvSpPr/>
            <p:nvPr/>
          </p:nvSpPr>
          <p:spPr>
            <a:xfrm flipH="false" flipV="false" rot="0">
              <a:off x="0" y="0"/>
              <a:ext cx="577131" cy="461785"/>
            </a:xfrm>
            <a:custGeom>
              <a:avLst/>
              <a:gdLst/>
              <a:ahLst/>
              <a:cxnLst/>
              <a:rect r="r" b="b" t="t" l="l"/>
              <a:pathLst>
                <a:path h="461785" w="577131">
                  <a:moveTo>
                    <a:pt x="103913" y="0"/>
                  </a:moveTo>
                  <a:lnTo>
                    <a:pt x="473218" y="0"/>
                  </a:lnTo>
                  <a:cubicBezTo>
                    <a:pt x="500777" y="0"/>
                    <a:pt x="527208" y="10948"/>
                    <a:pt x="546695" y="30435"/>
                  </a:cubicBezTo>
                  <a:cubicBezTo>
                    <a:pt x="566183" y="49923"/>
                    <a:pt x="577131" y="76353"/>
                    <a:pt x="577131" y="103913"/>
                  </a:cubicBezTo>
                  <a:lnTo>
                    <a:pt x="577131" y="357872"/>
                  </a:lnTo>
                  <a:cubicBezTo>
                    <a:pt x="577131" y="385431"/>
                    <a:pt x="566183" y="411862"/>
                    <a:pt x="546695" y="431349"/>
                  </a:cubicBezTo>
                  <a:cubicBezTo>
                    <a:pt x="527208" y="450837"/>
                    <a:pt x="500777" y="461785"/>
                    <a:pt x="473218" y="461785"/>
                  </a:cubicBezTo>
                  <a:lnTo>
                    <a:pt x="103913" y="461785"/>
                  </a:lnTo>
                  <a:cubicBezTo>
                    <a:pt x="76353" y="461785"/>
                    <a:pt x="49923" y="450837"/>
                    <a:pt x="30435" y="431349"/>
                  </a:cubicBezTo>
                  <a:cubicBezTo>
                    <a:pt x="10948" y="411862"/>
                    <a:pt x="0" y="385431"/>
                    <a:pt x="0" y="357872"/>
                  </a:cubicBezTo>
                  <a:lnTo>
                    <a:pt x="0" y="103913"/>
                  </a:lnTo>
                  <a:cubicBezTo>
                    <a:pt x="0" y="76353"/>
                    <a:pt x="10948" y="49923"/>
                    <a:pt x="30435" y="30435"/>
                  </a:cubicBezTo>
                  <a:cubicBezTo>
                    <a:pt x="49923" y="10948"/>
                    <a:pt x="76353" y="0"/>
                    <a:pt x="103913" y="0"/>
                  </a:cubicBezTo>
                  <a:close/>
                </a:path>
              </a:pathLst>
            </a:custGeom>
            <a:blipFill>
              <a:blip r:embed="rId6"/>
              <a:stretch>
                <a:fillRect l="-24039" t="0" r="-22518" b="-22110"/>
              </a:stretch>
            </a:blipFill>
          </p:spPr>
        </p:sp>
      </p:grpSp>
      <p:grpSp>
        <p:nvGrpSpPr>
          <p:cNvPr name="Group 18" id="18"/>
          <p:cNvGrpSpPr/>
          <p:nvPr/>
        </p:nvGrpSpPr>
        <p:grpSpPr>
          <a:xfrm rot="0">
            <a:off x="4273740" y="3831096"/>
            <a:ext cx="135926" cy="13592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9074813" y="3831096"/>
            <a:ext cx="135926" cy="13592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4056062" y="3831096"/>
            <a:ext cx="135926" cy="13592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8857134" y="3831096"/>
            <a:ext cx="135926" cy="135926"/>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4493867" y="3831096"/>
            <a:ext cx="135926" cy="135926"/>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9294939" y="3831096"/>
            <a:ext cx="135926" cy="13592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5134339" y="2045386"/>
            <a:ext cx="8015876" cy="880110"/>
          </a:xfrm>
          <a:prstGeom prst="rect">
            <a:avLst/>
          </a:prstGeom>
        </p:spPr>
        <p:txBody>
          <a:bodyPr anchor="t" rtlCol="false" tIns="0" lIns="0" bIns="0" rIns="0">
            <a:spAutoFit/>
          </a:bodyPr>
          <a:lstStyle/>
          <a:p>
            <a:pPr algn="ctr">
              <a:lnSpc>
                <a:spcPts val="6045"/>
              </a:lnSpc>
            </a:pPr>
            <a:r>
              <a:rPr lang="en-US" sz="6500">
                <a:solidFill>
                  <a:srgbClr val="3F81F4"/>
                </a:solidFill>
                <a:latin typeface="Poppins"/>
                <a:ea typeface="Poppins"/>
                <a:cs typeface="Poppins"/>
                <a:sym typeface="Poppins"/>
              </a:rPr>
              <a:t>Software</a:t>
            </a:r>
            <a:r>
              <a:rPr lang="en-US" b="true" sz="6500">
                <a:solidFill>
                  <a:srgbClr val="000000"/>
                </a:solidFill>
                <a:latin typeface="Poppins Bold"/>
                <a:ea typeface="Poppins Bold"/>
                <a:cs typeface="Poppins Bold"/>
                <a:sym typeface="Poppins Bold"/>
              </a:rPr>
              <a:t> Development</a:t>
            </a:r>
          </a:p>
        </p:txBody>
      </p:sp>
      <p:sp>
        <p:nvSpPr>
          <p:cNvPr name="TextBox 37" id="37"/>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sp>
        <p:nvSpPr>
          <p:cNvPr name="TextBox 38" id="38"/>
          <p:cNvSpPr txBox="true"/>
          <p:nvPr/>
        </p:nvSpPr>
        <p:spPr>
          <a:xfrm rot="0">
            <a:off x="2709658" y="7682318"/>
            <a:ext cx="3266540" cy="295275"/>
          </a:xfrm>
          <a:prstGeom prst="rect">
            <a:avLst/>
          </a:prstGeom>
        </p:spPr>
        <p:txBody>
          <a:bodyPr anchor="t" rtlCol="false" tIns="0" lIns="0" bIns="0" rIns="0">
            <a:spAutoFit/>
          </a:bodyPr>
          <a:lstStyle/>
          <a:p>
            <a:pPr algn="ctr">
              <a:lnSpc>
                <a:spcPts val="2399"/>
              </a:lnSpc>
            </a:pPr>
            <a:r>
              <a:rPr lang="en-US" b="true" sz="1999" spc="-39">
                <a:solidFill>
                  <a:srgbClr val="FAFAFA"/>
                </a:solidFill>
                <a:latin typeface="Lato Bold"/>
                <a:ea typeface="Lato Bold"/>
                <a:cs typeface="Lato Bold"/>
                <a:sym typeface="Lato Bold"/>
              </a:rPr>
              <a:t>Mobile App Frontend</a:t>
            </a:r>
          </a:p>
        </p:txBody>
      </p:sp>
      <p:sp>
        <p:nvSpPr>
          <p:cNvPr name="TextBox 39" id="39"/>
          <p:cNvSpPr txBox="true"/>
          <p:nvPr/>
        </p:nvSpPr>
        <p:spPr>
          <a:xfrm rot="0">
            <a:off x="2709658" y="7968068"/>
            <a:ext cx="3266540" cy="238125"/>
          </a:xfrm>
          <a:prstGeom prst="rect">
            <a:avLst/>
          </a:prstGeom>
        </p:spPr>
        <p:txBody>
          <a:bodyPr anchor="t" rtlCol="false" tIns="0" lIns="0" bIns="0" rIns="0">
            <a:spAutoFit/>
          </a:bodyPr>
          <a:lstStyle/>
          <a:p>
            <a:pPr algn="ctr">
              <a:lnSpc>
                <a:spcPts val="1800"/>
              </a:lnSpc>
            </a:pPr>
            <a:r>
              <a:rPr lang="en-US" sz="1500" i="true" spc="-30">
                <a:solidFill>
                  <a:srgbClr val="FAFAFA"/>
                </a:solidFill>
                <a:latin typeface="Lato Italics"/>
                <a:ea typeface="Lato Italics"/>
                <a:cs typeface="Lato Italics"/>
                <a:sym typeface="Lato Italics"/>
              </a:rPr>
              <a:t>Flutter / accessible UI design</a:t>
            </a:r>
          </a:p>
        </p:txBody>
      </p:sp>
      <p:sp>
        <p:nvSpPr>
          <p:cNvPr name="TextBox 40" id="40"/>
          <p:cNvSpPr txBox="true"/>
          <p:nvPr/>
        </p:nvSpPr>
        <p:spPr>
          <a:xfrm rot="0">
            <a:off x="7509008" y="7682318"/>
            <a:ext cx="3266540" cy="295275"/>
          </a:xfrm>
          <a:prstGeom prst="rect">
            <a:avLst/>
          </a:prstGeom>
        </p:spPr>
        <p:txBody>
          <a:bodyPr anchor="t" rtlCol="false" tIns="0" lIns="0" bIns="0" rIns="0">
            <a:spAutoFit/>
          </a:bodyPr>
          <a:lstStyle/>
          <a:p>
            <a:pPr algn="ctr">
              <a:lnSpc>
                <a:spcPts val="2399"/>
              </a:lnSpc>
            </a:pPr>
            <a:r>
              <a:rPr lang="en-US" b="true" sz="1999" spc="-39">
                <a:solidFill>
                  <a:srgbClr val="FAFAFA"/>
                </a:solidFill>
                <a:latin typeface="Lato Bold"/>
                <a:ea typeface="Lato Bold"/>
                <a:cs typeface="Lato Bold"/>
                <a:sym typeface="Lato Bold"/>
              </a:rPr>
              <a:t>Backend and AI Integration</a:t>
            </a:r>
          </a:p>
        </p:txBody>
      </p:sp>
      <p:sp>
        <p:nvSpPr>
          <p:cNvPr name="TextBox 41" id="41"/>
          <p:cNvSpPr txBox="true"/>
          <p:nvPr/>
        </p:nvSpPr>
        <p:spPr>
          <a:xfrm rot="0">
            <a:off x="7509008" y="7968068"/>
            <a:ext cx="3266540" cy="238125"/>
          </a:xfrm>
          <a:prstGeom prst="rect">
            <a:avLst/>
          </a:prstGeom>
        </p:spPr>
        <p:txBody>
          <a:bodyPr anchor="t" rtlCol="false" tIns="0" lIns="0" bIns="0" rIns="0">
            <a:spAutoFit/>
          </a:bodyPr>
          <a:lstStyle/>
          <a:p>
            <a:pPr algn="ctr">
              <a:lnSpc>
                <a:spcPts val="1800"/>
              </a:lnSpc>
            </a:pPr>
            <a:r>
              <a:rPr lang="en-US" sz="1500" i="true" spc="-30">
                <a:solidFill>
                  <a:srgbClr val="FAFAFA"/>
                </a:solidFill>
                <a:latin typeface="Lato Italics"/>
                <a:ea typeface="Lato Italics"/>
                <a:cs typeface="Lato Italics"/>
                <a:sym typeface="Lato Italics"/>
              </a:rPr>
              <a:t>Model serving and API communication</a:t>
            </a:r>
          </a:p>
        </p:txBody>
      </p:sp>
      <p:sp>
        <p:nvSpPr>
          <p:cNvPr name="TextBox 42" id="42"/>
          <p:cNvSpPr txBox="true"/>
          <p:nvPr/>
        </p:nvSpPr>
        <p:spPr>
          <a:xfrm rot="0">
            <a:off x="12311802" y="7682318"/>
            <a:ext cx="3266540" cy="295275"/>
          </a:xfrm>
          <a:prstGeom prst="rect">
            <a:avLst/>
          </a:prstGeom>
        </p:spPr>
        <p:txBody>
          <a:bodyPr anchor="t" rtlCol="false" tIns="0" lIns="0" bIns="0" rIns="0">
            <a:spAutoFit/>
          </a:bodyPr>
          <a:lstStyle/>
          <a:p>
            <a:pPr algn="ctr">
              <a:lnSpc>
                <a:spcPts val="2399"/>
              </a:lnSpc>
            </a:pPr>
            <a:r>
              <a:rPr lang="en-US" b="true" sz="1999" spc="-39">
                <a:solidFill>
                  <a:srgbClr val="FAFAFA"/>
                </a:solidFill>
                <a:latin typeface="Lato Bold"/>
                <a:ea typeface="Lato Bold"/>
                <a:cs typeface="Lato Bold"/>
                <a:sym typeface="Lato Bold"/>
              </a:rPr>
              <a:t>Testing and Iteration</a:t>
            </a:r>
          </a:p>
        </p:txBody>
      </p:sp>
      <p:sp>
        <p:nvSpPr>
          <p:cNvPr name="TextBox 43" id="43"/>
          <p:cNvSpPr txBox="true"/>
          <p:nvPr/>
        </p:nvSpPr>
        <p:spPr>
          <a:xfrm rot="0">
            <a:off x="12311802" y="7968068"/>
            <a:ext cx="3266540" cy="238125"/>
          </a:xfrm>
          <a:prstGeom prst="rect">
            <a:avLst/>
          </a:prstGeom>
        </p:spPr>
        <p:txBody>
          <a:bodyPr anchor="t" rtlCol="false" tIns="0" lIns="0" bIns="0" rIns="0">
            <a:spAutoFit/>
          </a:bodyPr>
          <a:lstStyle/>
          <a:p>
            <a:pPr algn="ctr">
              <a:lnSpc>
                <a:spcPts val="1800"/>
              </a:lnSpc>
            </a:pPr>
            <a:r>
              <a:rPr lang="en-US" sz="1500" i="true" spc="-30">
                <a:solidFill>
                  <a:srgbClr val="FAFAFA"/>
                </a:solidFill>
                <a:latin typeface="Lato Italics"/>
                <a:ea typeface="Lato Italics"/>
                <a:cs typeface="Lato Italics"/>
                <a:sym typeface="Lato Italics"/>
              </a:rPr>
              <a:t>Usability feedback with assistive scenarios</a:t>
            </a:r>
          </a:p>
        </p:txBody>
      </p:sp>
      <p:grpSp>
        <p:nvGrpSpPr>
          <p:cNvPr name="Group 44" id="44"/>
          <p:cNvGrpSpPr/>
          <p:nvPr/>
        </p:nvGrpSpPr>
        <p:grpSpPr>
          <a:xfrm rot="0">
            <a:off x="13875885" y="3831096"/>
            <a:ext cx="135926" cy="135926"/>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46" id="4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7" id="47"/>
          <p:cNvGrpSpPr/>
          <p:nvPr/>
        </p:nvGrpSpPr>
        <p:grpSpPr>
          <a:xfrm rot="0">
            <a:off x="13658206" y="3831096"/>
            <a:ext cx="135926" cy="135926"/>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0">
            <a:off x="14096011" y="3831096"/>
            <a:ext cx="135926" cy="135926"/>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FAFA"/>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53" id="53"/>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7"/>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348712"/>
            <a:ext cx="8015876"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App Demo</a:t>
            </a:r>
            <a:r>
              <a:rPr lang="en-US" sz="6500">
                <a:solidFill>
                  <a:srgbClr val="3F81F4"/>
                </a:solidFill>
                <a:latin typeface="Poppins"/>
                <a:ea typeface="Poppins"/>
                <a:cs typeface="Poppins"/>
                <a:sym typeface="Poppins"/>
              </a:rPr>
              <a:t>Screens</a:t>
            </a:r>
            <a:r>
              <a:rPr lang="en-US" sz="6500" b="true">
                <a:solidFill>
                  <a:srgbClr val="000000"/>
                </a:solidFill>
                <a:latin typeface="Poppins Bold"/>
                <a:ea typeface="Poppins Bold"/>
                <a:cs typeface="Poppins Bold"/>
                <a:sym typeface="Poppins Bold"/>
              </a:rPr>
              <a:t>and Results</a:t>
            </a:r>
            <a:r>
              <a:rPr lang="en-US" b="true" sz="6500">
                <a:solidFill>
                  <a:srgbClr val="000000"/>
                </a:solidFill>
                <a:latin typeface="Poppins Bold"/>
                <a:ea typeface="Poppins Bold"/>
                <a:cs typeface="Poppins Bold"/>
                <a:sym typeface="Poppins Bold"/>
              </a:rPr>
              <a:t>Overview</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Feature</a:t>
            </a:r>
          </a:p>
        </p:txBody>
      </p:sp>
      <p:grpSp>
        <p:nvGrpSpPr>
          <p:cNvPr name="Group 5" id="5"/>
          <p:cNvGrpSpPr/>
          <p:nvPr/>
        </p:nvGrpSpPr>
        <p:grpSpPr>
          <a:xfrm rot="0">
            <a:off x="15572202" y="0"/>
            <a:ext cx="2715798" cy="7091362"/>
            <a:chOff x="0" y="0"/>
            <a:chExt cx="321872" cy="840458"/>
          </a:xfrm>
        </p:grpSpPr>
        <p:sp>
          <p:nvSpPr>
            <p:cNvPr name="Freeform 6" id="6"/>
            <p:cNvSpPr/>
            <p:nvPr/>
          </p:nvSpPr>
          <p:spPr>
            <a:xfrm flipH="false" flipV="false" rot="0">
              <a:off x="0" y="0"/>
              <a:ext cx="321872" cy="840458"/>
            </a:xfrm>
            <a:custGeom>
              <a:avLst/>
              <a:gdLst/>
              <a:ahLst/>
              <a:cxnLst/>
              <a:rect r="r" b="b" t="t" l="l"/>
              <a:pathLst>
                <a:path h="840458" w="321872">
                  <a:moveTo>
                    <a:pt x="0" y="0"/>
                  </a:moveTo>
                  <a:lnTo>
                    <a:pt x="321872" y="0"/>
                  </a:lnTo>
                  <a:lnTo>
                    <a:pt x="321872" y="840458"/>
                  </a:lnTo>
                  <a:lnTo>
                    <a:pt x="0" y="840458"/>
                  </a:lnTo>
                  <a:close/>
                </a:path>
              </a:pathLst>
            </a:custGeom>
            <a:solidFill>
              <a:srgbClr val="3F81F4"/>
            </a:solidFill>
          </p:spPr>
        </p:sp>
        <p:sp>
          <p:nvSpPr>
            <p:cNvPr name="TextBox 7" id="7"/>
            <p:cNvSpPr txBox="true"/>
            <p:nvPr/>
          </p:nvSpPr>
          <p:spPr>
            <a:xfrm>
              <a:off x="0" y="-28575"/>
              <a:ext cx="321872" cy="86903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3885104" y="2243937"/>
            <a:ext cx="3374196" cy="5799126"/>
            <a:chOff x="0" y="0"/>
            <a:chExt cx="522751" cy="898436"/>
          </a:xfrm>
        </p:grpSpPr>
        <p:sp>
          <p:nvSpPr>
            <p:cNvPr name="Freeform 9" id="9"/>
            <p:cNvSpPr/>
            <p:nvPr/>
          </p:nvSpPr>
          <p:spPr>
            <a:xfrm flipH="false" flipV="false" rot="0">
              <a:off x="0" y="0"/>
              <a:ext cx="522751" cy="898436"/>
            </a:xfrm>
            <a:custGeom>
              <a:avLst/>
              <a:gdLst/>
              <a:ahLst/>
              <a:cxnLst/>
              <a:rect r="r" b="b" t="t" l="l"/>
              <a:pathLst>
                <a:path h="898436" w="522751">
                  <a:moveTo>
                    <a:pt x="114722" y="0"/>
                  </a:moveTo>
                  <a:lnTo>
                    <a:pt x="408029" y="0"/>
                  </a:lnTo>
                  <a:cubicBezTo>
                    <a:pt x="471388" y="0"/>
                    <a:pt x="522751" y="51363"/>
                    <a:pt x="522751" y="114722"/>
                  </a:cubicBezTo>
                  <a:lnTo>
                    <a:pt x="522751" y="783714"/>
                  </a:lnTo>
                  <a:cubicBezTo>
                    <a:pt x="522751" y="847073"/>
                    <a:pt x="471388" y="898436"/>
                    <a:pt x="408029" y="898436"/>
                  </a:cubicBezTo>
                  <a:lnTo>
                    <a:pt x="114722" y="898436"/>
                  </a:lnTo>
                  <a:cubicBezTo>
                    <a:pt x="84296" y="898436"/>
                    <a:pt x="55116" y="886350"/>
                    <a:pt x="33601" y="864835"/>
                  </a:cubicBezTo>
                  <a:cubicBezTo>
                    <a:pt x="12087" y="843320"/>
                    <a:pt x="0" y="814140"/>
                    <a:pt x="0" y="783714"/>
                  </a:cubicBezTo>
                  <a:lnTo>
                    <a:pt x="0" y="114722"/>
                  </a:lnTo>
                  <a:cubicBezTo>
                    <a:pt x="0" y="51363"/>
                    <a:pt x="51363" y="0"/>
                    <a:pt x="114722" y="0"/>
                  </a:cubicBezTo>
                  <a:close/>
                </a:path>
              </a:pathLst>
            </a:custGeom>
            <a:blipFill>
              <a:blip r:embed="rId4"/>
              <a:stretch>
                <a:fillRect l="-21980" t="-25987" r="-22373" b="0"/>
              </a:stretch>
            </a:blipFill>
          </p:spPr>
        </p:sp>
      </p:grpSp>
      <p:graphicFrame>
        <p:nvGraphicFramePr>
          <p:cNvPr name="Table 10" id="10"/>
          <p:cNvGraphicFramePr>
            <a:graphicFrameLocks noGrp="true"/>
          </p:cNvGraphicFramePr>
          <p:nvPr/>
        </p:nvGraphicFramePr>
        <p:xfrm>
          <a:off x="1028700" y="4924425"/>
          <a:ext cx="12028270" cy="4333875"/>
        </p:xfrm>
        <a:graphic>
          <a:graphicData uri="http://schemas.openxmlformats.org/drawingml/2006/table">
            <a:tbl>
              <a:tblPr/>
              <a:tblGrid>
                <a:gridCol w="4009423"/>
                <a:gridCol w="4009423"/>
                <a:gridCol w="4009423"/>
              </a:tblGrid>
              <a:tr h="801862">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What the user experiences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Value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c>
                  <a:txBody>
                    <a:bodyPr anchor="t" rtlCol="false"/>
                    <a:lstStyle/>
                    <a:p>
                      <a:pPr algn="ctr">
                        <a:lnSpc>
                          <a:spcPts val="2799"/>
                        </a:lnSpc>
                        <a:defRPr/>
                      </a:pPr>
                      <a:r>
                        <a:rPr lang="en-US" sz="1999" b="true">
                          <a:solidFill>
                            <a:srgbClr val="FAFAFA"/>
                          </a:solidFill>
                          <a:latin typeface="Lato Bold"/>
                          <a:ea typeface="Lato Bold"/>
                          <a:cs typeface="Lato Bold"/>
                          <a:sym typeface="Lato Bold"/>
                        </a:rPr>
                        <a:t>1</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solidFill>
                      <a:srgbClr val="E80363"/>
                    </a:solidFill>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Object detection</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Real-time spoken alerts about obstacles and nearby items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2</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Text reading</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Reads signs, labels, and short documents aloud</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3</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Question answering</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Explains the scene or extracted text using natural language</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4</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Voice control</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Lets the user interact without needing visual navigation</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5</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r h="706403">
                <a:tc>
                  <a:txBody>
                    <a:bodyPr anchor="t" rtlCol="false"/>
                    <a:lstStyle/>
                    <a:p>
                      <a:pPr algn="ctr">
                        <a:lnSpc>
                          <a:spcPts val="2100"/>
                        </a:lnSpc>
                        <a:defRPr/>
                      </a:pPr>
                      <a:r>
                        <a:rPr lang="en-US" sz="1500">
                          <a:solidFill>
                            <a:srgbClr val="000000"/>
                          </a:solidFill>
                          <a:latin typeface="Lato"/>
                          <a:ea typeface="Lato"/>
                          <a:cs typeface="Lato"/>
                          <a:sym typeface="Lato"/>
                        </a:rPr>
                        <a:t>Safety support</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Improves confidence during movement and daily tasks</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Lato"/>
                          <a:ea typeface="Lato"/>
                          <a:cs typeface="Lato"/>
                          <a:sym typeface="Lato"/>
                        </a:rPr>
                        <a:t/>
                      </a:r>
                      <a:endParaRPr lang="en-US" sz="1100"/>
                    </a:p>
                  </a:txBody>
                  <a:tcPr marL="190500" marR="190500" marT="190500" marB="190500" anchor="ctr">
                    <a:lnL cmpd="sng" algn="ctr" cap="flat" w="9525">
                      <a:solidFill>
                        <a:srgbClr val="FC68A5"/>
                      </a:solidFill>
                      <a:prstDash val="solid"/>
                      <a:round/>
                      <a:headEnd type="none" w="med" len="med"/>
                      <a:tailEnd type="none" w="med" len="med"/>
                    </a:lnL>
                    <a:lnR cmpd="sng" algn="ctr" cap="flat" w="9525">
                      <a:solidFill>
                        <a:srgbClr val="FC68A5"/>
                      </a:solidFill>
                      <a:prstDash val="solid"/>
                      <a:round/>
                      <a:headEnd type="none" w="med" len="med"/>
                      <a:tailEnd type="none" w="med" len="med"/>
                    </a:lnR>
                    <a:lnT cmpd="sng" algn="ctr" cap="flat" w="9525">
                      <a:solidFill>
                        <a:srgbClr val="FC68A5"/>
                      </a:solidFill>
                      <a:prstDash val="solid"/>
                      <a:round/>
                      <a:headEnd type="none" w="med" len="med"/>
                      <a:tailEnd type="none" w="med" len="med"/>
                    </a:lnT>
                    <a:lnB cmpd="sng" algn="ctr" cap="flat" w="9525">
                      <a:solidFill>
                        <a:srgbClr val="FC68A5"/>
                      </a:solidFill>
                      <a:prstDash val="solid"/>
                      <a:round/>
                      <a:headEnd type="none" w="med" len="med"/>
                      <a:tailEnd type="none" w="med" len="med"/>
                    </a:lnB>
                  </a:tcPr>
                </a:tc>
              </a:tr>
            </a:tbl>
          </a:graphicData>
        </a:graphic>
      </p:graphicFrame>
      <p:sp>
        <p:nvSpPr>
          <p:cNvPr name="Freeform 11" id="11"/>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84746" y="2729712"/>
            <a:ext cx="3981463" cy="6290463"/>
            <a:chOff x="0" y="0"/>
            <a:chExt cx="616833" cy="974557"/>
          </a:xfrm>
        </p:grpSpPr>
        <p:sp>
          <p:nvSpPr>
            <p:cNvPr name="Freeform 4" id="4"/>
            <p:cNvSpPr/>
            <p:nvPr/>
          </p:nvSpPr>
          <p:spPr>
            <a:xfrm flipH="false" flipV="false" rot="0">
              <a:off x="0" y="0"/>
              <a:ext cx="616833" cy="974557"/>
            </a:xfrm>
            <a:custGeom>
              <a:avLst/>
              <a:gdLst/>
              <a:ahLst/>
              <a:cxnLst/>
              <a:rect r="r" b="b" t="t" l="l"/>
              <a:pathLst>
                <a:path h="974557" w="616833">
                  <a:moveTo>
                    <a:pt x="0" y="0"/>
                  </a:moveTo>
                  <a:lnTo>
                    <a:pt x="616833" y="0"/>
                  </a:lnTo>
                  <a:lnTo>
                    <a:pt x="616833" y="974557"/>
                  </a:lnTo>
                  <a:lnTo>
                    <a:pt x="0" y="974557"/>
                  </a:lnTo>
                  <a:close/>
                </a:path>
              </a:pathLst>
            </a:custGeom>
            <a:blipFill>
              <a:blip r:embed="rId4"/>
              <a:stretch>
                <a:fillRect l="-68495" t="0" r="-68495" b="0"/>
              </a:stretch>
            </a:blipFill>
          </p:spPr>
        </p:sp>
      </p:grpSp>
      <p:sp>
        <p:nvSpPr>
          <p:cNvPr name="Freeform 5" id="5"/>
          <p:cNvSpPr/>
          <p:nvPr/>
        </p:nvSpPr>
        <p:spPr>
          <a:xfrm flipH="false" flipV="false" rot="0">
            <a:off x="11674174" y="2729712"/>
            <a:ext cx="394058" cy="590550"/>
          </a:xfrm>
          <a:custGeom>
            <a:avLst/>
            <a:gdLst/>
            <a:ahLst/>
            <a:cxnLst/>
            <a:rect r="r" b="b" t="t" l="l"/>
            <a:pathLst>
              <a:path h="590550" w="394058">
                <a:moveTo>
                  <a:pt x="0" y="0"/>
                </a:moveTo>
                <a:lnTo>
                  <a:pt x="394058" y="0"/>
                </a:lnTo>
                <a:lnTo>
                  <a:pt x="394058" y="590550"/>
                </a:lnTo>
                <a:lnTo>
                  <a:pt x="0" y="59055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1683301" y="5233147"/>
            <a:ext cx="375805" cy="590550"/>
          </a:xfrm>
          <a:custGeom>
            <a:avLst/>
            <a:gdLst/>
            <a:ahLst/>
            <a:cxnLst/>
            <a:rect r="r" b="b" t="t" l="l"/>
            <a:pathLst>
              <a:path h="590550" w="375805">
                <a:moveTo>
                  <a:pt x="0" y="0"/>
                </a:moveTo>
                <a:lnTo>
                  <a:pt x="375804" y="0"/>
                </a:lnTo>
                <a:lnTo>
                  <a:pt x="375804" y="590550"/>
                </a:lnTo>
                <a:lnTo>
                  <a:pt x="0" y="5905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1625028" y="7736583"/>
            <a:ext cx="492349" cy="590550"/>
          </a:xfrm>
          <a:custGeom>
            <a:avLst/>
            <a:gdLst/>
            <a:ahLst/>
            <a:cxnLst/>
            <a:rect r="r" b="b" t="t" l="l"/>
            <a:pathLst>
              <a:path h="590550" w="492349">
                <a:moveTo>
                  <a:pt x="0" y="0"/>
                </a:moveTo>
                <a:lnTo>
                  <a:pt x="492350" y="0"/>
                </a:lnTo>
                <a:lnTo>
                  <a:pt x="492350" y="590550"/>
                </a:lnTo>
                <a:lnTo>
                  <a:pt x="0" y="5905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8" id="8"/>
          <p:cNvSpPr txBox="true"/>
          <p:nvPr/>
        </p:nvSpPr>
        <p:spPr>
          <a:xfrm rot="0">
            <a:off x="1028700" y="2834487"/>
            <a:ext cx="4897227"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Th</a:t>
            </a:r>
            <a:r>
              <a:rPr lang="en-US" sz="6500">
                <a:solidFill>
                  <a:srgbClr val="3F81F4"/>
                </a:solidFill>
                <a:latin typeface="Poppins"/>
                <a:ea typeface="Poppins"/>
                <a:cs typeface="Poppins"/>
                <a:sym typeface="Poppins"/>
              </a:rPr>
              <a:t>e </a:t>
            </a:r>
            <a:r>
              <a:rPr lang="en-US" sz="6500">
                <a:solidFill>
                  <a:srgbClr val="3F81F4"/>
                </a:solidFill>
                <a:latin typeface="Poppins"/>
                <a:ea typeface="Poppins"/>
                <a:cs typeface="Poppins"/>
                <a:sym typeface="Poppins"/>
              </a:rPr>
              <a:t>Impact</a:t>
            </a:r>
            <a:r>
              <a:rPr lang="en-US" sz="6500">
                <a:solidFill>
                  <a:srgbClr val="3F81F4"/>
                </a:solidFill>
                <a:latin typeface="Poppins"/>
                <a:ea typeface="Poppins"/>
                <a:cs typeface="Poppins"/>
                <a:sym typeface="Poppins"/>
              </a:rPr>
              <a:t>Today</a:t>
            </a:r>
            <a:r>
              <a:rPr lang="en-US" sz="6500">
                <a:solidFill>
                  <a:srgbClr val="3F81F4"/>
                </a:solidFill>
                <a:latin typeface="Poppins"/>
                <a:ea typeface="Poppins"/>
                <a:cs typeface="Poppins"/>
                <a:sym typeface="Poppins"/>
              </a:rPr>
              <a:t/>
            </a:r>
            <a:r>
              <a:rPr lang="en-US" sz="6500" b="true">
                <a:solidFill>
                  <a:srgbClr val="000000"/>
                </a:solidFill>
                <a:latin typeface="Poppins Bold"/>
                <a:ea typeface="Poppins Bold"/>
                <a:cs typeface="Poppins Bold"/>
                <a:sym typeface="Poppins Bold"/>
              </a:rPr>
              <a:t>of Guar</a:t>
            </a:r>
            <a:r>
              <a:rPr lang="en-US" b="true" sz="6500">
                <a:solidFill>
                  <a:srgbClr val="000000"/>
                </a:solidFill>
                <a:latin typeface="Poppins Bold"/>
                <a:ea typeface="Poppins Bold"/>
                <a:cs typeface="Poppins Bold"/>
                <a:sym typeface="Poppins Bold"/>
              </a:rPr>
              <a:t>dian Eye</a:t>
            </a:r>
          </a:p>
        </p:txBody>
      </p:sp>
      <p:sp>
        <p:nvSpPr>
          <p:cNvPr name="TextBox 9" id="9"/>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sp>
        <p:nvSpPr>
          <p:cNvPr name="TextBox 10" id="10"/>
          <p:cNvSpPr txBox="true"/>
          <p:nvPr/>
        </p:nvSpPr>
        <p:spPr>
          <a:xfrm rot="0">
            <a:off x="1028700" y="5408218"/>
            <a:ext cx="4897227"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The project is designed to improve independence, reduce reliance on constant assistance, and make everyday information more accessible for visually impaired users.</a:t>
            </a:r>
          </a:p>
        </p:txBody>
      </p:sp>
      <p:sp>
        <p:nvSpPr>
          <p:cNvPr name="TextBox 11" id="11"/>
          <p:cNvSpPr txBox="true"/>
          <p:nvPr/>
        </p:nvSpPr>
        <p:spPr>
          <a:xfrm rot="0">
            <a:off x="12301926" y="6050014"/>
            <a:ext cx="4957374" cy="4667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Supports safer navigation in unfamiliar places</a:t>
            </a:r>
          </a:p>
        </p:txBody>
      </p:sp>
      <p:sp>
        <p:nvSpPr>
          <p:cNvPr name="TextBox 12" id="12"/>
          <p:cNvSpPr txBox="true"/>
          <p:nvPr/>
        </p:nvSpPr>
        <p:spPr>
          <a:xfrm rot="0">
            <a:off x="12301926" y="3546579"/>
            <a:ext cx="4957374" cy="4667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Improves access to printed information and signs</a:t>
            </a:r>
          </a:p>
        </p:txBody>
      </p:sp>
      <p:sp>
        <p:nvSpPr>
          <p:cNvPr name="TextBox 13" id="13"/>
          <p:cNvSpPr txBox="true"/>
          <p:nvPr/>
        </p:nvSpPr>
        <p:spPr>
          <a:xfrm rot="0">
            <a:off x="12301926" y="8553450"/>
            <a:ext cx="4957374" cy="4667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Creates a more natural, voice-first assistive experience</a:t>
            </a:r>
          </a:p>
        </p:txBody>
      </p:sp>
      <p:sp>
        <p:nvSpPr>
          <p:cNvPr name="TextBox 14" id="14"/>
          <p:cNvSpPr txBox="true"/>
          <p:nvPr/>
        </p:nvSpPr>
        <p:spPr>
          <a:xfrm rot="0">
            <a:off x="12301926" y="5233147"/>
            <a:ext cx="1460133"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Safety</a:t>
            </a:r>
          </a:p>
        </p:txBody>
      </p:sp>
      <p:sp>
        <p:nvSpPr>
          <p:cNvPr name="TextBox 15" id="15"/>
          <p:cNvSpPr txBox="true"/>
          <p:nvPr/>
        </p:nvSpPr>
        <p:spPr>
          <a:xfrm rot="0">
            <a:off x="12301926" y="2729712"/>
            <a:ext cx="2510986"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Independence</a:t>
            </a:r>
          </a:p>
        </p:txBody>
      </p:sp>
      <p:sp>
        <p:nvSpPr>
          <p:cNvPr name="TextBox 16" id="16"/>
          <p:cNvSpPr txBox="true"/>
          <p:nvPr/>
        </p:nvSpPr>
        <p:spPr>
          <a:xfrm rot="0">
            <a:off x="12301926" y="7736583"/>
            <a:ext cx="1255493" cy="590550"/>
          </a:xfrm>
          <a:prstGeom prst="rect">
            <a:avLst/>
          </a:prstGeom>
        </p:spPr>
        <p:txBody>
          <a:bodyPr anchor="t" rtlCol="false" tIns="0" lIns="0" bIns="0" rIns="0">
            <a:spAutoFit/>
          </a:bodyPr>
          <a:lstStyle/>
          <a:p>
            <a:pPr algn="l">
              <a:lnSpc>
                <a:spcPts val="2399"/>
              </a:lnSpc>
            </a:pPr>
            <a:r>
              <a:rPr lang="en-US" sz="1999" b="true">
                <a:solidFill>
                  <a:srgbClr val="000000"/>
                </a:solidFill>
                <a:latin typeface="Lato Bold"/>
                <a:ea typeface="Lato Bold"/>
                <a:cs typeface="Lato Bold"/>
                <a:sym typeface="Lato Bold"/>
              </a:rPr>
              <a:t>AI &amp; Access</a:t>
            </a:r>
            <a:r>
              <a:rPr lang="en-US" sz="1999" b="true">
                <a:solidFill>
                  <a:srgbClr val="000000"/>
                </a:solidFill>
                <a:latin typeface="Lato Bold"/>
                <a:ea typeface="Lato Bold"/>
                <a:cs typeface="Lato Bold"/>
                <a:sym typeface="Lato Bold"/>
              </a:rPr>
              <a:t/>
            </a:r>
          </a:p>
        </p:txBody>
      </p:sp>
      <p:sp>
        <p:nvSpPr>
          <p:cNvPr name="AutoShape 17" id="17"/>
          <p:cNvSpPr/>
          <p:nvPr/>
        </p:nvSpPr>
        <p:spPr>
          <a:xfrm flipV="true">
            <a:off x="11674174" y="4618785"/>
            <a:ext cx="5585126" cy="0"/>
          </a:xfrm>
          <a:prstGeom prst="line">
            <a:avLst/>
          </a:prstGeom>
          <a:ln cap="flat" w="9525">
            <a:solidFill>
              <a:srgbClr val="000000"/>
            </a:solidFill>
            <a:prstDash val="solid"/>
            <a:headEnd type="none" len="sm" w="sm"/>
            <a:tailEnd type="none" len="sm" w="sm"/>
          </a:ln>
        </p:spPr>
      </p:sp>
      <p:sp>
        <p:nvSpPr>
          <p:cNvPr name="AutoShape 18" id="18"/>
          <p:cNvSpPr/>
          <p:nvPr/>
        </p:nvSpPr>
        <p:spPr>
          <a:xfrm flipV="true">
            <a:off x="11674174" y="7126339"/>
            <a:ext cx="5585126" cy="0"/>
          </a:xfrm>
          <a:prstGeom prst="line">
            <a:avLst/>
          </a:prstGeom>
          <a:ln cap="flat" w="9525">
            <a:solidFill>
              <a:srgbClr val="000000"/>
            </a:solidFill>
            <a:prstDash val="solid"/>
            <a:headEnd type="none" len="sm" w="sm"/>
            <a:tailEnd type="none" len="sm" w="sm"/>
          </a:ln>
        </p:spPr>
      </p:sp>
      <p:sp>
        <p:nvSpPr>
          <p:cNvPr name="Freeform 19" id="19"/>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11"/>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834487"/>
            <a:ext cx="5717413" cy="1642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Futu</a:t>
            </a:r>
            <a:r>
              <a:rPr lang="en-US" sz="6500">
                <a:solidFill>
                  <a:srgbClr val="3F81F4"/>
                </a:solidFill>
                <a:latin typeface="Poppins"/>
                <a:ea typeface="Poppins"/>
                <a:cs typeface="Poppins"/>
                <a:sym typeface="Poppins"/>
              </a:rPr>
              <a:t>re Work</a:t>
            </a:r>
            <a:r>
              <a:rPr lang="en-US" sz="6500">
                <a:solidFill>
                  <a:srgbClr val="3F81F4"/>
                </a:solidFill>
                <a:latin typeface="Poppins"/>
                <a:ea typeface="Poppins"/>
                <a:cs typeface="Poppins"/>
                <a:sym typeface="Poppins"/>
              </a:rPr>
              <a:t> in</a:t>
            </a:r>
            <a:r>
              <a:rPr lang="en-US" sz="6500">
                <a:solidFill>
                  <a:srgbClr val="3F81F4"/>
                </a:solidFill>
                <a:latin typeface="Poppins"/>
                <a:ea typeface="Poppins"/>
                <a:cs typeface="Poppins"/>
                <a:sym typeface="Poppins"/>
              </a:rPr>
              <a:t> </a:t>
            </a:r>
            <a:r>
              <a:rPr lang="en-US" sz="6500" b="true">
                <a:solidFill>
                  <a:srgbClr val="000000"/>
                </a:solidFill>
                <a:latin typeface="Poppins Bold"/>
                <a:ea typeface="Poppins Bold"/>
                <a:cs typeface="Poppins Bold"/>
                <a:sym typeface="Poppins Bold"/>
              </a:rPr>
              <a:t>Guar</a:t>
            </a:r>
            <a:r>
              <a:rPr lang="en-US" b="true" sz="6500">
                <a:solidFill>
                  <a:srgbClr val="000000"/>
                </a:solidFill>
                <a:latin typeface="Poppins Bold"/>
                <a:ea typeface="Poppins Bold"/>
                <a:cs typeface="Poppins Bold"/>
                <a:sym typeface="Poppins Bold"/>
              </a:rPr>
              <a:t>dian Eye</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grpSp>
        <p:nvGrpSpPr>
          <p:cNvPr name="Group 5" id="5"/>
          <p:cNvGrpSpPr/>
          <p:nvPr/>
        </p:nvGrpSpPr>
        <p:grpSpPr>
          <a:xfrm rot="0">
            <a:off x="11304485" y="2564211"/>
            <a:ext cx="1536793" cy="1529533"/>
            <a:chOff x="0" y="0"/>
            <a:chExt cx="182138" cy="181278"/>
          </a:xfrm>
        </p:grpSpPr>
        <p:sp>
          <p:nvSpPr>
            <p:cNvPr name="Freeform 6" id="6"/>
            <p:cNvSpPr/>
            <p:nvPr/>
          </p:nvSpPr>
          <p:spPr>
            <a:xfrm flipH="false" flipV="false" rot="0">
              <a:off x="0" y="0"/>
              <a:ext cx="182138" cy="181278"/>
            </a:xfrm>
            <a:custGeom>
              <a:avLst/>
              <a:gdLst/>
              <a:ahLst/>
              <a:cxnLst/>
              <a:rect r="r" b="b" t="t" l="l"/>
              <a:pathLst>
                <a:path h="181278" w="182138">
                  <a:moveTo>
                    <a:pt x="0" y="0"/>
                  </a:moveTo>
                  <a:lnTo>
                    <a:pt x="182138" y="0"/>
                  </a:lnTo>
                  <a:lnTo>
                    <a:pt x="182138" y="181278"/>
                  </a:lnTo>
                  <a:lnTo>
                    <a:pt x="0" y="181278"/>
                  </a:lnTo>
                  <a:close/>
                </a:path>
              </a:pathLst>
            </a:custGeom>
            <a:solidFill>
              <a:srgbClr val="E80363"/>
            </a:solidFill>
          </p:spPr>
        </p:sp>
        <p:sp>
          <p:nvSpPr>
            <p:cNvPr name="TextBox 7" id="7"/>
            <p:cNvSpPr txBox="true"/>
            <p:nvPr/>
          </p:nvSpPr>
          <p:spPr>
            <a:xfrm>
              <a:off x="0" y="-28575"/>
              <a:ext cx="182138" cy="20985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1467391" y="2729712"/>
            <a:ext cx="5791909" cy="6528588"/>
            <a:chOff x="0" y="0"/>
            <a:chExt cx="897318" cy="1011449"/>
          </a:xfrm>
        </p:grpSpPr>
        <p:sp>
          <p:nvSpPr>
            <p:cNvPr name="Freeform 9" id="9"/>
            <p:cNvSpPr/>
            <p:nvPr/>
          </p:nvSpPr>
          <p:spPr>
            <a:xfrm flipH="false" flipV="false" rot="0">
              <a:off x="0" y="0"/>
              <a:ext cx="897318" cy="1011449"/>
            </a:xfrm>
            <a:custGeom>
              <a:avLst/>
              <a:gdLst/>
              <a:ahLst/>
              <a:cxnLst/>
              <a:rect r="r" b="b" t="t" l="l"/>
              <a:pathLst>
                <a:path h="1011449" w="897318">
                  <a:moveTo>
                    <a:pt x="0" y="0"/>
                  </a:moveTo>
                  <a:lnTo>
                    <a:pt x="897318" y="0"/>
                  </a:lnTo>
                  <a:lnTo>
                    <a:pt x="897318" y="1011449"/>
                  </a:lnTo>
                  <a:lnTo>
                    <a:pt x="0" y="1011449"/>
                  </a:lnTo>
                  <a:close/>
                </a:path>
              </a:pathLst>
            </a:custGeom>
            <a:blipFill>
              <a:blip r:embed="rId4"/>
              <a:stretch>
                <a:fillRect l="-34539" t="0" r="-34539" b="0"/>
              </a:stretch>
            </a:blipFill>
          </p:spPr>
        </p:sp>
      </p:grpSp>
      <p:sp>
        <p:nvSpPr>
          <p:cNvPr name="TextBox 10" id="10"/>
          <p:cNvSpPr txBox="true"/>
          <p:nvPr/>
        </p:nvSpPr>
        <p:spPr>
          <a:xfrm rot="0">
            <a:off x="1028700" y="5408218"/>
            <a:ext cx="4897227"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Future improvements include better distance estimation, offline inference for faster response, multilingual voice support, and personalized alerts based on user preference and environment.</a:t>
            </a:r>
          </a:p>
        </p:txBody>
      </p:sp>
      <p:grpSp>
        <p:nvGrpSpPr>
          <p:cNvPr name="Group 11" id="11"/>
          <p:cNvGrpSpPr/>
          <p:nvPr/>
        </p:nvGrpSpPr>
        <p:grpSpPr>
          <a:xfrm rot="0">
            <a:off x="8424995" y="6310691"/>
            <a:ext cx="5758979" cy="2469309"/>
            <a:chOff x="0" y="0"/>
            <a:chExt cx="682546" cy="292659"/>
          </a:xfrm>
        </p:grpSpPr>
        <p:sp>
          <p:nvSpPr>
            <p:cNvPr name="Freeform 12" id="12"/>
            <p:cNvSpPr/>
            <p:nvPr/>
          </p:nvSpPr>
          <p:spPr>
            <a:xfrm flipH="false" flipV="false" rot="0">
              <a:off x="0" y="0"/>
              <a:ext cx="682546" cy="292659"/>
            </a:xfrm>
            <a:custGeom>
              <a:avLst/>
              <a:gdLst/>
              <a:ahLst/>
              <a:cxnLst/>
              <a:rect r="r" b="b" t="t" l="l"/>
              <a:pathLst>
                <a:path h="292659" w="682546">
                  <a:moveTo>
                    <a:pt x="0" y="0"/>
                  </a:moveTo>
                  <a:lnTo>
                    <a:pt x="682546" y="0"/>
                  </a:lnTo>
                  <a:lnTo>
                    <a:pt x="682546" y="292659"/>
                  </a:lnTo>
                  <a:lnTo>
                    <a:pt x="0" y="292659"/>
                  </a:lnTo>
                  <a:close/>
                </a:path>
              </a:pathLst>
            </a:custGeom>
            <a:solidFill>
              <a:srgbClr val="3F81F4"/>
            </a:solidFill>
          </p:spPr>
        </p:sp>
        <p:sp>
          <p:nvSpPr>
            <p:cNvPr name="TextBox 13" id="13"/>
            <p:cNvSpPr txBox="true"/>
            <p:nvPr/>
          </p:nvSpPr>
          <p:spPr>
            <a:xfrm>
              <a:off x="0" y="-28575"/>
              <a:ext cx="682546" cy="321234"/>
            </a:xfrm>
            <a:prstGeom prst="rect">
              <a:avLst/>
            </a:prstGeom>
          </p:spPr>
          <p:txBody>
            <a:bodyPr anchor="ctr" rtlCol="false" tIns="50800" lIns="50800" bIns="50800" rIns="50800"/>
            <a:lstStyle/>
            <a:p>
              <a:pPr algn="ctr">
                <a:lnSpc>
                  <a:spcPts val="1400"/>
                </a:lnSpc>
              </a:pPr>
            </a:p>
          </p:txBody>
        </p:sp>
      </p:grpSp>
      <p:sp>
        <p:nvSpPr>
          <p:cNvPr name="TextBox 14" id="14"/>
          <p:cNvSpPr txBox="true"/>
          <p:nvPr/>
        </p:nvSpPr>
        <p:spPr>
          <a:xfrm rot="0">
            <a:off x="9051041" y="6850021"/>
            <a:ext cx="4506888" cy="1381125"/>
          </a:xfrm>
          <a:prstGeom prst="rect">
            <a:avLst/>
          </a:prstGeom>
        </p:spPr>
        <p:txBody>
          <a:bodyPr anchor="t" rtlCol="false" tIns="0" lIns="0" bIns="0" rIns="0">
            <a:spAutoFit/>
          </a:bodyPr>
          <a:lstStyle/>
          <a:p>
            <a:pPr algn="l">
              <a:lnSpc>
                <a:spcPts val="1800"/>
              </a:lnSpc>
            </a:pPr>
            <a:r>
              <a:rPr lang="en-US" sz="1500">
                <a:solidFill>
                  <a:srgbClr val="FAFAFA"/>
                </a:solidFill>
                <a:latin typeface="Lato"/>
                <a:ea typeface="Lato"/>
                <a:cs typeface="Lato"/>
                <a:sym typeface="Lato"/>
              </a:rPr>
              <a:t>Another next step is broader testing with real users to refine accuracy, phrasing, and trust. The strongest assistive systems are built not only with AI models, but with repeated feedback from the people who depend on them.</a:t>
            </a:r>
          </a:p>
        </p:txBody>
      </p:sp>
      <p:sp>
        <p:nvSpPr>
          <p:cNvPr name="Freeform 15" id="15"/>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834487"/>
            <a:ext cx="5717413" cy="880110"/>
          </a:xfrm>
          <a:prstGeom prst="rect">
            <a:avLst/>
          </a:prstGeom>
        </p:spPr>
        <p:txBody>
          <a:bodyPr anchor="t" rtlCol="false" tIns="0" lIns="0" bIns="0" rIns="0">
            <a:spAutoFit/>
          </a:bodyPr>
          <a:lstStyle/>
          <a:p>
            <a:pPr algn="l">
              <a:lnSpc>
                <a:spcPts val="6045"/>
              </a:lnSpc>
            </a:pPr>
            <a:r>
              <a:rPr lang="en-US" sz="6500">
                <a:solidFill>
                  <a:srgbClr val="3F81F4"/>
                </a:solidFill>
                <a:latin typeface="Poppins"/>
                <a:ea typeface="Poppins"/>
                <a:cs typeface="Poppins"/>
                <a:sym typeface="Poppins"/>
              </a:rPr>
              <a:t>Con</a:t>
            </a:r>
            <a:r>
              <a:rPr lang="en-US" sz="6500">
                <a:solidFill>
                  <a:srgbClr val="3F81F4"/>
                </a:solidFill>
                <a:latin typeface="Poppins"/>
                <a:ea typeface="Poppins"/>
                <a:cs typeface="Poppins"/>
                <a:sym typeface="Poppins"/>
              </a:rPr>
              <a:t>clus</a:t>
            </a:r>
            <a:r>
              <a:rPr lang="en-US" sz="6500">
                <a:solidFill>
                  <a:srgbClr val="3F81F4"/>
                </a:solidFill>
                <a:latin typeface="Poppins"/>
                <a:ea typeface="Poppins"/>
                <a:cs typeface="Poppins"/>
                <a:sym typeface="Poppins"/>
              </a:rPr>
              <a:t>ion</a:t>
            </a:r>
          </a:p>
        </p:txBody>
      </p:sp>
      <p:sp>
        <p:nvSpPr>
          <p:cNvPr name="TextBox 4" id="4"/>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grpSp>
        <p:nvGrpSpPr>
          <p:cNvPr name="Group 5" id="5"/>
          <p:cNvGrpSpPr/>
          <p:nvPr/>
        </p:nvGrpSpPr>
        <p:grpSpPr>
          <a:xfrm rot="0">
            <a:off x="7653609" y="0"/>
            <a:ext cx="9605691" cy="9258300"/>
            <a:chOff x="0" y="0"/>
            <a:chExt cx="1138452" cy="1097280"/>
          </a:xfrm>
        </p:grpSpPr>
        <p:sp>
          <p:nvSpPr>
            <p:cNvPr name="Freeform 6" id="6"/>
            <p:cNvSpPr/>
            <p:nvPr/>
          </p:nvSpPr>
          <p:spPr>
            <a:xfrm flipH="false" flipV="false" rot="0">
              <a:off x="0" y="0"/>
              <a:ext cx="1138452" cy="1097280"/>
            </a:xfrm>
            <a:custGeom>
              <a:avLst/>
              <a:gdLst/>
              <a:ahLst/>
              <a:cxnLst/>
              <a:rect r="r" b="b" t="t" l="l"/>
              <a:pathLst>
                <a:path h="1097280" w="1138452">
                  <a:moveTo>
                    <a:pt x="0" y="0"/>
                  </a:moveTo>
                  <a:lnTo>
                    <a:pt x="1138452" y="0"/>
                  </a:lnTo>
                  <a:lnTo>
                    <a:pt x="1138452" y="1097280"/>
                  </a:lnTo>
                  <a:lnTo>
                    <a:pt x="0" y="1097280"/>
                  </a:lnTo>
                  <a:close/>
                </a:path>
              </a:pathLst>
            </a:custGeom>
            <a:solidFill>
              <a:srgbClr val="85ABEF"/>
            </a:solidFill>
          </p:spPr>
        </p:sp>
        <p:sp>
          <p:nvSpPr>
            <p:cNvPr name="TextBox 7" id="7"/>
            <p:cNvSpPr txBox="true"/>
            <p:nvPr/>
          </p:nvSpPr>
          <p:spPr>
            <a:xfrm>
              <a:off x="0" y="-28575"/>
              <a:ext cx="1138452" cy="1125855"/>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11467391" y="2729712"/>
            <a:ext cx="5791909" cy="6528588"/>
            <a:chOff x="0" y="0"/>
            <a:chExt cx="897318" cy="1011449"/>
          </a:xfrm>
        </p:grpSpPr>
        <p:sp>
          <p:nvSpPr>
            <p:cNvPr name="Freeform 9" id="9"/>
            <p:cNvSpPr/>
            <p:nvPr/>
          </p:nvSpPr>
          <p:spPr>
            <a:xfrm flipH="false" flipV="false" rot="0">
              <a:off x="0" y="0"/>
              <a:ext cx="897318" cy="1011449"/>
            </a:xfrm>
            <a:custGeom>
              <a:avLst/>
              <a:gdLst/>
              <a:ahLst/>
              <a:cxnLst/>
              <a:rect r="r" b="b" t="t" l="l"/>
              <a:pathLst>
                <a:path h="1011449" w="897318">
                  <a:moveTo>
                    <a:pt x="0" y="0"/>
                  </a:moveTo>
                  <a:lnTo>
                    <a:pt x="897318" y="0"/>
                  </a:lnTo>
                  <a:lnTo>
                    <a:pt x="897318" y="1011449"/>
                  </a:lnTo>
                  <a:lnTo>
                    <a:pt x="0" y="1011449"/>
                  </a:lnTo>
                  <a:close/>
                </a:path>
              </a:pathLst>
            </a:custGeom>
            <a:blipFill>
              <a:blip r:embed="rId4"/>
              <a:stretch>
                <a:fillRect l="-34539" t="0" r="-34539" b="0"/>
              </a:stretch>
            </a:blipFill>
          </p:spPr>
        </p:sp>
      </p:grpSp>
      <p:sp>
        <p:nvSpPr>
          <p:cNvPr name="TextBox 10" id="10"/>
          <p:cNvSpPr txBox="true"/>
          <p:nvPr/>
        </p:nvSpPr>
        <p:spPr>
          <a:xfrm rot="0">
            <a:off x="1028700" y="5439869"/>
            <a:ext cx="5108659"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Guardian Eye combines computer vision, language understanding, and speech interaction into one assistive platform.</a:t>
            </a:r>
          </a:p>
        </p:txBody>
      </p:sp>
      <p:sp>
        <p:nvSpPr>
          <p:cNvPr name="TextBox 11" id="11"/>
          <p:cNvSpPr txBox="true"/>
          <p:nvPr/>
        </p:nvSpPr>
        <p:spPr>
          <a:xfrm rot="0">
            <a:off x="1028700" y="7877175"/>
            <a:ext cx="5108659" cy="1381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The project focuses on practical tasks such as detecting objects, reading text, and guiding the user through spoken feedback.</a:t>
            </a:r>
          </a:p>
        </p:txBody>
      </p:sp>
      <p:grpSp>
        <p:nvGrpSpPr>
          <p:cNvPr name="Group 12" id="12"/>
          <p:cNvGrpSpPr/>
          <p:nvPr/>
        </p:nvGrpSpPr>
        <p:grpSpPr>
          <a:xfrm rot="0">
            <a:off x="8587901" y="5449394"/>
            <a:ext cx="5758979" cy="2469309"/>
            <a:chOff x="0" y="0"/>
            <a:chExt cx="682546" cy="292659"/>
          </a:xfrm>
        </p:grpSpPr>
        <p:sp>
          <p:nvSpPr>
            <p:cNvPr name="Freeform 13" id="13"/>
            <p:cNvSpPr/>
            <p:nvPr/>
          </p:nvSpPr>
          <p:spPr>
            <a:xfrm flipH="false" flipV="false" rot="0">
              <a:off x="0" y="0"/>
              <a:ext cx="682546" cy="292659"/>
            </a:xfrm>
            <a:custGeom>
              <a:avLst/>
              <a:gdLst/>
              <a:ahLst/>
              <a:cxnLst/>
              <a:rect r="r" b="b" t="t" l="l"/>
              <a:pathLst>
                <a:path h="292659" w="682546">
                  <a:moveTo>
                    <a:pt x="0" y="0"/>
                  </a:moveTo>
                  <a:lnTo>
                    <a:pt x="682546" y="0"/>
                  </a:lnTo>
                  <a:lnTo>
                    <a:pt x="682546" y="292659"/>
                  </a:lnTo>
                  <a:lnTo>
                    <a:pt x="0" y="292659"/>
                  </a:lnTo>
                  <a:close/>
                </a:path>
              </a:pathLst>
            </a:custGeom>
            <a:solidFill>
              <a:srgbClr val="3F81F4"/>
            </a:solidFill>
          </p:spPr>
        </p:sp>
        <p:sp>
          <p:nvSpPr>
            <p:cNvPr name="TextBox 14" id="14"/>
            <p:cNvSpPr txBox="true"/>
            <p:nvPr/>
          </p:nvSpPr>
          <p:spPr>
            <a:xfrm>
              <a:off x="0" y="-28575"/>
              <a:ext cx="682546" cy="321234"/>
            </a:xfrm>
            <a:prstGeom prst="rect">
              <a:avLst/>
            </a:prstGeom>
          </p:spPr>
          <p:txBody>
            <a:bodyPr anchor="ctr" rtlCol="false" tIns="50800" lIns="50800" bIns="50800" rIns="50800"/>
            <a:lstStyle/>
            <a:p>
              <a:pPr algn="ctr">
                <a:lnSpc>
                  <a:spcPts val="1400"/>
                </a:lnSpc>
              </a:pPr>
            </a:p>
          </p:txBody>
        </p:sp>
      </p:grpSp>
      <p:sp>
        <p:nvSpPr>
          <p:cNvPr name="TextBox 15" id="15"/>
          <p:cNvSpPr txBox="true"/>
          <p:nvPr/>
        </p:nvSpPr>
        <p:spPr>
          <a:xfrm rot="0">
            <a:off x="9213947" y="5988723"/>
            <a:ext cx="4506888" cy="1381125"/>
          </a:xfrm>
          <a:prstGeom prst="rect">
            <a:avLst/>
          </a:prstGeom>
        </p:spPr>
        <p:txBody>
          <a:bodyPr anchor="t" rtlCol="false" tIns="0" lIns="0" bIns="0" rIns="0">
            <a:spAutoFit/>
          </a:bodyPr>
          <a:lstStyle/>
          <a:p>
            <a:pPr algn="l">
              <a:lnSpc>
                <a:spcPts val="1800"/>
              </a:lnSpc>
            </a:pPr>
            <a:r>
              <a:rPr lang="en-US" sz="1500">
                <a:solidFill>
                  <a:srgbClr val="FAFAFA"/>
                </a:solidFill>
                <a:latin typeface="Lato"/>
                <a:ea typeface="Lato"/>
                <a:cs typeface="Lato"/>
                <a:sym typeface="Lato"/>
              </a:rPr>
              <a:t>By merging multiple AI capabilities in a simple mobile experience, the system can make daily life safer, faster, and more independent for visually impaired people.</a:t>
            </a:r>
          </a:p>
        </p:txBody>
      </p:sp>
      <p:sp>
        <p:nvSpPr>
          <p:cNvPr name="Freeform 16" id="16"/>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AFAF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420630" cy="419100"/>
          </a:xfrm>
          <a:custGeom>
            <a:avLst/>
            <a:gdLst/>
            <a:ahLst/>
            <a:cxnLst/>
            <a:rect r="r" b="b" t="t" l="l"/>
            <a:pathLst>
              <a:path h="419100" w="420630">
                <a:moveTo>
                  <a:pt x="0" y="0"/>
                </a:moveTo>
                <a:lnTo>
                  <a:pt x="420630" y="0"/>
                </a:lnTo>
                <a:lnTo>
                  <a:pt x="420630" y="419100"/>
                </a:lnTo>
                <a:lnTo>
                  <a:pt x="0" y="4191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01300" y="0"/>
            <a:ext cx="6858000" cy="10287000"/>
            <a:chOff x="0" y="0"/>
            <a:chExt cx="406400" cy="609600"/>
          </a:xfrm>
        </p:grpSpPr>
        <p:sp>
          <p:nvSpPr>
            <p:cNvPr name="Freeform 4" id="4"/>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solidFill>
              <a:srgbClr val="3F81F4"/>
            </a:solidFill>
          </p:spPr>
        </p:sp>
        <p:sp>
          <p:nvSpPr>
            <p:cNvPr name="TextBox 5" id="5"/>
            <p:cNvSpPr txBox="true"/>
            <p:nvPr/>
          </p:nvSpPr>
          <p:spPr>
            <a:xfrm>
              <a:off x="101600" y="-28575"/>
              <a:ext cx="203200" cy="638175"/>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14394180" y="0"/>
            <a:ext cx="6858000" cy="10287000"/>
            <a:chOff x="0" y="0"/>
            <a:chExt cx="406400" cy="609600"/>
          </a:xfrm>
        </p:grpSpPr>
        <p:sp>
          <p:nvSpPr>
            <p:cNvPr name="Freeform 7" id="7"/>
            <p:cNvSpPr/>
            <p:nvPr/>
          </p:nvSpPr>
          <p:spPr>
            <a:xfrm flipH="false" flipV="false" rot="0">
              <a:off x="0" y="0"/>
              <a:ext cx="406400" cy="609600"/>
            </a:xfrm>
            <a:custGeom>
              <a:avLst/>
              <a:gdLst/>
              <a:ahLst/>
              <a:cxnLst/>
              <a:rect r="r" b="b" t="t" l="l"/>
              <a:pathLst>
                <a:path h="609600" w="406400">
                  <a:moveTo>
                    <a:pt x="203200" y="0"/>
                  </a:moveTo>
                  <a:lnTo>
                    <a:pt x="406400" y="0"/>
                  </a:lnTo>
                  <a:lnTo>
                    <a:pt x="203200" y="609600"/>
                  </a:lnTo>
                  <a:lnTo>
                    <a:pt x="0" y="609600"/>
                  </a:lnTo>
                  <a:lnTo>
                    <a:pt x="203200" y="0"/>
                  </a:lnTo>
                  <a:close/>
                </a:path>
              </a:pathLst>
            </a:custGeom>
            <a:solidFill>
              <a:srgbClr val="3F81F4"/>
            </a:solidFill>
          </p:spPr>
        </p:sp>
        <p:sp>
          <p:nvSpPr>
            <p:cNvPr name="TextBox 8" id="8"/>
            <p:cNvSpPr txBox="true"/>
            <p:nvPr/>
          </p:nvSpPr>
          <p:spPr>
            <a:xfrm>
              <a:off x="101600" y="-28575"/>
              <a:ext cx="203200" cy="638175"/>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7999861" y="6398664"/>
            <a:ext cx="9203844" cy="2367208"/>
            <a:chOff x="0" y="0"/>
            <a:chExt cx="2424058" cy="623462"/>
          </a:xfrm>
        </p:grpSpPr>
        <p:sp>
          <p:nvSpPr>
            <p:cNvPr name="Freeform 10" id="10"/>
            <p:cNvSpPr/>
            <p:nvPr/>
          </p:nvSpPr>
          <p:spPr>
            <a:xfrm flipH="false" flipV="false" rot="0">
              <a:off x="0" y="0"/>
              <a:ext cx="2424058" cy="623462"/>
            </a:xfrm>
            <a:custGeom>
              <a:avLst/>
              <a:gdLst/>
              <a:ahLst/>
              <a:cxnLst/>
              <a:rect r="r" b="b" t="t" l="l"/>
              <a:pathLst>
                <a:path h="623462" w="2424058">
                  <a:moveTo>
                    <a:pt x="50470" y="0"/>
                  </a:moveTo>
                  <a:lnTo>
                    <a:pt x="2373588" y="0"/>
                  </a:lnTo>
                  <a:cubicBezTo>
                    <a:pt x="2401462" y="0"/>
                    <a:pt x="2424058" y="22596"/>
                    <a:pt x="2424058" y="50470"/>
                  </a:cubicBezTo>
                  <a:lnTo>
                    <a:pt x="2424058" y="572992"/>
                  </a:lnTo>
                  <a:cubicBezTo>
                    <a:pt x="2424058" y="586378"/>
                    <a:pt x="2418740" y="599215"/>
                    <a:pt x="2409275" y="608680"/>
                  </a:cubicBezTo>
                  <a:cubicBezTo>
                    <a:pt x="2399810" y="618145"/>
                    <a:pt x="2386973" y="623462"/>
                    <a:pt x="2373588" y="623462"/>
                  </a:cubicBezTo>
                  <a:lnTo>
                    <a:pt x="50470" y="623462"/>
                  </a:lnTo>
                  <a:cubicBezTo>
                    <a:pt x="37084" y="623462"/>
                    <a:pt x="24247" y="618145"/>
                    <a:pt x="14782" y="608680"/>
                  </a:cubicBezTo>
                  <a:cubicBezTo>
                    <a:pt x="5317" y="599215"/>
                    <a:pt x="0" y="586378"/>
                    <a:pt x="0" y="572992"/>
                  </a:cubicBezTo>
                  <a:lnTo>
                    <a:pt x="0" y="50470"/>
                  </a:lnTo>
                  <a:cubicBezTo>
                    <a:pt x="0" y="37084"/>
                    <a:pt x="5317" y="24247"/>
                    <a:pt x="14782" y="14782"/>
                  </a:cubicBezTo>
                  <a:cubicBezTo>
                    <a:pt x="24247" y="5317"/>
                    <a:pt x="37084" y="0"/>
                    <a:pt x="50470" y="0"/>
                  </a:cubicBezTo>
                  <a:close/>
                </a:path>
              </a:pathLst>
            </a:custGeom>
            <a:solidFill>
              <a:srgbClr val="FAFAFA"/>
            </a:solidFill>
          </p:spPr>
        </p:sp>
        <p:sp>
          <p:nvSpPr>
            <p:cNvPr name="TextBox 11" id="11"/>
            <p:cNvSpPr txBox="true"/>
            <p:nvPr/>
          </p:nvSpPr>
          <p:spPr>
            <a:xfrm>
              <a:off x="0" y="-38100"/>
              <a:ext cx="2424058" cy="66156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417876" y="8483430"/>
            <a:ext cx="5513105" cy="2294897"/>
          </a:xfrm>
          <a:custGeom>
            <a:avLst/>
            <a:gdLst/>
            <a:ahLst/>
            <a:cxnLst/>
            <a:rect r="r" b="b" t="t" l="l"/>
            <a:pathLst>
              <a:path h="2294897" w="5513105">
                <a:moveTo>
                  <a:pt x="0" y="0"/>
                </a:moveTo>
                <a:lnTo>
                  <a:pt x="5513105" y="0"/>
                </a:lnTo>
                <a:lnTo>
                  <a:pt x="5513105" y="2294897"/>
                </a:lnTo>
                <a:lnTo>
                  <a:pt x="0" y="229489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8182405" y="6577565"/>
            <a:ext cx="8838756" cy="2009407"/>
            <a:chOff x="0" y="0"/>
            <a:chExt cx="1369355" cy="311310"/>
          </a:xfrm>
        </p:grpSpPr>
        <p:sp>
          <p:nvSpPr>
            <p:cNvPr name="Freeform 14" id="14"/>
            <p:cNvSpPr/>
            <p:nvPr/>
          </p:nvSpPr>
          <p:spPr>
            <a:xfrm flipH="false" flipV="false" rot="0">
              <a:off x="0" y="0"/>
              <a:ext cx="1369355" cy="311310"/>
            </a:xfrm>
            <a:custGeom>
              <a:avLst/>
              <a:gdLst/>
              <a:ahLst/>
              <a:cxnLst/>
              <a:rect r="r" b="b" t="t" l="l"/>
              <a:pathLst>
                <a:path h="311310" w="1369355">
                  <a:moveTo>
                    <a:pt x="43795" y="0"/>
                  </a:moveTo>
                  <a:lnTo>
                    <a:pt x="1325559" y="0"/>
                  </a:lnTo>
                  <a:cubicBezTo>
                    <a:pt x="1337174" y="0"/>
                    <a:pt x="1348314" y="4614"/>
                    <a:pt x="1356527" y="12827"/>
                  </a:cubicBezTo>
                  <a:cubicBezTo>
                    <a:pt x="1364740" y="21041"/>
                    <a:pt x="1369355" y="32180"/>
                    <a:pt x="1369355" y="43795"/>
                  </a:cubicBezTo>
                  <a:lnTo>
                    <a:pt x="1369355" y="267514"/>
                  </a:lnTo>
                  <a:cubicBezTo>
                    <a:pt x="1369355" y="279130"/>
                    <a:pt x="1364740" y="290269"/>
                    <a:pt x="1356527" y="298482"/>
                  </a:cubicBezTo>
                  <a:cubicBezTo>
                    <a:pt x="1348314" y="306696"/>
                    <a:pt x="1337174" y="311310"/>
                    <a:pt x="1325559" y="311310"/>
                  </a:cubicBezTo>
                  <a:lnTo>
                    <a:pt x="43795" y="311310"/>
                  </a:lnTo>
                  <a:cubicBezTo>
                    <a:pt x="32180" y="311310"/>
                    <a:pt x="21041" y="306696"/>
                    <a:pt x="12827" y="298482"/>
                  </a:cubicBezTo>
                  <a:cubicBezTo>
                    <a:pt x="4614" y="290269"/>
                    <a:pt x="0" y="279130"/>
                    <a:pt x="0" y="267514"/>
                  </a:cubicBezTo>
                  <a:lnTo>
                    <a:pt x="0" y="43795"/>
                  </a:lnTo>
                  <a:cubicBezTo>
                    <a:pt x="0" y="32180"/>
                    <a:pt x="4614" y="21041"/>
                    <a:pt x="12827" y="12827"/>
                  </a:cubicBezTo>
                  <a:cubicBezTo>
                    <a:pt x="21041" y="4614"/>
                    <a:pt x="32180" y="0"/>
                    <a:pt x="43795" y="0"/>
                  </a:cubicBezTo>
                  <a:close/>
                </a:path>
              </a:pathLst>
            </a:custGeom>
            <a:blipFill>
              <a:blip r:embed="rId6"/>
              <a:stretch>
                <a:fillRect l="0" t="-96622" r="0" b="-96622"/>
              </a:stretch>
            </a:blipFill>
          </p:spPr>
        </p:sp>
      </p:grpSp>
      <p:sp>
        <p:nvSpPr>
          <p:cNvPr name="Freeform 15" id="15"/>
          <p:cNvSpPr/>
          <p:nvPr/>
        </p:nvSpPr>
        <p:spPr>
          <a:xfrm flipH="false" flipV="false" rot="0">
            <a:off x="1028700" y="4602280"/>
            <a:ext cx="304344" cy="304344"/>
          </a:xfrm>
          <a:custGeom>
            <a:avLst/>
            <a:gdLst/>
            <a:ahLst/>
            <a:cxnLst/>
            <a:rect r="r" b="b" t="t" l="l"/>
            <a:pathLst>
              <a:path h="304344" w="304344">
                <a:moveTo>
                  <a:pt x="0" y="0"/>
                </a:moveTo>
                <a:lnTo>
                  <a:pt x="304344" y="0"/>
                </a:lnTo>
                <a:lnTo>
                  <a:pt x="304344" y="304344"/>
                </a:lnTo>
                <a:lnTo>
                  <a:pt x="0" y="30434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1028700" y="5033292"/>
            <a:ext cx="304344" cy="304344"/>
          </a:xfrm>
          <a:custGeom>
            <a:avLst/>
            <a:gdLst/>
            <a:ahLst/>
            <a:cxnLst/>
            <a:rect r="r" b="b" t="t" l="l"/>
            <a:pathLst>
              <a:path h="304344" w="304344">
                <a:moveTo>
                  <a:pt x="0" y="0"/>
                </a:moveTo>
                <a:lnTo>
                  <a:pt x="304344" y="0"/>
                </a:lnTo>
                <a:lnTo>
                  <a:pt x="304344" y="304344"/>
                </a:lnTo>
                <a:lnTo>
                  <a:pt x="0" y="30434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1028700" y="5464304"/>
            <a:ext cx="304344" cy="304344"/>
          </a:xfrm>
          <a:custGeom>
            <a:avLst/>
            <a:gdLst/>
            <a:ahLst/>
            <a:cxnLst/>
            <a:rect r="r" b="b" t="t" l="l"/>
            <a:pathLst>
              <a:path h="304344" w="304344">
                <a:moveTo>
                  <a:pt x="0" y="0"/>
                </a:moveTo>
                <a:lnTo>
                  <a:pt x="304344" y="0"/>
                </a:lnTo>
                <a:lnTo>
                  <a:pt x="304344" y="304345"/>
                </a:lnTo>
                <a:lnTo>
                  <a:pt x="0" y="3043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028700" y="5903592"/>
            <a:ext cx="304344" cy="304344"/>
          </a:xfrm>
          <a:custGeom>
            <a:avLst/>
            <a:gdLst/>
            <a:ahLst/>
            <a:cxnLst/>
            <a:rect r="r" b="b" t="t" l="l"/>
            <a:pathLst>
              <a:path h="304344" w="304344">
                <a:moveTo>
                  <a:pt x="0" y="0"/>
                </a:moveTo>
                <a:lnTo>
                  <a:pt x="304344" y="0"/>
                </a:lnTo>
                <a:lnTo>
                  <a:pt x="304344" y="304345"/>
                </a:lnTo>
                <a:lnTo>
                  <a:pt x="0" y="3043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9" id="19"/>
          <p:cNvSpPr txBox="true"/>
          <p:nvPr/>
        </p:nvSpPr>
        <p:spPr>
          <a:xfrm rot="0">
            <a:off x="1028700" y="2472745"/>
            <a:ext cx="9610739" cy="1732227"/>
          </a:xfrm>
          <a:prstGeom prst="rect">
            <a:avLst/>
          </a:prstGeom>
        </p:spPr>
        <p:txBody>
          <a:bodyPr anchor="t" rtlCol="false" tIns="0" lIns="0" bIns="0" rIns="0">
            <a:spAutoFit/>
          </a:bodyPr>
          <a:lstStyle/>
          <a:p>
            <a:pPr algn="l">
              <a:lnSpc>
                <a:spcPts val="11847"/>
              </a:lnSpc>
            </a:pPr>
            <a:r>
              <a:rPr lang="en-US" sz="12739">
                <a:solidFill>
                  <a:srgbClr val="3F81F4"/>
                </a:solidFill>
                <a:latin typeface="Poppins"/>
                <a:ea typeface="Poppins"/>
                <a:cs typeface="Poppins"/>
                <a:sym typeface="Poppins"/>
              </a:rPr>
              <a:t>Thank </a:t>
            </a:r>
            <a:r>
              <a:rPr lang="en-US" sz="12739" b="true">
                <a:solidFill>
                  <a:srgbClr val="000000"/>
                </a:solidFill>
                <a:latin typeface="Poppins Bold"/>
                <a:ea typeface="Poppins Bold"/>
                <a:cs typeface="Poppins Bold"/>
                <a:sym typeface="Poppins Bold"/>
              </a:rPr>
              <a:t>You</a:t>
            </a:r>
          </a:p>
        </p:txBody>
      </p:sp>
      <p:sp>
        <p:nvSpPr>
          <p:cNvPr name="TextBox 20" id="20"/>
          <p:cNvSpPr txBox="true"/>
          <p:nvPr/>
        </p:nvSpPr>
        <p:spPr>
          <a:xfrm rot="0">
            <a:off x="1589312" y="1047750"/>
            <a:ext cx="749365" cy="400050"/>
          </a:xfrm>
          <a:prstGeom prst="rect">
            <a:avLst/>
          </a:prstGeom>
        </p:spPr>
        <p:txBody>
          <a:bodyPr anchor="t" rtlCol="false" tIns="0" lIns="0" bIns="0" rIns="0">
            <a:spAutoFit/>
          </a:bodyPr>
          <a:lstStyle/>
          <a:p>
            <a:pPr algn="l">
              <a:lnSpc>
                <a:spcPts val="1500"/>
              </a:lnSpc>
            </a:pPr>
            <a:r>
              <a:rPr lang="en-US" sz="1500" b="true">
                <a:solidFill>
                  <a:srgbClr val="000000"/>
                </a:solidFill>
                <a:latin typeface="Lato Bold"/>
                <a:ea typeface="Lato Bold"/>
                <a:cs typeface="Lato Bold"/>
                <a:sym typeface="Lato Bold"/>
              </a:rPr>
              <a:t>Guardian Eye</a:t>
            </a:r>
          </a:p>
        </p:txBody>
      </p:sp>
      <p:sp>
        <p:nvSpPr>
          <p:cNvPr name="TextBox 21" id="21"/>
          <p:cNvSpPr txBox="true"/>
          <p:nvPr/>
        </p:nvSpPr>
        <p:spPr>
          <a:xfrm rot="0">
            <a:off x="1028700" y="7001243"/>
            <a:ext cx="6076608" cy="11525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AI for visually impaired people should be accurate, simple, and human-centered. Thank you for your time and attention.</a:t>
            </a:r>
          </a:p>
        </p:txBody>
      </p:sp>
      <p:sp>
        <p:nvSpPr>
          <p:cNvPr name="TextBox 22" id="22"/>
          <p:cNvSpPr txBox="true"/>
          <p:nvPr/>
        </p:nvSpPr>
        <p:spPr>
          <a:xfrm rot="0">
            <a:off x="1543364" y="4630627"/>
            <a:ext cx="2401867" cy="238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+20 000 000 0000</a:t>
            </a:r>
          </a:p>
        </p:txBody>
      </p:sp>
      <p:sp>
        <p:nvSpPr>
          <p:cNvPr name="TextBox 23" id="23"/>
          <p:cNvSpPr txBox="true"/>
          <p:nvPr/>
        </p:nvSpPr>
        <p:spPr>
          <a:xfrm rot="0">
            <a:off x="1543364" y="5061639"/>
            <a:ext cx="2401867" cy="238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guardianeye.ai</a:t>
            </a:r>
          </a:p>
        </p:txBody>
      </p:sp>
      <p:sp>
        <p:nvSpPr>
          <p:cNvPr name="TextBox 24" id="24"/>
          <p:cNvSpPr txBox="true"/>
          <p:nvPr/>
        </p:nvSpPr>
        <p:spPr>
          <a:xfrm rot="0">
            <a:off x="1543364" y="5492651"/>
            <a:ext cx="2401867" cy="238125"/>
          </a:xfrm>
          <a:prstGeom prst="rect">
            <a:avLst/>
          </a:prstGeom>
        </p:spPr>
        <p:txBody>
          <a:bodyPr anchor="t" rtlCol="false" tIns="0" lIns="0" bIns="0" rIns="0">
            <a:spAutoFit/>
          </a:bodyPr>
          <a:lstStyle/>
          <a:p>
            <a:pPr algn="l">
              <a:lnSpc>
                <a:spcPts val="1800"/>
              </a:lnSpc>
            </a:pPr>
            <a:r>
              <a:rPr lang="en-US" sz="1500">
                <a:solidFill>
                  <a:srgbClr val="000000"/>
                </a:solidFill>
                <a:latin typeface="Lato"/>
                <a:ea typeface="Lato"/>
                <a:cs typeface="Lato"/>
                <a:sym typeface="Lato"/>
              </a:rPr>
              <a:t>@guardianeye</a:t>
            </a:r>
          </a:p>
        </p:txBody>
      </p:sp>
      <p:sp>
        <p:nvSpPr>
          <p:cNvPr name="TextBox 25" id="25"/>
          <p:cNvSpPr txBox="true"/>
          <p:nvPr/>
        </p:nvSpPr>
        <p:spPr>
          <a:xfrm rot="0">
            <a:off x="1543364" y="5931939"/>
            <a:ext cx="2401867" cy="466725"/>
          </a:xfrm>
          <a:prstGeom prst="rect">
            <a:avLst/>
          </a:prstGeom>
        </p:spPr>
        <p:txBody>
          <a:bodyPr anchor="t" rtlCol="false" tIns="0" lIns="0" bIns="0" rIns="0">
            <a:spAutoFit/>
          </a:bodyPr>
          <a:lstStyle/>
          <a:p>
            <a:pPr algn="l">
              <a:lnSpc>
                <a:spcPts val="1800"/>
              </a:lnSpc>
            </a:pPr>
            <a:r>
              <a:rPr lang="en-US" sz="1500" spc="-37">
                <a:solidFill>
                  <a:srgbClr val="000000"/>
                </a:solidFill>
                <a:latin typeface="Lato"/>
                <a:ea typeface="Lato"/>
                <a:cs typeface="Lato"/>
                <a:sym typeface="Lato"/>
              </a:rPr>
              <a:t>AI Accessibility Project, Cairo</a:t>
            </a:r>
          </a:p>
          <a:p>
            <a:pPr algn="l">
              <a:lnSpc>
                <a:spcPts val="1800"/>
              </a:lnSpc>
            </a:pPr>
            <a:r>
              <a:rPr lang="en-US" sz="1500" spc="-37">
                <a:solidFill>
                  <a:srgbClr val="000000"/>
                </a:solidFill>
                <a:latin typeface="Lato"/>
                <a:ea typeface="Lato"/>
                <a:cs typeface="Lato"/>
                <a:sym typeface="Lato"/>
              </a:rPr>
              <a:t>Egypt</a:t>
            </a:r>
          </a:p>
        </p:txBody>
      </p:sp>
      <p:grpSp>
        <p:nvGrpSpPr>
          <p:cNvPr name="Group 26" id="26"/>
          <p:cNvGrpSpPr/>
          <p:nvPr/>
        </p:nvGrpSpPr>
        <p:grpSpPr>
          <a:xfrm rot="0">
            <a:off x="12514273" y="1028700"/>
            <a:ext cx="4506888" cy="5027064"/>
            <a:chOff x="0" y="0"/>
            <a:chExt cx="698235" cy="778824"/>
          </a:xfrm>
        </p:grpSpPr>
        <p:sp>
          <p:nvSpPr>
            <p:cNvPr name="Freeform 27" id="27"/>
            <p:cNvSpPr/>
            <p:nvPr/>
          </p:nvSpPr>
          <p:spPr>
            <a:xfrm flipH="false" flipV="false" rot="0">
              <a:off x="0" y="0"/>
              <a:ext cx="698235" cy="778824"/>
            </a:xfrm>
            <a:custGeom>
              <a:avLst/>
              <a:gdLst/>
              <a:ahLst/>
              <a:cxnLst/>
              <a:rect r="r" b="b" t="t" l="l"/>
              <a:pathLst>
                <a:path h="778824" w="698235">
                  <a:moveTo>
                    <a:pt x="85890" y="0"/>
                  </a:moveTo>
                  <a:lnTo>
                    <a:pt x="612345" y="0"/>
                  </a:lnTo>
                  <a:cubicBezTo>
                    <a:pt x="635124" y="0"/>
                    <a:pt x="656971" y="9049"/>
                    <a:pt x="673078" y="25157"/>
                  </a:cubicBezTo>
                  <a:cubicBezTo>
                    <a:pt x="689186" y="41264"/>
                    <a:pt x="698235" y="63110"/>
                    <a:pt x="698235" y="85890"/>
                  </a:cubicBezTo>
                  <a:lnTo>
                    <a:pt x="698235" y="692934"/>
                  </a:lnTo>
                  <a:cubicBezTo>
                    <a:pt x="698235" y="740370"/>
                    <a:pt x="659781" y="778824"/>
                    <a:pt x="612345" y="778824"/>
                  </a:cubicBezTo>
                  <a:lnTo>
                    <a:pt x="85890" y="778824"/>
                  </a:lnTo>
                  <a:cubicBezTo>
                    <a:pt x="38454" y="778824"/>
                    <a:pt x="0" y="740370"/>
                    <a:pt x="0" y="692934"/>
                  </a:cubicBezTo>
                  <a:lnTo>
                    <a:pt x="0" y="85890"/>
                  </a:lnTo>
                  <a:cubicBezTo>
                    <a:pt x="0" y="38454"/>
                    <a:pt x="38454" y="0"/>
                    <a:pt x="85890" y="0"/>
                  </a:cubicBezTo>
                  <a:close/>
                </a:path>
              </a:pathLst>
            </a:custGeom>
            <a:blipFill>
              <a:blip r:embed="rId15"/>
              <a:stretch>
                <a:fillRect l="-42361" t="0" r="-24950" b="0"/>
              </a:stretch>
            </a:blipFill>
          </p:spPr>
        </p:sp>
      </p:grpSp>
      <p:sp>
        <p:nvSpPr>
          <p:cNvPr name="Freeform 28" id="28"/>
          <p:cNvSpPr/>
          <p:nvPr/>
        </p:nvSpPr>
        <p:spPr>
          <a:xfrm flipH="false" flipV="false" rot="0">
            <a:off x="-190187" y="806716"/>
            <a:ext cx="2795600" cy="920218"/>
          </a:xfrm>
          <a:custGeom>
            <a:avLst/>
            <a:gdLst/>
            <a:ahLst/>
            <a:cxnLst/>
            <a:rect r="r" b="b" t="t" l="l"/>
            <a:pathLst>
              <a:path h="920218" w="2795600">
                <a:moveTo>
                  <a:pt x="0" y="0"/>
                </a:moveTo>
                <a:lnTo>
                  <a:pt x="2795600" y="0"/>
                </a:lnTo>
                <a:lnTo>
                  <a:pt x="2795600" y="920218"/>
                </a:lnTo>
                <a:lnTo>
                  <a:pt x="0" y="920218"/>
                </a:lnTo>
                <a:lnTo>
                  <a:pt x="0" y="0"/>
                </a:lnTo>
                <a:close/>
              </a:path>
            </a:pathLst>
          </a:custGeom>
          <a:blipFill>
            <a:blip r:embed="rId16"/>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p:cSld>
    <p:bg>
      <p:bgPr>
        <a:solidFill>
          <a:srgbClr val="FAFAFA"/>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DAHHH5N00rk</dc:identifier>
  <dcterms:modified xsi:type="dcterms:W3CDTF">2011-08-01T06:04:30Z</dcterms:modified>
  <cp:revision>1</cp:revision>
  <dc:title>Guardian Eye AI Presentation</dc:title>
</cp:coreProperties>
</file>